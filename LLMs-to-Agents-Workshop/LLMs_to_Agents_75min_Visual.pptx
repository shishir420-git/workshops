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725">
                <a:solidFill>
                  <a:srgbClr val="10233F"/>
                </a:solidFill>
                <a:latin typeface="Arial"/>
                <a:ea typeface="Arial"/>
                <a:cs typeface="Arial"/>
              </a:rPr>
              <a:t>Illustrative next-token probability (%)</a:t>
            </a:r>
          </a:p>
        </c:rich>
      </c:tx>
      <c:overlay val="0"/>
    </c:title>
    <c:autoTitleDeleted val="0"/>
    <c:plotArea>
      <c:layout/>
      <c:barChart>
        <c:barDir val="col"/>
        <c:grouping val="clustered"/>
        <c:varyColors val="0"/>
        <c:ser>
          <c:idx val="0"/>
          <c:order val="0"/>
          <c:tx>
            <c:v>Probability</c:v>
          </c:tx>
          <c:spPr>
            <a:solidFill>
              <a:srgbClr val="2563EB"/>
            </a:solidFill>
          </c:spPr>
          <c:invertIfNegative val="1"/>
          <c:dLbls>
            <c:spPr>
              <a:noFill/>
              <a:ln>
                <a:noFill/>
              </a:ln>
              <a:effectLst/>
            </c:spPr>
            <c:txPr>
              <a:bodyPr anchorCtr="1"/>
              <a:lstStyle/>
              <a:p>
                <a:pPr>
                  <a:defRPr sz="1650">
                    <a:solidFill>
                      <a:srgbClr val="10233F"/>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tea</c:v>
                </c:pt>
                <c:pt idx="1">
                  <c:v>coffee</c:v>
                </c:pt>
                <c:pt idx="2">
                  <c:v>water</c:v>
                </c:pt>
                <c:pt idx="3">
                  <c:v>milk</c:v>
                </c:pt>
                <c:pt idx="4">
                  <c:v>juice</c:v>
                </c:pt>
              </c:strCache>
            </c:strRef>
          </c:cat>
          <c:val>
            <c:numRef>
              <c:f>'Chart Data'!$B$2:$B$6</c:f>
              <c:numCache>
                <c:formatCode>General</c:formatCode>
                <c:ptCount val="5"/>
                <c:pt idx="0">
                  <c:v>50</c:v>
                </c:pt>
                <c:pt idx="1">
                  <c:v>30</c:v>
                </c:pt>
                <c:pt idx="2">
                  <c:v>10</c:v>
                </c:pt>
                <c:pt idx="3">
                  <c:v>7</c:v>
                </c:pt>
                <c:pt idx="4">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377-4D46-BA21-E2A290C8C366}"/>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0233F"/>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00"/>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425">
                <a:solidFill>
                  <a:srgbClr val="64748B"/>
                </a:solidFill>
                <a:latin typeface="Arial"/>
                <a:ea typeface="Arial"/>
                <a:cs typeface="Arial"/>
              </a:defRPr>
            </a:pPr>
            <a:endParaRPr lang="en-US"/>
          </a:p>
        </c:txPr>
        <c:crossAx val="48650112"/>
        <c:crosses val="autoZero"/>
        <c:crossBetween val="between"/>
      </c:valAx>
      <c:spPr>
        <a:solidFill>
          <a:srgbClr val="F6F8FC"/>
        </a:solidFill>
      </c:spPr>
    </c:plotArea>
    <c:plotVisOnly val="1"/>
    <c:dispBlanksAs val="zero"/>
    <c:showDLblsOverMax val="1"/>
  </c:chart>
  <c:spPr>
    <a:solidFill>
      <a:srgbClr val="F6F8FC"/>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725">
                <a:solidFill>
                  <a:srgbClr val="10233F"/>
                </a:solidFill>
                <a:latin typeface="Arial"/>
                <a:ea typeface="Arial"/>
                <a:cs typeface="Arial"/>
              </a:rPr>
              <a:t>Toy distribution (%)</a:t>
            </a:r>
          </a:p>
        </c:rich>
      </c:tx>
      <c:overlay val="0"/>
    </c:title>
    <c:autoTitleDeleted val="0"/>
    <c:plotArea>
      <c:layout/>
      <c:barChart>
        <c:barDir val="col"/>
        <c:grouping val="clustered"/>
        <c:varyColors val="0"/>
        <c:ser>
          <c:idx val="0"/>
          <c:order val="0"/>
          <c:tx>
            <c:v>Lower T</c:v>
          </c:tx>
          <c:spPr>
            <a:solidFill>
              <a:srgbClr val="2563EB"/>
            </a:solidFill>
          </c:spPr>
          <c:invertIfNegative val="1"/>
          <c:cat>
            <c:strRef>
              <c:f>'Chart Data'!$A$2:$A$4</c:f>
              <c:strCache>
                <c:ptCount val="3"/>
                <c:pt idx="0">
                  <c:v>tea</c:v>
                </c:pt>
                <c:pt idx="1">
                  <c:v>coffee</c:v>
                </c:pt>
                <c:pt idx="2">
                  <c:v>water</c:v>
                </c:pt>
              </c:strCache>
            </c:strRef>
          </c:cat>
          <c:val>
            <c:numRef>
              <c:f>'Chart Data'!$B$2:$B$4</c:f>
              <c:numCache>
                <c:formatCode>General</c:formatCode>
                <c:ptCount val="3"/>
                <c:pt idx="0">
                  <c:v>72</c:v>
                </c:pt>
                <c:pt idx="1">
                  <c:v>26</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DD7-4F1F-BB27-457757AC8A42}"/>
            </c:ext>
          </c:extLst>
        </c:ser>
        <c:ser>
          <c:idx val="1"/>
          <c:order val="1"/>
          <c:tx>
            <c:v>Higher T</c:v>
          </c:tx>
          <c:spPr>
            <a:solidFill>
              <a:srgbClr val="0D9488"/>
            </a:solidFill>
          </c:spPr>
          <c:invertIfNegative val="1"/>
          <c:cat>
            <c:strRef>
              <c:f>'Chart Data'!$C$2:$C$4</c:f>
              <c:strCache>
                <c:ptCount val="3"/>
                <c:pt idx="0">
                  <c:v>tea</c:v>
                </c:pt>
                <c:pt idx="1">
                  <c:v>coffee</c:v>
                </c:pt>
                <c:pt idx="2">
                  <c:v>water</c:v>
                </c:pt>
              </c:strCache>
            </c:strRef>
          </c:cat>
          <c:val>
            <c:numRef>
              <c:f>'Chart Data'!$D$2:$D$4</c:f>
              <c:numCache>
                <c:formatCode>General</c:formatCode>
                <c:ptCount val="3"/>
                <c:pt idx="0">
                  <c:v>46</c:v>
                </c:pt>
                <c:pt idx="1">
                  <c:v>35</c:v>
                </c:pt>
                <c:pt idx="2">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DD7-4F1F-BB27-457757AC8A42}"/>
            </c:ext>
          </c:extLst>
        </c:ser>
        <c:dLbls>
          <c:showLegendKey val="0"/>
          <c:showVal val="0"/>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0233F"/>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00"/>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425">
                <a:solidFill>
                  <a:srgbClr val="64748B"/>
                </a:solidFill>
                <a:latin typeface="Arial"/>
                <a:ea typeface="Arial"/>
                <a:cs typeface="Arial"/>
              </a:defRPr>
            </a:pPr>
            <a:endParaRPr lang="en-US"/>
          </a:p>
        </c:txPr>
        <c:crossAx val="48650112"/>
        <c:crosses val="autoZero"/>
        <c:crossBetween val="between"/>
      </c:valAx>
      <c:spPr>
        <a:solidFill>
          <a:srgbClr val="F6F8FC"/>
        </a:solidFill>
      </c:spPr>
    </c:plotArea>
    <c:plotVisOnly val="1"/>
    <c:dispBlanksAs val="zero"/>
    <c:showDLblsOverMax val="1"/>
  </c:chart>
  <c:spPr>
    <a:solidFill>
      <a:srgbClr val="F6F8FC"/>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Opening: ask the class where they would find each part of the answer. Accept handbook, club organizer, today’s notice. This fictional campus hackathon is our running example. No prerequisites beyond basic Python concepts.</a:t>
            </a:r>
          </a:p>
          <a:p>
            <a:endParaRPr/>
          </a:p>
          <a:p>
            <a:r>
              <a:t>Sources / disclosures:</a:t>
            </a:r>
          </a:p>
          <a:p>
            <a:r>
              <a:t>Fictional campus example throughout. Illustrations generated for this workshop.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Explain AI as the broad field; ML learns patterns; deep learning uses multi-layer neural networks. This is a simplified map of modern generative systems. Generative AI is a capability category; LLMs generate language, while other models generate images/audio. Not all deep learning is generative.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Training updates model weights by learning patterns. At inference, weights are generally fixed; the model uses the current prompt/context. A prompt does not permanently teach the model the campus handbook. LLMs can perform useful reasoning, but generation still operates token by token.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minutes.</a:t>
            </a:r>
          </a:p>
          <a:p>
            <a:r>
              <a:t>Tokens may be words, pieces of words, punctuation or other units. Whitespace can be part of a token. These splits and IDs are illustrative—not output from a particular tokenizer. Real tokenization depends on the model; token IDs are looked up as numeric representations within the network.</a:t>
            </a:r>
          </a:p>
          <a:p>
            <a:endParaRPr/>
          </a:p>
          <a:p>
            <a:r>
              <a:t>Sources / disclosures:</a:t>
            </a:r>
          </a:p>
          <a:p>
            <a:r>
              <a:t>https://ai.google.dev/gemini-api/docs/tokens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minutes.</a:t>
            </a:r>
          </a:p>
          <a:p>
            <a:r>
              <a:t>Ask students to suggest the next word before showing candidates. All probabilities are illustrative. The model produces a distribution, a sampling procedure selects one token, and it is appended to context. Repeat until a stop condition. The most likely continuation is not necessarily factually true.</a:t>
            </a:r>
          </a:p>
          <a:p>
            <a:endParaRPr/>
          </a:p>
          <a:p>
            <a:r>
              <a:t>Sources / disclosures:</a:t>
            </a:r>
          </a:p>
          <a:p>
            <a:r>
              <a:t>https://ai.google.dev/gemini-api/docs/tokens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Temperature rescales logits before sampling: lower concentrates probability; higher flattens it. Top-k limits to k candidates. Top-p keeps the smallest highest-probability set whose cumulative mass reaches the threshold. Examples treated separately. Model APIs can support different controls/orders. Ask: top-p=.60 keeps tea and coffee (0.8 cumulative), not just tea. These controls add no facts.</a:t>
            </a:r>
          </a:p>
          <a:p>
            <a:endParaRPr/>
          </a:p>
          <a:p>
            <a:r>
              <a:t>Sources / disclosures:</a:t>
            </a:r>
          </a:p>
          <a:p>
            <a:r>
              <a:t>https://docs.cloud.google.com/gemini-enterprise-agent-platform/models/capabilities/content-generation-parameters</a:t>
            </a:r>
          </a:p>
          <a:p>
            <a:r>
              <a:t>All displayed distributions are illustrative. Temperature comparison uses a separate three-candidate toy distribution.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Read the answer confidently. Then ask what evidence supports each statement. None has been provided. A hallucination is generated content that is false or unsupported by the relevant evidence. Missing or outdated information is one cause, not the only cause. Lower temperature does not turn an LLM into a database.</a:t>
            </a:r>
          </a:p>
          <a:p>
            <a:endParaRPr/>
          </a:p>
          <a:p>
            <a:r>
              <a:t>Sources / disclosures:</a:t>
            </a:r>
          </a:p>
          <a:p>
            <a:r>
              <a:t>Fabricated answer for teaching; fictional campus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Now provide a specific passage. Three members meets the size rule, but student year must also be checked. This source does not establish today’s venue. Ask students which part of the original question can now be answered. Supplying context helps ground an answer, but citations still need checking.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 minutes.</a:t>
            </a:r>
          </a:p>
          <a:p>
            <a:r>
              <a:t>Spend time tracing both lanes. Preparation: source documents are split into chunks, embedded and indexed with text/source references. Runtime: embed question, retrieve relevant chunks, put the original question plus retrieved text into a prompt, then generate a sourced answer. Retrieval embeddings and model must be compatible. This diagram shows vector retrieval; RAG can also use keyword/hybrid retrieval. RAG mitigates hallucinations but cannot guarantee accuracy.</a:t>
            </a:r>
          </a:p>
          <a:p>
            <a:endParaRPr/>
          </a:p>
          <a:p>
            <a:r>
              <a:t>Sources / disclosures:</a:t>
            </a:r>
          </a:p>
          <a:p>
            <a:r>
              <a:t>https://cloud.google.com/use-cases/retrieval-augmented-generation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minutes.</a:t>
            </a:r>
          </a:p>
          <a:p>
            <a:r>
              <a:t>A retrieval embedding maps a chunk or query to a vector. Nearby vectors often represent similar meaning. Similarity is imperfect and does not prove a statement is true. This is a conceptual 2D projection, not real measurements. Distinguish these passage/query embeddings from internal token embeddings used by the LLM; both are numeric representations but serve different roles.</a:t>
            </a:r>
          </a:p>
          <a:p>
            <a:endParaRPr/>
          </a:p>
          <a:p>
            <a:r>
              <a:t>Sources / disclosures:</a:t>
            </a:r>
          </a:p>
          <a:p>
            <a:r>
              <a:t>https://cloud.google.com/use-cases/retrieval-augmented-generation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Point out that we need text and provenance as well as vectors. Stores may hold text/metadata directly or link to external storage. Query embedding is compared with indexed chunk embeddings. Similarity returns candidates, not verified facts. Retrieved chunks may require filtering/reranking; omitted here for clarity.</a:t>
            </a:r>
          </a:p>
          <a:p>
            <a:endParaRPr/>
          </a:p>
          <a:p>
            <a:r>
              <a:t>Sources / disclosures:</a:t>
            </a:r>
          </a:p>
          <a:p>
            <a:r>
              <a:t>https://cloud.google.com/use-cases/retrieval-augmented-generation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Walk through the exact content handed to the LLM. Instructions ask it to use evidence and say when facts are missing. Context includes passages and sources. The student question remains in the prompt. This is not fine-tuning; the weights do not change. Prompt instructions reduce but do not eliminate unsupported answers.</a:t>
            </a:r>
          </a:p>
          <a:p>
            <a:endParaRPr/>
          </a:p>
          <a:p>
            <a:r>
              <a:t>Sources / disclosures:</a:t>
            </a:r>
          </a:p>
          <a:p>
            <a:r>
              <a:t>https://cloud.google.com/use-cases/retrieval-augmented-generation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r>
              <a:t>The index still says Lab 2. Today’s notice says Auditorium and is not indexed. Retrieval may faithfully return outdated information. RAG can be current if its data pipeline is current, and some RAG systems retrieve live sources. The next step is adding a capability that queries the current event data. Ask whether raising temperature helps: no.</a:t>
            </a:r>
          </a:p>
          <a:p>
            <a:endParaRPr/>
          </a:p>
          <a:p>
            <a:r>
              <a:t>Sources / disclosures:</a:t>
            </a:r>
          </a:p>
          <a:p>
            <a:r>
              <a:t>https://cloud.google.com/use-cases/retrieval-augmented-generation</a:t>
            </a:r>
          </a:p>
          <a:p>
            <a:r>
              <a:t>Fictional notices for teaching.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A tool is a function or service exposed with a name, description and input schema. The model can request a call; your application executes it and returns data. Tools can read or change things. Our workshop tool only reads event data. Live search may itself be used as retrieval in a RAG system; RAG and tools are complementary, not mutually exclusive.</a:t>
            </a:r>
          </a:p>
          <a:p>
            <a:endParaRPr/>
          </a:p>
          <a:p>
            <a:r>
              <a:t>Sources / disclosures:</a:t>
            </a:r>
          </a:p>
          <a:p>
            <a:r>
              <a:t>https://ai.google.dev/gemini-api/docs/function-calling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r>
              <a:t>Read the sequence top to bottom. Student asks. Model requests a structured function call. Application validates/executes it. Campus data returns a result; application adds it to model context; model writes the final answer. The model is not directly executing Python. Structured arguments and error handling matter.</a:t>
            </a:r>
          </a:p>
          <a:p>
            <a:endParaRPr/>
          </a:p>
          <a:p>
            <a:r>
              <a:t>Sources / disclosures:</a:t>
            </a:r>
          </a:p>
          <a:p>
            <a:r>
              <a:t>https://ai.google.dev/gemini-api/docs/function-calling</a:t>
            </a:r>
          </a:p>
          <a:p>
            <a:r>
              <a:t>Fictional tool result; structured JSON abbreviated on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minutes.</a:t>
            </a:r>
          </a:p>
          <a:p>
            <a:r>
              <a:t>An agent combines a model with instructions, tools and state in a decision loop. It can choose a tool, inspect the result, revise its plan and decide when to finish. A friendly persona is an instruction choice, not what makes a system agentic. Not every task needs an agent; a predictable fixed workflow can be simpler. Show the return arrow and stop branch.</a:t>
            </a:r>
          </a:p>
          <a:p>
            <a:endParaRPr/>
          </a:p>
          <a:p>
            <a:r>
              <a:t>Sources / disclosures:</a:t>
            </a:r>
          </a:p>
          <a:p>
            <a:r>
              <a:t>https://adk.dev/get-started/python/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minutes.</a:t>
            </a:r>
          </a:p>
          <a:p>
            <a:r>
              <a:t>User asks eligibility, today’s venue and preparation plan. The agent uses a handbook retrieval tool, then event-update tool, then combines evidence. If a tool fails or an event is absent it asks/acknowledges uncertainty rather than inventing a venue. Steps shown as an example trace, not a guaranteed hidden chain of thought. Ask what should happen if no update is returned.</a:t>
            </a:r>
          </a:p>
          <a:p>
            <a:endParaRPr/>
          </a:p>
          <a:p>
            <a:r>
              <a:t>Sources / disclosures:</a:t>
            </a:r>
          </a:p>
          <a:p>
            <a:r>
              <a:t>https://ai.google.dev/gemini-api/docs/function-calling</a:t>
            </a:r>
          </a:p>
          <a:p>
            <a:r>
              <a:t>https://adk.dev/get-started/python/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minutes.</a:t>
            </a:r>
          </a:p>
          <a:p>
            <a:r>
              <a:t>ADK supplies agent abstractions and runtime support for tool execution, sessions/events and orchestration. Python tools can be ordinary functions with docstrings and type hints. We will create one agent and one read-only tool. Model availability may change; verify the model accessible to your key before the workshop.</a:t>
            </a:r>
          </a:p>
          <a:p>
            <a:endParaRPr/>
          </a:p>
          <a:p>
            <a:r>
              <a:t>Sources / disclosures:</a:t>
            </a:r>
          </a:p>
          <a:p>
            <a:r>
              <a:t>https://adk.dev/get-started/python/</a:t>
            </a:r>
          </a:p>
          <a:p>
            <a:r>
              <a:t>Logo extracted unchanged from the user-supplied workshop deck.</a:t>
            </a:r>
          </a:p>
          <a:p>
            <a:r>
              <a:t>https://ai.google.dev/gemini-api/docs/models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 minutes.</a:t>
            </a:r>
          </a:p>
          <a:p>
            <a:r>
              <a:t>Demo script: 1 minute inspect function and agent; 2 minutes start ADK web; 2 minutes ask today’s hackathon venue and inspect tool call; 2 minutes change events.json and ask again in a fresh session; 2 minutes ask unknown event and discuss safe error response. This minimal demo uses a JSON file as a stand-in for current campus data, not a live campus API. It does not implement RAG. It requires internet and a Gemini key for model calls; offline tests cover the function.</a:t>
            </a:r>
          </a:p>
          <a:p>
            <a:endParaRPr/>
          </a:p>
          <a:p>
            <a:r>
              <a:t>Sources / disclosures:</a:t>
            </a:r>
          </a:p>
          <a:p>
            <a:r>
              <a:t>https://adk.dev/get-started/python/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r>
              <a:t>2 minutes. Cloud Run deployment is optional after class; the detailed command is in the guide. Model API inference is separate from hosting. Cloud Run request-based billing has monthly free allowances (2M requests, 180k vCPU seconds, 360k GiB seconds under listed pricing conditions), beyond which usage is charged. Eligible new Google Cloud users may get $300 credits for 90 days; billing/payment verification is required. Trial is not permanent free hosting. Streamlit Community Cloud provides free hosting but requires a GitHub repository and a Streamlit UI, not ADK web unchanged. Gemini has model-specific free quotas; paid example: 1M input + 0.2M output tokens at $0.25/$1.50 per million = $0.55 for the selected model, excluding other costs. Pricing and availability can change; verify before class. Never commit API keys.</a:t>
            </a:r>
          </a:p>
          <a:p>
            <a:endParaRPr/>
          </a:p>
          <a:p>
            <a:r>
              <a:t>Sources / disclosures:</a:t>
            </a:r>
          </a:p>
          <a:p>
            <a:r>
              <a:t>https://cloud.google.com/run/pricing</a:t>
            </a:r>
          </a:p>
          <a:p>
            <a:r>
              <a:t>https://docs.cloud.google.com/free/docs/free-cloud-features</a:t>
            </a:r>
          </a:p>
          <a:p>
            <a:r>
              <a:t>https://ai.google.dev/gemini-api/docs/pricing</a:t>
            </a:r>
          </a:p>
          <a:p>
            <a:r>
              <a:t>https://docs.streamlit.io/deploy/streamlit-community-cloud</a:t>
            </a:r>
          </a:p>
          <a:p>
            <a:r>
              <a:t>https://github.com/google/adk-docs/blob/main/docs/deploy/cloud-run.md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r>
              <a:t>Use as retrieval practice. Ask: which part generates language? Which finds handbook evidence? Which gets today’s venue? Which keeps the task moving? Expected: model; RAG tool; event tool; agent runtime loop. RAG retrieval can be exposed as a tool. Agent runtime controls execution; the model chooses among permitted actions. This is the fuller system, not all implemented in our one-tool demo.</a:t>
            </a:r>
          </a:p>
          <a:p>
            <a:endParaRPr/>
          </a:p>
          <a:p>
            <a:r>
              <a:t>Sources / disclosures:</a:t>
            </a:r>
          </a:p>
          <a:p>
            <a:r>
              <a:t>https://cloud.google.com/use-cases/retrieval-augmented-generation</a:t>
            </a:r>
          </a:p>
          <a:p>
            <a:r>
              <a:t>https://ai.google.dev/gemini-api/docs/function-calling</a:t>
            </a:r>
          </a:p>
          <a:p>
            <a:r>
              <a:t>https://adk.dev/get-started/python/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minutes.</a:t>
            </a:r>
          </a:p>
          <a:p>
            <a:r>
              <a:t>Close in one minute. Encourage students to build a small useful thing this week. AI can accelerate coding but they must understand functions, data, APIs, debugging and tests. Invite one change to the demo: add a field, validate arguments or handle an error. End with all the best. Image is AI-generated editorial artwork.</a:t>
            </a:r>
          </a:p>
          <a:p>
            <a:endParaRPr/>
          </a:p>
          <a:p>
            <a:r>
              <a:t>Sources / disclosures:</a:t>
            </a:r>
          </a:p>
          <a:p>
            <a:r>
              <a:t>https://adk.dev/get-started/python/</a:t>
            </a:r>
          </a:p>
          <a:p>
            <a:r>
              <a:t>Illustration generated for this workshop.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E74AB-6385-228D-867D-B935A8F88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4AA4E-32F0-E742-4452-2241EF3F02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69FE6-EEEC-A245-E9A7-FDFD3647D40A}"/>
              </a:ext>
            </a:extLst>
          </p:cNvPr>
          <p:cNvSpPr>
            <a:spLocks noGrp="1"/>
          </p:cNvSpPr>
          <p:nvPr>
            <p:ph type="body" idx="1"/>
          </p:nvPr>
        </p:nvSpPr>
        <p:spPr/>
        <p:txBody>
          <a:bodyPr/>
          <a:lstStyle/>
          <a:p>
            <a:r>
              <a:t>Timing: 1 minutes.</a:t>
            </a:r>
          </a:p>
          <a:p>
            <a:r>
              <a:t>Close in one minute. Encourage students to build a small useful thing this week. AI can accelerate coding but they must understand functions, data, APIs, debugging and tests. Invite one change to the demo: add a field, validate arguments or handle an error. End with all the best. Image is AI-generated editorial artwork.</a:t>
            </a:r>
          </a:p>
          <a:p>
            <a:endParaRPr/>
          </a:p>
          <a:p>
            <a:r>
              <a:t>Sources / disclosures:</a:t>
            </a:r>
          </a:p>
          <a:p>
            <a:r>
              <a:t>https://adk.dev/get-started/python/</a:t>
            </a:r>
          </a:p>
          <a:p>
            <a:r>
              <a:t>Illustration generated for this workshop.</a:t>
            </a:r>
          </a:p>
        </p:txBody>
      </p:sp>
      <p:sp>
        <p:nvSpPr>
          <p:cNvPr id="4" name="Slide Number Placeholder 3">
            <a:extLst>
              <a:ext uri="{FF2B5EF4-FFF2-40B4-BE49-F238E27FC236}">
                <a16:creationId xmlns:a16="http://schemas.microsoft.com/office/drawing/2014/main" id="{88797344-5EC6-E548-0999-BEA6B025AD2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72632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1E9C-5C85-C4A2-DB5F-A580D935F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BF0C6-6776-4503-B543-DC845D5AA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9C4A9-9518-68E9-6A05-A1F6FF4B3EAD}"/>
              </a:ext>
            </a:extLst>
          </p:cNvPr>
          <p:cNvSpPr>
            <a:spLocks noGrp="1"/>
          </p:cNvSpPr>
          <p:nvPr>
            <p:ph type="body" idx="1"/>
          </p:nvPr>
        </p:nvSpPr>
        <p:spPr/>
        <p:txBody>
          <a:bodyPr/>
          <a:lstStyle/>
          <a:p>
            <a:r>
              <a:t>Timing: 1 minutes.</a:t>
            </a:r>
          </a:p>
          <a:p>
            <a:r>
              <a:t>Close in one minute. Encourage students to build a small useful thing this week. AI can accelerate coding but they must understand functions, data, APIs, debugging and tests. Invite one change to the demo: add a field, validate arguments or handle an error. End with all the best. Image is AI-generated editorial artwork.</a:t>
            </a:r>
          </a:p>
          <a:p>
            <a:endParaRPr/>
          </a:p>
          <a:p>
            <a:r>
              <a:t>Sources / disclosures:</a:t>
            </a:r>
          </a:p>
          <a:p>
            <a:r>
              <a:t>https://adk.dev/get-started/python/</a:t>
            </a:r>
          </a:p>
          <a:p>
            <a:r>
              <a:t>Illustration generated for this workshop.</a:t>
            </a:r>
          </a:p>
        </p:txBody>
      </p:sp>
      <p:sp>
        <p:nvSpPr>
          <p:cNvPr id="4" name="Slide Number Placeholder 3">
            <a:extLst>
              <a:ext uri="{FF2B5EF4-FFF2-40B4-BE49-F238E27FC236}">
                <a16:creationId xmlns:a16="http://schemas.microsoft.com/office/drawing/2014/main" id="{C4EE2A90-CF48-D5ED-F35E-C90E53FF936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58624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1A562E4-35EE-47FA-BE32-BDD2A4144CDC}"/>
              </a:ext>
            </a:extLst>
          </p:cNvPr>
          <p:cNvSpPr>
            <a:spLocks noGrp="1"/>
          </p:cNvSpPr>
          <p:nvPr>
            <p:ph type="title"/>
          </p:nvPr>
        </p:nvSpPr>
        <p:spPr>
          <a:xfrm>
            <a:off x="1524000" y="3238500"/>
            <a:ext cx="12192000" cy="123825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9E6CADB-2199-45A0-9DB8-80114BE2A4E0}"/>
              </a:ext>
            </a:extLst>
          </p:cNvPr>
          <p:cNvSpPr>
            <a:spLocks noGrp="1"/>
          </p:cNvSpPr>
          <p:nvPr>
            <p:ph type="subTitle" idx="1"/>
          </p:nvPr>
        </p:nvSpPr>
        <p:spPr>
          <a:xfrm>
            <a:off x="2286000" y="4714875"/>
            <a:ext cx="10668000" cy="9525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609E053-8B95-4387-8E89-E16BC1F3D142}"/>
              </a:ext>
            </a:extLst>
          </p:cNvPr>
          <p:cNvSpPr>
            <a:spLocks noGrp="1"/>
          </p:cNvSpPr>
          <p:nvPr>
            <p:ph type="title"/>
          </p:nvPr>
        </p:nvSpPr>
        <p:spPr>
          <a:xfrm>
            <a:off x="1524000" y="3571875"/>
            <a:ext cx="12192000" cy="142875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38C2D0B-0AEF-4938-8CF8-33F3D5B168F5}"/>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6686F40-8579-4894-A79E-E6A6A0FEC9C7}"/>
              </a:ext>
            </a:extLst>
          </p:cNvPr>
          <p:cNvSpPr>
            <a:spLocks noGrp="1"/>
          </p:cNvSpPr>
          <p:nvPr>
            <p:ph type="body" idx="1"/>
          </p:nvPr>
        </p:nvSpPr>
        <p:spPr>
          <a:xfrm>
            <a:off x="857250" y="2381250"/>
            <a:ext cx="13525500" cy="5334000"/>
          </a:xfrm>
          <a:prstGeom prst="rect">
            <a:avLst/>
          </a:prstGeom>
          <a:noFill/>
          <a:ln>
            <a:noFill/>
            <a:prstDash val="solid"/>
          </a:ln>
        </p:spPr>
        <p:txBody>
          <a:bodyPr wrap="square" lIns="0" tIns="0" rIns="0" bIns="0" anchor="t">
            <a:normAutofit/>
          </a:bodyPr>
          <a:lstStyle>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0E3BE5E-846A-4159-91A0-69BFEE2C8FBF}"/>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1CA23B4-220D-4A32-A149-7AC22BE29427}"/>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
        <p:nvSpPr>
          <p:cNvPr id="3" name="Right column">
            <a:extLst>
              <a:ext uri="{FF2B5EF4-FFF2-40B4-BE49-F238E27FC236}">
                <a16:creationId xmlns:a16="http://schemas.microsoft.com/office/drawing/2014/main" id="{04B34CCB-7227-4461-B710-3A5C2CB366F2}"/>
              </a:ext>
            </a:extLst>
          </p:cNvPr>
          <p:cNvSpPr>
            <a:spLocks noGrp="1"/>
          </p:cNvSpPr>
          <p:nvPr>
            <p:ph type="body" idx="2"/>
          </p:nvPr>
        </p:nvSpPr>
        <p:spPr>
          <a:xfrm>
            <a:off x="8096250" y="2381250"/>
            <a:ext cx="6286500" cy="5334000"/>
          </a:xfrm>
          <a:prstGeom prst="rect">
            <a:avLst/>
          </a:prstGeom>
          <a:noFill/>
          <a:ln>
            <a:noFill/>
            <a:prstDash val="solid"/>
          </a:ln>
        </p:spPr>
        <p:txBody>
          <a:bodyPr wrap="square" lIns="0" tIns="0" rIns="0" bIns="0" anchor="t">
            <a:normAutofit/>
          </a:bodyPr>
          <a:lstStyle>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A54AC2C-7333-4873-89B5-93F0E5E69BAA}"/>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30AAB67-A6FA-466B-89B0-61C7B9981F2E}"/>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 name="text_1">
            <a:extLst>
              <a:ext uri="{FF2B5EF4-FFF2-40B4-BE49-F238E27FC236}">
                <a16:creationId xmlns:a16="http://schemas.microsoft.com/office/drawing/2014/main" id="{4689F0E4-705F-4B84-8CED-233E3BAD2E05}"/>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lang="en-IN" sz="1725" b="1" dirty="0">
                <a:solidFill>
                  <a:srgbClr val="0D9488"/>
                </a:solidFill>
                <a:latin typeface="Arial"/>
                <a:ea typeface="Arial"/>
                <a:cs typeface="Arial"/>
              </a:rPr>
              <a:t>A </a:t>
            </a:r>
            <a:r>
              <a:rPr sz="1725" b="1" dirty="0">
                <a:solidFill>
                  <a:srgbClr val="0D9488"/>
                </a:solidFill>
                <a:latin typeface="Arial"/>
                <a:ea typeface="Arial"/>
                <a:cs typeface="Arial"/>
              </a:rPr>
              <a:t>WORKSHOP</a:t>
            </a:r>
          </a:p>
        </p:txBody>
      </p:sp>
      <p:sp>
        <p:nvSpPr>
          <p:cNvPr id="2" name="text_2">
            <a:extLst>
              <a:ext uri="{FF2B5EF4-FFF2-40B4-BE49-F238E27FC236}">
                <a16:creationId xmlns:a16="http://schemas.microsoft.com/office/drawing/2014/main" id="{70758608-729E-4238-9D6D-BDEAA7657EAB}"/>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dirty="0">
                <a:solidFill>
                  <a:srgbClr val="10233F"/>
                </a:solidFill>
                <a:latin typeface="Arial"/>
                <a:ea typeface="Arial"/>
                <a:cs typeface="Arial"/>
              </a:rPr>
              <a:t>LLMs, knowledge and agents</a:t>
            </a:r>
          </a:p>
        </p:txBody>
      </p:sp>
      <p:sp>
        <p:nvSpPr>
          <p:cNvPr id="3" name="text_3">
            <a:extLst>
              <a:ext uri="{FF2B5EF4-FFF2-40B4-BE49-F238E27FC236}">
                <a16:creationId xmlns:a16="http://schemas.microsoft.com/office/drawing/2014/main" id="{F0D0007A-EE8A-4F32-9A16-952F6691EC97}"/>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01 / 22</a:t>
            </a:r>
          </a:p>
        </p:txBody>
      </p:sp>
      <p:sp>
        <p:nvSpPr>
          <p:cNvPr id="4" name="text_4">
            <a:extLst>
              <a:ext uri="{FF2B5EF4-FFF2-40B4-BE49-F238E27FC236}">
                <a16:creationId xmlns:a16="http://schemas.microsoft.com/office/drawing/2014/main" id="{8F5E8792-8C5C-4A04-AE5E-D5A5DEEED77A}"/>
              </a:ext>
            </a:extLst>
          </p:cNvPr>
          <p:cNvSpPr>
            <a:spLocks noGrp="1"/>
          </p:cNvSpPr>
          <p:nvPr/>
        </p:nvSpPr>
        <p:spPr>
          <a:xfrm>
            <a:off x="666749" y="2543174"/>
            <a:ext cx="7286625" cy="3046095"/>
          </a:xfrm>
          <a:prstGeom prst="rect">
            <a:avLst/>
          </a:prstGeom>
          <a:noFill/>
          <a:ln w="0">
            <a:noFill/>
          </a:ln>
        </p:spPr>
        <p:txBody>
          <a:bodyPr anchor="t">
            <a:noAutofit/>
          </a:bodyPr>
          <a:lstStyle/>
          <a:p>
            <a:pPr>
              <a:defRPr sz="3675" b="1">
                <a:solidFill>
                  <a:srgbClr val="10233F"/>
                </a:solidFill>
                <a:latin typeface="Arial"/>
                <a:ea typeface="Arial"/>
                <a:cs typeface="Arial"/>
              </a:defRPr>
            </a:pPr>
            <a:r>
              <a:rPr lang="en-IN" sz="3675" b="1" dirty="0">
                <a:solidFill>
                  <a:srgbClr val="10233F"/>
                </a:solidFill>
                <a:latin typeface="Arial"/>
                <a:ea typeface="Arial"/>
                <a:cs typeface="Arial"/>
              </a:rPr>
              <a:t>We have a Hackathon today.</a:t>
            </a:r>
          </a:p>
          <a:p>
            <a:pPr>
              <a:defRPr sz="3675" b="1">
                <a:solidFill>
                  <a:srgbClr val="10233F"/>
                </a:solidFill>
                <a:latin typeface="Arial"/>
                <a:ea typeface="Arial"/>
                <a:cs typeface="Arial"/>
              </a:defRPr>
            </a:pPr>
            <a:endParaRPr lang="en-IN" sz="3675" b="1" dirty="0">
              <a:solidFill>
                <a:srgbClr val="10233F"/>
              </a:solidFill>
              <a:latin typeface="Arial"/>
              <a:ea typeface="Arial"/>
              <a:cs typeface="Arial"/>
            </a:endParaRPr>
          </a:p>
          <a:p>
            <a:pPr>
              <a:defRPr sz="3675" b="1">
                <a:solidFill>
                  <a:srgbClr val="10233F"/>
                </a:solidFill>
                <a:latin typeface="Arial"/>
                <a:ea typeface="Arial"/>
                <a:cs typeface="Arial"/>
              </a:defRPr>
            </a:pPr>
            <a:r>
              <a:rPr sz="3675" b="1" dirty="0">
                <a:solidFill>
                  <a:srgbClr val="10233F"/>
                </a:solidFill>
                <a:latin typeface="Arial"/>
                <a:ea typeface="Arial"/>
                <a:cs typeface="Arial"/>
              </a:rPr>
              <a:t>Can our three-person team</a:t>
            </a:r>
            <a:r>
              <a:rPr lang="en-IN" sz="3675" b="1" dirty="0">
                <a:solidFill>
                  <a:srgbClr val="10233F"/>
                </a:solidFill>
                <a:latin typeface="Arial"/>
                <a:ea typeface="Arial"/>
                <a:cs typeface="Arial"/>
              </a:rPr>
              <a:t> </a:t>
            </a:r>
            <a:r>
              <a:rPr sz="3675" b="1" dirty="0">
                <a:solidFill>
                  <a:srgbClr val="10233F"/>
                </a:solidFill>
                <a:latin typeface="Arial"/>
                <a:ea typeface="Arial"/>
                <a:cs typeface="Arial"/>
              </a:rPr>
              <a:t>participate</a:t>
            </a:r>
            <a:r>
              <a:rPr lang="en-IN" sz="3675" b="1" dirty="0">
                <a:solidFill>
                  <a:srgbClr val="10233F"/>
                </a:solidFill>
                <a:latin typeface="Arial"/>
                <a:ea typeface="Arial"/>
                <a:cs typeface="Arial"/>
              </a:rPr>
              <a:t> </a:t>
            </a:r>
            <a:r>
              <a:rPr sz="3675" b="1" dirty="0">
                <a:solidFill>
                  <a:srgbClr val="10233F"/>
                </a:solidFill>
                <a:latin typeface="Arial"/>
                <a:ea typeface="Arial"/>
                <a:cs typeface="Arial"/>
              </a:rPr>
              <a:t>and where do</a:t>
            </a:r>
          </a:p>
          <a:p>
            <a:pPr>
              <a:defRPr sz="3675" b="1">
                <a:solidFill>
                  <a:srgbClr val="10233F"/>
                </a:solidFill>
                <a:latin typeface="Arial"/>
                <a:ea typeface="Arial"/>
                <a:cs typeface="Arial"/>
              </a:defRPr>
            </a:pPr>
            <a:r>
              <a:rPr sz="3675" b="1" dirty="0">
                <a:solidFill>
                  <a:srgbClr val="10233F"/>
                </a:solidFill>
                <a:latin typeface="Arial"/>
                <a:ea typeface="Arial"/>
                <a:cs typeface="Arial"/>
              </a:rPr>
              <a:t>we report today?”</a:t>
            </a:r>
          </a:p>
        </p:txBody>
      </p:sp>
      <p:pic>
        <p:nvPicPr>
          <p:cNvPr id="13" name="Picture 12"/>
          <p:cNvPicPr>
            <a:picLocks noChangeAspect="1"/>
          </p:cNvPicPr>
          <p:nvPr/>
        </p:nvPicPr>
        <p:blipFill>
          <a:blip r:embed="rId3"/>
          <a:stretch/>
        </p:blipFill>
        <p:spPr>
          <a:xfrm>
            <a:off x="7953375" y="2025253"/>
            <a:ext cx="6715125" cy="5036344"/>
          </a:xfrm>
          <a:prstGeom prst="rect">
            <a:avLst/>
          </a:prstGeom>
        </p:spPr>
      </p:pic>
      <p:sp>
        <p:nvSpPr>
          <p:cNvPr id="7" name="text_6">
            <a:extLst>
              <a:ext uri="{FF2B5EF4-FFF2-40B4-BE49-F238E27FC236}">
                <a16:creationId xmlns:a16="http://schemas.microsoft.com/office/drawing/2014/main" id="{EAE60C2D-C512-4F6B-B7B6-CDC4FFDA5368}"/>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PREDICT  →  FIND EVIDENCE  →  USE TOOLS  →  BUILD AN AGENT</a:t>
            </a:r>
          </a:p>
        </p:txBody>
      </p:sp>
    </p:spTree>
    <p:extLst>
      <p:ext uri="{BB962C8B-B14F-4D97-AF65-F5344CB8AC3E}">
        <p14:creationId xmlns:p14="http://schemas.microsoft.com/office/powerpoint/2010/main" val="1445593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8" name="text_7">
            <a:extLst>
              <a:ext uri="{FF2B5EF4-FFF2-40B4-BE49-F238E27FC236}">
                <a16:creationId xmlns:a16="http://schemas.microsoft.com/office/drawing/2014/main" id="{0CCA21A2-6605-4258-AD51-B4694A5F9473}"/>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01 • UNDERSTANDING THE MODEL</a:t>
            </a:r>
          </a:p>
        </p:txBody>
      </p:sp>
      <p:sp>
        <p:nvSpPr>
          <p:cNvPr id="2" name="text_8">
            <a:extLst>
              <a:ext uri="{FF2B5EF4-FFF2-40B4-BE49-F238E27FC236}">
                <a16:creationId xmlns:a16="http://schemas.microsoft.com/office/drawing/2014/main" id="{E6463652-4DF8-453F-90D4-6CA37704DECC}"/>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Where LLMs fit in AI</a:t>
            </a:r>
          </a:p>
        </p:txBody>
      </p:sp>
      <p:sp>
        <p:nvSpPr>
          <p:cNvPr id="3" name="text_9">
            <a:extLst>
              <a:ext uri="{FF2B5EF4-FFF2-40B4-BE49-F238E27FC236}">
                <a16:creationId xmlns:a16="http://schemas.microsoft.com/office/drawing/2014/main" id="{ABB8D97B-5265-4855-BC7A-8AF1E9A28C16}"/>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02 / 22</a:t>
            </a:r>
          </a:p>
        </p:txBody>
      </p:sp>
      <p:sp>
        <p:nvSpPr>
          <p:cNvPr id="4" name="shape_10">
            <a:extLst>
              <a:ext uri="{FF2B5EF4-FFF2-40B4-BE49-F238E27FC236}">
                <a16:creationId xmlns:a16="http://schemas.microsoft.com/office/drawing/2014/main" id="{E2B622FD-6C1A-4E95-9375-DDEFFFA97118}"/>
              </a:ext>
            </a:extLst>
          </p:cNvPr>
          <p:cNvSpPr>
            <a:spLocks noGrp="1"/>
          </p:cNvSpPr>
          <p:nvPr/>
        </p:nvSpPr>
        <p:spPr>
          <a:xfrm>
            <a:off x="809625" y="2000250"/>
            <a:ext cx="9906000" cy="5381625"/>
          </a:xfrm>
          <a:prstGeom prst="roundRect">
            <a:avLst>
              <a:gd name="adj" fmla="val 1416"/>
            </a:avLst>
          </a:prstGeom>
          <a:solidFill>
            <a:srgbClr val="FFFFFF"/>
          </a:solidFill>
          <a:ln w="19050">
            <a:solidFill>
              <a:srgbClr val="CBD5E1"/>
            </a:solidFill>
          </a:ln>
        </p:spPr>
      </p:sp>
      <p:sp>
        <p:nvSpPr>
          <p:cNvPr id="5" name="text_11">
            <a:extLst>
              <a:ext uri="{FF2B5EF4-FFF2-40B4-BE49-F238E27FC236}">
                <a16:creationId xmlns:a16="http://schemas.microsoft.com/office/drawing/2014/main" id="{3D644DA5-519E-4253-8A68-BBB533509E32}"/>
              </a:ext>
            </a:extLst>
          </p:cNvPr>
          <p:cNvSpPr>
            <a:spLocks noGrp="1"/>
          </p:cNvSpPr>
          <p:nvPr/>
        </p:nvSpPr>
        <p:spPr>
          <a:xfrm>
            <a:off x="1095375" y="2190750"/>
            <a:ext cx="8572500" cy="428625"/>
          </a:xfrm>
          <a:prstGeom prst="rect">
            <a:avLst/>
          </a:prstGeom>
          <a:noFill/>
          <a:ln w="0">
            <a:noFill/>
          </a:ln>
        </p:spPr>
        <p:txBody>
          <a:bodyPr anchor="t">
            <a:noAutofit/>
          </a:bodyPr>
          <a:lstStyle/>
          <a:p>
            <a:pPr>
              <a:defRPr sz="2025" b="1">
                <a:solidFill>
                  <a:srgbClr val="10233F"/>
                </a:solidFill>
                <a:latin typeface="Arial"/>
                <a:ea typeface="Arial"/>
                <a:cs typeface="Arial"/>
              </a:defRPr>
            </a:pPr>
            <a:r>
              <a:rPr sz="2025" b="1">
                <a:solidFill>
                  <a:srgbClr val="10233F"/>
                </a:solidFill>
                <a:latin typeface="Arial"/>
                <a:ea typeface="Arial"/>
                <a:cs typeface="Arial"/>
              </a:rPr>
              <a:t>ARTIFICIAL INTELLIGENCE</a:t>
            </a:r>
          </a:p>
        </p:txBody>
      </p:sp>
      <p:sp>
        <p:nvSpPr>
          <p:cNvPr id="6" name="shape_12">
            <a:extLst>
              <a:ext uri="{FF2B5EF4-FFF2-40B4-BE49-F238E27FC236}">
                <a16:creationId xmlns:a16="http://schemas.microsoft.com/office/drawing/2014/main" id="{97189E86-3823-4538-AF27-3B5BB3BD2FBE}"/>
              </a:ext>
            </a:extLst>
          </p:cNvPr>
          <p:cNvSpPr>
            <a:spLocks noGrp="1"/>
          </p:cNvSpPr>
          <p:nvPr/>
        </p:nvSpPr>
        <p:spPr>
          <a:xfrm>
            <a:off x="1381125" y="2857500"/>
            <a:ext cx="8810625" cy="4048125"/>
          </a:xfrm>
          <a:prstGeom prst="roundRect">
            <a:avLst>
              <a:gd name="adj" fmla="val 1882"/>
            </a:avLst>
          </a:prstGeom>
          <a:solidFill>
            <a:srgbClr val="E8EFFD"/>
          </a:solidFill>
          <a:ln w="19050">
            <a:solidFill>
              <a:srgbClr val="2563EB"/>
            </a:solidFill>
          </a:ln>
        </p:spPr>
      </p:sp>
      <p:sp>
        <p:nvSpPr>
          <p:cNvPr id="7" name="text_13">
            <a:extLst>
              <a:ext uri="{FF2B5EF4-FFF2-40B4-BE49-F238E27FC236}">
                <a16:creationId xmlns:a16="http://schemas.microsoft.com/office/drawing/2014/main" id="{B5E23914-A809-4454-9B2C-9C7E07F25D74}"/>
              </a:ext>
            </a:extLst>
          </p:cNvPr>
          <p:cNvSpPr>
            <a:spLocks noGrp="1"/>
          </p:cNvSpPr>
          <p:nvPr/>
        </p:nvSpPr>
        <p:spPr>
          <a:xfrm>
            <a:off x="1714500" y="3067050"/>
            <a:ext cx="8096250" cy="428625"/>
          </a:xfrm>
          <a:prstGeom prst="rect">
            <a:avLst/>
          </a:prstGeom>
          <a:noFill/>
          <a:ln w="0">
            <a:noFill/>
          </a:ln>
        </p:spPr>
        <p:txBody>
          <a:bodyPr anchor="t">
            <a:noAutofit/>
          </a:bodyPr>
          <a:lstStyle/>
          <a:p>
            <a:pPr>
              <a:defRPr sz="2025" b="1">
                <a:solidFill>
                  <a:srgbClr val="2563EB"/>
                </a:solidFill>
                <a:latin typeface="Arial"/>
                <a:ea typeface="Arial"/>
                <a:cs typeface="Arial"/>
              </a:defRPr>
            </a:pPr>
            <a:r>
              <a:rPr sz="2025" b="1">
                <a:solidFill>
                  <a:srgbClr val="2563EB"/>
                </a:solidFill>
                <a:latin typeface="Arial"/>
                <a:ea typeface="Arial"/>
                <a:cs typeface="Arial"/>
              </a:rPr>
              <a:t>MACHINE LEARNING  •  learns from data</a:t>
            </a:r>
          </a:p>
        </p:txBody>
      </p:sp>
      <p:sp>
        <p:nvSpPr>
          <p:cNvPr id="8" name="shape_14">
            <a:extLst>
              <a:ext uri="{FF2B5EF4-FFF2-40B4-BE49-F238E27FC236}">
                <a16:creationId xmlns:a16="http://schemas.microsoft.com/office/drawing/2014/main" id="{AA2D58AE-0589-4C40-B02E-6BAA244E79B3}"/>
              </a:ext>
            </a:extLst>
          </p:cNvPr>
          <p:cNvSpPr>
            <a:spLocks noGrp="1"/>
          </p:cNvSpPr>
          <p:nvPr/>
        </p:nvSpPr>
        <p:spPr>
          <a:xfrm>
            <a:off x="2000250" y="3714750"/>
            <a:ext cx="7620000" cy="2714625"/>
          </a:xfrm>
          <a:prstGeom prst="roundRect">
            <a:avLst>
              <a:gd name="adj" fmla="val 2807"/>
            </a:avLst>
          </a:prstGeom>
          <a:solidFill>
            <a:srgbClr val="EFF8F7"/>
          </a:solidFill>
          <a:ln w="19050">
            <a:solidFill>
              <a:srgbClr val="0D9488"/>
            </a:solidFill>
          </a:ln>
        </p:spPr>
      </p:sp>
      <p:sp>
        <p:nvSpPr>
          <p:cNvPr id="9" name="text_15">
            <a:extLst>
              <a:ext uri="{FF2B5EF4-FFF2-40B4-BE49-F238E27FC236}">
                <a16:creationId xmlns:a16="http://schemas.microsoft.com/office/drawing/2014/main" id="{91607F1E-9000-4576-BE42-948F1324CD91}"/>
              </a:ext>
            </a:extLst>
          </p:cNvPr>
          <p:cNvSpPr>
            <a:spLocks noGrp="1"/>
          </p:cNvSpPr>
          <p:nvPr/>
        </p:nvSpPr>
        <p:spPr>
          <a:xfrm>
            <a:off x="2286000" y="3905250"/>
            <a:ext cx="6953250" cy="428625"/>
          </a:xfrm>
          <a:prstGeom prst="rect">
            <a:avLst/>
          </a:prstGeom>
          <a:noFill/>
          <a:ln w="0">
            <a:noFill/>
          </a:ln>
        </p:spPr>
        <p:txBody>
          <a:bodyPr anchor="t">
            <a:noAutofit/>
          </a:bodyPr>
          <a:lstStyle/>
          <a:p>
            <a:pPr>
              <a:defRPr sz="2025" b="1">
                <a:solidFill>
                  <a:srgbClr val="0D9488"/>
                </a:solidFill>
                <a:latin typeface="Arial"/>
                <a:ea typeface="Arial"/>
                <a:cs typeface="Arial"/>
              </a:defRPr>
            </a:pPr>
            <a:r>
              <a:rPr sz="2025" b="1">
                <a:solidFill>
                  <a:srgbClr val="0D9488"/>
                </a:solidFill>
                <a:latin typeface="Arial"/>
                <a:ea typeface="Arial"/>
                <a:cs typeface="Arial"/>
              </a:rPr>
              <a:t>DEEP LEARNING  •  neural networks</a:t>
            </a:r>
          </a:p>
        </p:txBody>
      </p:sp>
      <p:cxnSp>
        <p:nvCxnSpPr>
          <p:cNvPr id="27" name="Straight Arrow Connector 26"/>
          <p:cNvCxnSpPr>
            <a:stCxn id="10" idx="3"/>
            <a:endCxn id="11" idx="1"/>
          </p:cNvCxnSpPr>
          <p:nvPr/>
        </p:nvCxnSpPr>
        <p:spPr>
          <a:xfrm flipV="1">
            <a:off x="6143625" y="5095875"/>
            <a:ext cx="952500" cy="238125"/>
          </a:xfrm>
          <a:prstGeom prst="straightConnector1">
            <a:avLst/>
          </a:prstGeom>
          <a:ln w="28575">
            <a:solidFill>
              <a:srgbClr val="2563EB"/>
            </a:solidFill>
            <a:tailEnd type="triangle" w="med" len="med"/>
          </a:ln>
        </p:spPr>
      </p:cxnSp>
      <p:sp>
        <p:nvSpPr>
          <p:cNvPr id="11" name="LLMs_language_17">
            <a:extLst>
              <a:ext uri="{FF2B5EF4-FFF2-40B4-BE49-F238E27FC236}">
                <a16:creationId xmlns:a16="http://schemas.microsoft.com/office/drawing/2014/main" id="{FD6E29BC-EA3C-438E-9360-ADBAEF381368}"/>
              </a:ext>
            </a:extLst>
          </p:cNvPr>
          <p:cNvSpPr>
            <a:spLocks noGrp="1"/>
          </p:cNvSpPr>
          <p:nvPr/>
        </p:nvSpPr>
        <p:spPr>
          <a:xfrm>
            <a:off x="7096125" y="4667250"/>
            <a:ext cx="1952625" cy="857250"/>
          </a:xfrm>
          <a:prstGeom prst="roundRect">
            <a:avLst>
              <a:gd name="adj" fmla="val 8889"/>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LLMs</a:t>
            </a:r>
          </a:p>
          <a:p>
            <a:pPr algn="ctr">
              <a:defRPr sz="2175">
                <a:solidFill>
                  <a:srgbClr val="10233F"/>
                </a:solidFill>
                <a:latin typeface="Arial"/>
                <a:ea typeface="Arial"/>
                <a:cs typeface="Arial"/>
              </a:defRPr>
            </a:pPr>
            <a:r>
              <a:rPr sz="2175">
                <a:solidFill>
                  <a:srgbClr val="10233F"/>
                </a:solidFill>
                <a:latin typeface="Arial"/>
                <a:ea typeface="Arial"/>
                <a:cs typeface="Arial"/>
              </a:rPr>
              <a:t>language</a:t>
            </a:r>
          </a:p>
        </p:txBody>
      </p:sp>
      <p:cxnSp>
        <p:nvCxnSpPr>
          <p:cNvPr id="29" name="Straight Arrow Connector 28"/>
          <p:cNvCxnSpPr>
            <a:stCxn id="10" idx="3"/>
            <a:endCxn id="12" idx="1"/>
          </p:cNvCxnSpPr>
          <p:nvPr/>
        </p:nvCxnSpPr>
        <p:spPr>
          <a:xfrm>
            <a:off x="6143625" y="5334000"/>
            <a:ext cx="952500" cy="642938"/>
          </a:xfrm>
          <a:prstGeom prst="straightConnector1">
            <a:avLst/>
          </a:prstGeom>
          <a:ln w="28575">
            <a:solidFill>
              <a:srgbClr val="0D9488"/>
            </a:solidFill>
            <a:tailEnd type="triangle" w="med" len="med"/>
          </a:ln>
        </p:spPr>
      </p:cxnSp>
      <p:sp>
        <p:nvSpPr>
          <p:cNvPr id="10" name="GENERATIVE_AI_creates_new_content_16">
            <a:extLst>
              <a:ext uri="{FF2B5EF4-FFF2-40B4-BE49-F238E27FC236}">
                <a16:creationId xmlns:a16="http://schemas.microsoft.com/office/drawing/2014/main" id="{B3ACE1B7-A465-458B-8E0D-1BE28850DFBD}"/>
              </a:ext>
            </a:extLst>
          </p:cNvPr>
          <p:cNvSpPr>
            <a:spLocks noGrp="1"/>
          </p:cNvSpPr>
          <p:nvPr/>
        </p:nvSpPr>
        <p:spPr>
          <a:xfrm>
            <a:off x="2714625" y="4714875"/>
            <a:ext cx="3429000" cy="1238250"/>
          </a:xfrm>
          <a:prstGeom prst="roundRect">
            <a:avLst>
              <a:gd name="adj" fmla="val 6154"/>
            </a:avLst>
          </a:prstGeom>
          <a:solidFill>
            <a:srgbClr val="FFFFF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GENERATIVE AI</a:t>
            </a:r>
          </a:p>
          <a:p>
            <a:pPr algn="ctr">
              <a:defRPr sz="2175">
                <a:solidFill>
                  <a:srgbClr val="10233F"/>
                </a:solidFill>
                <a:latin typeface="Arial"/>
                <a:ea typeface="Arial"/>
                <a:cs typeface="Arial"/>
              </a:defRPr>
            </a:pPr>
            <a:r>
              <a:rPr sz="2175">
                <a:solidFill>
                  <a:srgbClr val="10233F"/>
                </a:solidFill>
                <a:latin typeface="Arial"/>
                <a:ea typeface="Arial"/>
                <a:cs typeface="Arial"/>
              </a:rPr>
              <a:t>creates new content</a:t>
            </a:r>
          </a:p>
        </p:txBody>
      </p:sp>
      <p:sp>
        <p:nvSpPr>
          <p:cNvPr id="12" name="Images_audio_18">
            <a:extLst>
              <a:ext uri="{FF2B5EF4-FFF2-40B4-BE49-F238E27FC236}">
                <a16:creationId xmlns:a16="http://schemas.microsoft.com/office/drawing/2014/main" id="{11724651-6B05-4A72-8588-8480D98E0C0A}"/>
              </a:ext>
            </a:extLst>
          </p:cNvPr>
          <p:cNvSpPr>
            <a:spLocks noGrp="1"/>
          </p:cNvSpPr>
          <p:nvPr/>
        </p:nvSpPr>
        <p:spPr>
          <a:xfrm>
            <a:off x="7096125" y="5715000"/>
            <a:ext cx="1952625" cy="523875"/>
          </a:xfrm>
          <a:prstGeom prst="roundRect">
            <a:avLst>
              <a:gd name="adj" fmla="val 14545"/>
            </a:avLst>
          </a:prstGeom>
          <a:solidFill>
            <a:srgbClr val="FFFFFF"/>
          </a:solidFill>
          <a:ln w="19050">
            <a:solidFill>
              <a:srgbClr val="0D9488"/>
            </a:solidFill>
          </a:ln>
        </p:spPr>
        <p:txBody>
          <a:bodyPr anchor="ctr">
            <a:noAutofit/>
          </a:bodyPr>
          <a:lstStyle/>
          <a:p>
            <a:pPr algn="ctr">
              <a:defRPr sz="1725">
                <a:solidFill>
                  <a:srgbClr val="10233F"/>
                </a:solidFill>
                <a:latin typeface="Arial"/>
                <a:ea typeface="Arial"/>
                <a:cs typeface="Arial"/>
              </a:defRPr>
            </a:pPr>
            <a:r>
              <a:rPr sz="1725">
                <a:solidFill>
                  <a:srgbClr val="10233F"/>
                </a:solidFill>
                <a:latin typeface="Arial"/>
                <a:ea typeface="Arial"/>
                <a:cs typeface="Arial"/>
              </a:rPr>
              <a:t>Images / audio</a:t>
            </a:r>
          </a:p>
        </p:txBody>
      </p:sp>
      <p:sp>
        <p:nvSpPr>
          <p:cNvPr id="15" name="text_19">
            <a:extLst>
              <a:ext uri="{FF2B5EF4-FFF2-40B4-BE49-F238E27FC236}">
                <a16:creationId xmlns:a16="http://schemas.microsoft.com/office/drawing/2014/main" id="{F908D1BD-9AE3-4AB3-B55B-777D1D67764D}"/>
              </a:ext>
            </a:extLst>
          </p:cNvPr>
          <p:cNvSpPr>
            <a:spLocks noGrp="1"/>
          </p:cNvSpPr>
          <p:nvPr/>
        </p:nvSpPr>
        <p:spPr>
          <a:xfrm>
            <a:off x="11287125" y="3095625"/>
            <a:ext cx="2952750" cy="857250"/>
          </a:xfrm>
          <a:prstGeom prst="rect">
            <a:avLst/>
          </a:prstGeom>
          <a:noFill/>
          <a:ln w="0">
            <a:noFill/>
          </a:ln>
        </p:spPr>
        <p:txBody>
          <a:bodyPr anchor="t">
            <a:noAutofit/>
          </a:bodyPr>
          <a:lstStyle/>
          <a:p>
            <a:pPr>
              <a:defRPr sz="2475" b="1">
                <a:solidFill>
                  <a:srgbClr val="2563EB"/>
                </a:solidFill>
                <a:latin typeface="Arial"/>
                <a:ea typeface="Arial"/>
                <a:cs typeface="Arial"/>
              </a:defRPr>
            </a:pPr>
            <a:r>
              <a:rPr sz="2475" b="1">
                <a:solidFill>
                  <a:srgbClr val="2563EB"/>
                </a:solidFill>
                <a:latin typeface="Arial"/>
                <a:ea typeface="Arial"/>
                <a:cs typeface="Arial"/>
              </a:rPr>
              <a:t>The model we will use</a:t>
            </a:r>
          </a:p>
        </p:txBody>
      </p:sp>
      <p:sp>
        <p:nvSpPr>
          <p:cNvPr id="16" name="text_20">
            <a:extLst>
              <a:ext uri="{FF2B5EF4-FFF2-40B4-BE49-F238E27FC236}">
                <a16:creationId xmlns:a16="http://schemas.microsoft.com/office/drawing/2014/main" id="{4A0DE78B-2EC8-4E56-9E9D-4E7FE60622A3}"/>
              </a:ext>
            </a:extLst>
          </p:cNvPr>
          <p:cNvSpPr>
            <a:spLocks noGrp="1"/>
          </p:cNvSpPr>
          <p:nvPr/>
        </p:nvSpPr>
        <p:spPr>
          <a:xfrm>
            <a:off x="11287125" y="4191000"/>
            <a:ext cx="2952750" cy="1714500"/>
          </a:xfrm>
          <a:prstGeom prst="rect">
            <a:avLst/>
          </a:prstGeom>
          <a:noFill/>
          <a:ln w="0">
            <a:noFill/>
          </a:ln>
        </p:spPr>
        <p:txBody>
          <a:bodyPr anchor="t">
            <a:noAutofit/>
          </a:bodyPr>
          <a:lstStyle/>
          <a:p>
            <a:pPr>
              <a:defRPr sz="2325" b="0">
                <a:solidFill>
                  <a:srgbClr val="10233F"/>
                </a:solidFill>
                <a:latin typeface="Arial"/>
                <a:ea typeface="Arial"/>
                <a:cs typeface="Arial"/>
              </a:defRPr>
            </a:pPr>
            <a:r>
              <a:rPr sz="2325" b="0">
                <a:solidFill>
                  <a:srgbClr val="10233F"/>
                </a:solidFill>
                <a:latin typeface="Arial"/>
                <a:ea typeface="Arial"/>
                <a:cs typeface="Arial"/>
              </a:rPr>
              <a:t>A Large Language</a:t>
            </a:r>
          </a:p>
          <a:p>
            <a:pPr>
              <a:defRPr sz="2325" b="0">
                <a:solidFill>
                  <a:srgbClr val="10233F"/>
                </a:solidFill>
                <a:latin typeface="Arial"/>
                <a:ea typeface="Arial"/>
                <a:cs typeface="Arial"/>
              </a:defRPr>
            </a:pPr>
            <a:r>
              <a:rPr sz="2325" b="0">
                <a:solidFill>
                  <a:srgbClr val="10233F"/>
                </a:solidFill>
                <a:latin typeface="Arial"/>
                <a:ea typeface="Arial"/>
                <a:cs typeface="Arial"/>
              </a:rPr>
              <a:t>Model predicts and</a:t>
            </a:r>
          </a:p>
          <a:p>
            <a:pPr>
              <a:defRPr sz="2325" b="0">
                <a:solidFill>
                  <a:srgbClr val="10233F"/>
                </a:solidFill>
                <a:latin typeface="Arial"/>
                <a:ea typeface="Arial"/>
                <a:cs typeface="Arial"/>
              </a:defRPr>
            </a:pPr>
            <a:r>
              <a:rPr sz="2325" b="0">
                <a:solidFill>
                  <a:srgbClr val="10233F"/>
                </a:solidFill>
                <a:latin typeface="Arial"/>
                <a:ea typeface="Arial"/>
                <a:cs typeface="Arial"/>
              </a:rPr>
              <a:t>generates language.</a:t>
            </a:r>
          </a:p>
        </p:txBody>
      </p:sp>
      <p:sp>
        <p:nvSpPr>
          <p:cNvPr id="17" name="text_21">
            <a:extLst>
              <a:ext uri="{FF2B5EF4-FFF2-40B4-BE49-F238E27FC236}">
                <a16:creationId xmlns:a16="http://schemas.microsoft.com/office/drawing/2014/main" id="{4CE53A51-591B-4047-BEF3-B6D3DD867F1F}"/>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dirty="0">
                <a:solidFill>
                  <a:srgbClr val="64748B"/>
                </a:solidFill>
                <a:latin typeface="Arial"/>
                <a:ea typeface="Arial"/>
                <a:cs typeface="Arial"/>
              </a:rPr>
              <a:t>A simplified map of modern systems</a:t>
            </a:r>
            <a:r>
              <a:rPr lang="en-IN" sz="1800" b="0" dirty="0">
                <a:solidFill>
                  <a:srgbClr val="64748B"/>
                </a:solidFill>
                <a:latin typeface="Arial"/>
                <a:ea typeface="Arial"/>
                <a:cs typeface="Arial"/>
              </a:rPr>
              <a:t> </a:t>
            </a:r>
            <a:r>
              <a:rPr sz="1800" b="0" dirty="0">
                <a:solidFill>
                  <a:srgbClr val="64748B"/>
                </a:solidFill>
                <a:latin typeface="Arial"/>
                <a:ea typeface="Arial"/>
                <a:cs typeface="Arial"/>
              </a:rPr>
              <a:t>not a complete taxonomy.</a:t>
            </a:r>
          </a:p>
        </p:txBody>
      </p:sp>
    </p:spTree>
    <p:extLst>
      <p:ext uri="{BB962C8B-B14F-4D97-AF65-F5344CB8AC3E}">
        <p14:creationId xmlns:p14="http://schemas.microsoft.com/office/powerpoint/2010/main" val="1389908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7" name="Straight Arrow Connector 16"/>
          <p:cNvCxnSpPr>
            <a:stCxn id="12" idx="3"/>
            <a:endCxn id="13" idx="1"/>
          </p:cNvCxnSpPr>
          <p:nvPr/>
        </p:nvCxnSpPr>
        <p:spPr>
          <a:xfrm>
            <a:off x="8524875" y="6000750"/>
            <a:ext cx="1381125" cy="0"/>
          </a:xfrm>
          <a:prstGeom prst="straightConnector1">
            <a:avLst/>
          </a:prstGeom>
          <a:ln w="28575">
            <a:solidFill>
              <a:srgbClr val="2563EB"/>
            </a:solidFill>
            <a:tailEnd type="triangle" w="med" len="med"/>
          </a:ln>
        </p:spPr>
      </p:cxnSp>
      <p:cxnSp>
        <p:nvCxnSpPr>
          <p:cNvPr id="18" name="Straight Arrow Connector 17"/>
          <p:cNvCxnSpPr>
            <a:stCxn id="11" idx="3"/>
            <a:endCxn id="12" idx="1"/>
          </p:cNvCxnSpPr>
          <p:nvPr/>
        </p:nvCxnSpPr>
        <p:spPr>
          <a:xfrm>
            <a:off x="3810000" y="6000750"/>
            <a:ext cx="1285875" cy="0"/>
          </a:xfrm>
          <a:prstGeom prst="straightConnector1">
            <a:avLst/>
          </a:prstGeom>
          <a:ln w="28575">
            <a:solidFill>
              <a:srgbClr val="0D9488"/>
            </a:solidFill>
            <a:tailEnd type="triangle" w="med" len="med"/>
          </a:ln>
        </p:spPr>
      </p:cxnSp>
      <p:cxnSp>
        <p:nvCxnSpPr>
          <p:cNvPr id="19" name="Straight Arrow Connector 18"/>
          <p:cNvCxnSpPr>
            <a:stCxn id="6" idx="3"/>
            <a:endCxn id="7" idx="1"/>
          </p:cNvCxnSpPr>
          <p:nvPr/>
        </p:nvCxnSpPr>
        <p:spPr>
          <a:xfrm>
            <a:off x="8524875" y="3476625"/>
            <a:ext cx="1381125" cy="0"/>
          </a:xfrm>
          <a:prstGeom prst="straightConnector1">
            <a:avLst/>
          </a:prstGeom>
          <a:ln w="28575">
            <a:solidFill>
              <a:srgbClr val="2563EB"/>
            </a:solidFill>
            <a:tailEnd type="triangle" w="med" len="med"/>
          </a:ln>
        </p:spPr>
      </p:cxnSp>
      <p:cxnSp>
        <p:nvCxnSpPr>
          <p:cNvPr id="20" name="Straight Arrow Connector 19"/>
          <p:cNvCxnSpPr>
            <a:stCxn id="5" idx="3"/>
            <a:endCxn id="6" idx="1"/>
          </p:cNvCxnSpPr>
          <p:nvPr/>
        </p:nvCxnSpPr>
        <p:spPr>
          <a:xfrm>
            <a:off x="3810000" y="3476625"/>
            <a:ext cx="1285875" cy="0"/>
          </a:xfrm>
          <a:prstGeom prst="straightConnector1">
            <a:avLst/>
          </a:prstGeom>
          <a:ln w="28575">
            <a:solidFill>
              <a:srgbClr val="2563EB"/>
            </a:solidFill>
            <a:tailEnd type="triangle" w="med" len="med"/>
          </a:ln>
        </p:spPr>
      </p:cxnSp>
      <p:sp>
        <p:nvSpPr>
          <p:cNvPr id="21" name="text_22">
            <a:extLst>
              <a:ext uri="{FF2B5EF4-FFF2-40B4-BE49-F238E27FC236}">
                <a16:creationId xmlns:a16="http://schemas.microsoft.com/office/drawing/2014/main" id="{2B950628-09BE-4B1A-8BE8-7DE0158544C5}"/>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01 • UNDERSTANDING THE MODEL</a:t>
            </a:r>
          </a:p>
        </p:txBody>
      </p:sp>
      <p:sp>
        <p:nvSpPr>
          <p:cNvPr id="2" name="text_23">
            <a:extLst>
              <a:ext uri="{FF2B5EF4-FFF2-40B4-BE49-F238E27FC236}">
                <a16:creationId xmlns:a16="http://schemas.microsoft.com/office/drawing/2014/main" id="{56E4830E-06CF-4F71-9BA1-38AB81FC98B9}"/>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Training and answering are different</a:t>
            </a:r>
          </a:p>
        </p:txBody>
      </p:sp>
      <p:sp>
        <p:nvSpPr>
          <p:cNvPr id="3" name="text_24">
            <a:extLst>
              <a:ext uri="{FF2B5EF4-FFF2-40B4-BE49-F238E27FC236}">
                <a16:creationId xmlns:a16="http://schemas.microsoft.com/office/drawing/2014/main" id="{39450F6B-E234-4CC9-9C0D-4C1C3558F344}"/>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03 / 22</a:t>
            </a:r>
          </a:p>
        </p:txBody>
      </p:sp>
      <p:sp>
        <p:nvSpPr>
          <p:cNvPr id="4" name="text_25">
            <a:extLst>
              <a:ext uri="{FF2B5EF4-FFF2-40B4-BE49-F238E27FC236}">
                <a16:creationId xmlns:a16="http://schemas.microsoft.com/office/drawing/2014/main" id="{3C07B0F0-C3C2-430A-8047-96E64F2A077C}"/>
              </a:ext>
            </a:extLst>
          </p:cNvPr>
          <p:cNvSpPr>
            <a:spLocks noGrp="1"/>
          </p:cNvSpPr>
          <p:nvPr/>
        </p:nvSpPr>
        <p:spPr>
          <a:xfrm>
            <a:off x="809625" y="2095500"/>
            <a:ext cx="123825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TRAINING • BEFORE YOU ASK</a:t>
            </a:r>
          </a:p>
        </p:txBody>
      </p:sp>
      <p:sp>
        <p:nvSpPr>
          <p:cNvPr id="5" name="Training_data_26">
            <a:extLst>
              <a:ext uri="{FF2B5EF4-FFF2-40B4-BE49-F238E27FC236}">
                <a16:creationId xmlns:a16="http://schemas.microsoft.com/office/drawing/2014/main" id="{0B9116D8-A6D9-4C5A-B486-BA8F060D3671}"/>
              </a:ext>
            </a:extLst>
          </p:cNvPr>
          <p:cNvSpPr>
            <a:spLocks noGrp="1"/>
          </p:cNvSpPr>
          <p:nvPr/>
        </p:nvSpPr>
        <p:spPr>
          <a:xfrm>
            <a:off x="857250" y="2857500"/>
            <a:ext cx="2952750" cy="1238250"/>
          </a:xfrm>
          <a:prstGeom prst="roundRect">
            <a:avLst>
              <a:gd name="adj" fmla="val 6154"/>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Training data</a:t>
            </a:r>
          </a:p>
        </p:txBody>
      </p:sp>
      <p:sp>
        <p:nvSpPr>
          <p:cNvPr id="6" name="Learning_updates_weights_27">
            <a:extLst>
              <a:ext uri="{FF2B5EF4-FFF2-40B4-BE49-F238E27FC236}">
                <a16:creationId xmlns:a16="http://schemas.microsoft.com/office/drawing/2014/main" id="{CBA48305-09EB-4ABE-B465-574F396C0F51}"/>
              </a:ext>
            </a:extLst>
          </p:cNvPr>
          <p:cNvSpPr>
            <a:spLocks noGrp="1"/>
          </p:cNvSpPr>
          <p:nvPr/>
        </p:nvSpPr>
        <p:spPr>
          <a:xfrm>
            <a:off x="5095875" y="2857500"/>
            <a:ext cx="3429000" cy="1238250"/>
          </a:xfrm>
          <a:prstGeom prst="roundRect">
            <a:avLst>
              <a:gd name="adj" fmla="val 6154"/>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Learning</a:t>
            </a:r>
          </a:p>
          <a:p>
            <a:pPr algn="ctr">
              <a:defRPr sz="2175">
                <a:solidFill>
                  <a:srgbClr val="10233F"/>
                </a:solidFill>
                <a:latin typeface="Arial"/>
                <a:ea typeface="Arial"/>
                <a:cs typeface="Arial"/>
              </a:defRPr>
            </a:pPr>
            <a:r>
              <a:rPr sz="2175">
                <a:solidFill>
                  <a:srgbClr val="10233F"/>
                </a:solidFill>
                <a:latin typeface="Arial"/>
                <a:ea typeface="Arial"/>
                <a:cs typeface="Arial"/>
              </a:rPr>
              <a:t>updates weights</a:t>
            </a:r>
          </a:p>
        </p:txBody>
      </p:sp>
      <p:sp>
        <p:nvSpPr>
          <p:cNvPr id="7" name="Trained_model_28">
            <a:extLst>
              <a:ext uri="{FF2B5EF4-FFF2-40B4-BE49-F238E27FC236}">
                <a16:creationId xmlns:a16="http://schemas.microsoft.com/office/drawing/2014/main" id="{9AECD541-DB04-4665-AB09-D766AD95EBC7}"/>
              </a:ext>
            </a:extLst>
          </p:cNvPr>
          <p:cNvSpPr>
            <a:spLocks noGrp="1"/>
          </p:cNvSpPr>
          <p:nvPr/>
        </p:nvSpPr>
        <p:spPr>
          <a:xfrm>
            <a:off x="9906000" y="2857500"/>
            <a:ext cx="3333750" cy="1238250"/>
          </a:xfrm>
          <a:prstGeom prst="roundRect">
            <a:avLst>
              <a:gd name="adj" fmla="val 6154"/>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Trained model</a:t>
            </a:r>
          </a:p>
        </p:txBody>
      </p:sp>
      <p:sp>
        <p:nvSpPr>
          <p:cNvPr id="10" name="text_29">
            <a:extLst>
              <a:ext uri="{FF2B5EF4-FFF2-40B4-BE49-F238E27FC236}">
                <a16:creationId xmlns:a16="http://schemas.microsoft.com/office/drawing/2014/main" id="{94171132-371E-4415-8AC7-A43C0C22B6D7}"/>
              </a:ext>
            </a:extLst>
          </p:cNvPr>
          <p:cNvSpPr>
            <a:spLocks noGrp="1"/>
          </p:cNvSpPr>
          <p:nvPr/>
        </p:nvSpPr>
        <p:spPr>
          <a:xfrm>
            <a:off x="809625" y="4667250"/>
            <a:ext cx="123825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INFERENCE • EACH REQUEST</a:t>
            </a:r>
          </a:p>
        </p:txBody>
      </p:sp>
      <p:sp>
        <p:nvSpPr>
          <p:cNvPr id="11" name="Your_prompt_context_30">
            <a:extLst>
              <a:ext uri="{FF2B5EF4-FFF2-40B4-BE49-F238E27FC236}">
                <a16:creationId xmlns:a16="http://schemas.microsoft.com/office/drawing/2014/main" id="{A292CAC1-1E49-41CB-A32F-661233ED986B}"/>
              </a:ext>
            </a:extLst>
          </p:cNvPr>
          <p:cNvSpPr>
            <a:spLocks noGrp="1"/>
          </p:cNvSpPr>
          <p:nvPr/>
        </p:nvSpPr>
        <p:spPr>
          <a:xfrm>
            <a:off x="857250" y="5381625"/>
            <a:ext cx="2952750" cy="1238250"/>
          </a:xfrm>
          <a:prstGeom prst="roundRect">
            <a:avLst>
              <a:gd name="adj" fmla="val 6154"/>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Your prompt</a:t>
            </a:r>
          </a:p>
          <a:p>
            <a:pPr algn="ctr">
              <a:defRPr sz="2175">
                <a:solidFill>
                  <a:srgbClr val="10233F"/>
                </a:solidFill>
                <a:latin typeface="Arial"/>
                <a:ea typeface="Arial"/>
                <a:cs typeface="Arial"/>
              </a:defRPr>
            </a:pPr>
            <a:r>
              <a:rPr sz="2175">
                <a:solidFill>
                  <a:srgbClr val="10233F"/>
                </a:solidFill>
                <a:latin typeface="Arial"/>
                <a:ea typeface="Arial"/>
                <a:cs typeface="Arial"/>
              </a:rPr>
              <a:t>+ context</a:t>
            </a:r>
          </a:p>
        </p:txBody>
      </p:sp>
      <p:sp>
        <p:nvSpPr>
          <p:cNvPr id="12" name="Trained_model_uses_those_weights_31">
            <a:extLst>
              <a:ext uri="{FF2B5EF4-FFF2-40B4-BE49-F238E27FC236}">
                <a16:creationId xmlns:a16="http://schemas.microsoft.com/office/drawing/2014/main" id="{0384486A-B789-4300-80AB-2C6D33757D7A}"/>
              </a:ext>
            </a:extLst>
          </p:cNvPr>
          <p:cNvSpPr>
            <a:spLocks noGrp="1"/>
          </p:cNvSpPr>
          <p:nvPr/>
        </p:nvSpPr>
        <p:spPr>
          <a:xfrm>
            <a:off x="5095875" y="5381625"/>
            <a:ext cx="3429000" cy="1238250"/>
          </a:xfrm>
          <a:prstGeom prst="roundRect">
            <a:avLst>
              <a:gd name="adj" fmla="val 6154"/>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Trained model</a:t>
            </a:r>
          </a:p>
          <a:p>
            <a:pPr algn="ctr">
              <a:defRPr sz="2175">
                <a:solidFill>
                  <a:srgbClr val="10233F"/>
                </a:solidFill>
                <a:latin typeface="Arial"/>
                <a:ea typeface="Arial"/>
                <a:cs typeface="Arial"/>
              </a:defRPr>
            </a:pPr>
            <a:r>
              <a:rPr sz="2175">
                <a:solidFill>
                  <a:srgbClr val="10233F"/>
                </a:solidFill>
                <a:latin typeface="Arial"/>
                <a:ea typeface="Arial"/>
                <a:cs typeface="Arial"/>
              </a:rPr>
              <a:t>uses those weights</a:t>
            </a:r>
          </a:p>
        </p:txBody>
      </p:sp>
      <p:sp>
        <p:nvSpPr>
          <p:cNvPr id="13" name="Generated_response_32">
            <a:extLst>
              <a:ext uri="{FF2B5EF4-FFF2-40B4-BE49-F238E27FC236}">
                <a16:creationId xmlns:a16="http://schemas.microsoft.com/office/drawing/2014/main" id="{39C9706A-D224-49F3-87BA-B8808A1E986A}"/>
              </a:ext>
            </a:extLst>
          </p:cNvPr>
          <p:cNvSpPr>
            <a:spLocks noGrp="1"/>
          </p:cNvSpPr>
          <p:nvPr/>
        </p:nvSpPr>
        <p:spPr>
          <a:xfrm>
            <a:off x="9906000" y="5381625"/>
            <a:ext cx="3333750" cy="1238250"/>
          </a:xfrm>
          <a:prstGeom prst="roundRect">
            <a:avLst>
              <a:gd name="adj" fmla="val 6154"/>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Generated</a:t>
            </a:r>
          </a:p>
          <a:p>
            <a:pPr algn="ctr">
              <a:defRPr sz="2175">
                <a:solidFill>
                  <a:srgbClr val="10233F"/>
                </a:solidFill>
                <a:latin typeface="Arial"/>
                <a:ea typeface="Arial"/>
                <a:cs typeface="Arial"/>
              </a:defRPr>
            </a:pPr>
            <a:r>
              <a:rPr sz="2175">
                <a:solidFill>
                  <a:srgbClr val="10233F"/>
                </a:solidFill>
                <a:latin typeface="Arial"/>
                <a:ea typeface="Arial"/>
                <a:cs typeface="Arial"/>
              </a:rPr>
              <a:t>response</a:t>
            </a:r>
          </a:p>
        </p:txBody>
      </p:sp>
      <p:sp>
        <p:nvSpPr>
          <p:cNvPr id="16" name="text_33">
            <a:extLst>
              <a:ext uri="{FF2B5EF4-FFF2-40B4-BE49-F238E27FC236}">
                <a16:creationId xmlns:a16="http://schemas.microsoft.com/office/drawing/2014/main" id="{861D3751-49FF-4706-9B9D-0497B7E356CA}"/>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The model can only use external information if your application makes it available.</a:t>
            </a:r>
          </a:p>
        </p:txBody>
      </p:sp>
    </p:spTree>
    <p:extLst>
      <p:ext uri="{BB962C8B-B14F-4D97-AF65-F5344CB8AC3E}">
        <p14:creationId xmlns:p14="http://schemas.microsoft.com/office/powerpoint/2010/main" val="1728181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3" name="text_34">
            <a:extLst>
              <a:ext uri="{FF2B5EF4-FFF2-40B4-BE49-F238E27FC236}">
                <a16:creationId xmlns:a16="http://schemas.microsoft.com/office/drawing/2014/main" id="{EC6C88F9-2C54-43F0-BAB4-4D2B07A55950}"/>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01 • TOKENS</a:t>
            </a:r>
          </a:p>
        </p:txBody>
      </p:sp>
      <p:sp>
        <p:nvSpPr>
          <p:cNvPr id="2" name="text_35">
            <a:extLst>
              <a:ext uri="{FF2B5EF4-FFF2-40B4-BE49-F238E27FC236}">
                <a16:creationId xmlns:a16="http://schemas.microsoft.com/office/drawing/2014/main" id="{B6E0A0BD-4A9B-4CF9-9F57-60686F8CB823}"/>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Text becomes tokens</a:t>
            </a:r>
          </a:p>
        </p:txBody>
      </p:sp>
      <p:sp>
        <p:nvSpPr>
          <p:cNvPr id="3" name="text_36">
            <a:extLst>
              <a:ext uri="{FF2B5EF4-FFF2-40B4-BE49-F238E27FC236}">
                <a16:creationId xmlns:a16="http://schemas.microsoft.com/office/drawing/2014/main" id="{CD296C79-9249-4BB0-9E41-3D88C9A9EACE}"/>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04 / 22</a:t>
            </a:r>
          </a:p>
        </p:txBody>
      </p:sp>
      <p:sp>
        <p:nvSpPr>
          <p:cNvPr id="4" name="text_37">
            <a:extLst>
              <a:ext uri="{FF2B5EF4-FFF2-40B4-BE49-F238E27FC236}">
                <a16:creationId xmlns:a16="http://schemas.microsoft.com/office/drawing/2014/main" id="{B6553F56-DB9A-46B3-9635-BAF5CE04A927}"/>
              </a:ext>
            </a:extLst>
          </p:cNvPr>
          <p:cNvSpPr>
            <a:spLocks noGrp="1"/>
          </p:cNvSpPr>
          <p:nvPr/>
        </p:nvSpPr>
        <p:spPr>
          <a:xfrm>
            <a:off x="809625" y="2047875"/>
            <a:ext cx="13335000" cy="762000"/>
          </a:xfrm>
          <a:prstGeom prst="rect">
            <a:avLst/>
          </a:prstGeom>
          <a:noFill/>
          <a:ln w="0">
            <a:noFill/>
          </a:ln>
        </p:spPr>
        <p:txBody>
          <a:bodyPr anchor="t">
            <a:noAutofit/>
          </a:bodyPr>
          <a:lstStyle/>
          <a:p>
            <a:pPr>
              <a:defRPr sz="3450" b="1">
                <a:solidFill>
                  <a:srgbClr val="10233F"/>
                </a:solidFill>
                <a:latin typeface="Arial"/>
                <a:ea typeface="Arial"/>
                <a:cs typeface="Arial"/>
              </a:defRPr>
            </a:pPr>
            <a:r>
              <a:rPr lang="en-IN" sz="3450" b="1" dirty="0">
                <a:solidFill>
                  <a:srgbClr val="10233F"/>
                </a:solidFill>
                <a:latin typeface="Arial"/>
                <a:ea typeface="Arial"/>
                <a:cs typeface="Arial"/>
              </a:rPr>
              <a:t>Text: </a:t>
            </a:r>
            <a:r>
              <a:rPr sz="3450" b="1" dirty="0">
                <a:solidFill>
                  <a:srgbClr val="10233F"/>
                </a:solidFill>
                <a:latin typeface="Arial"/>
                <a:ea typeface="Arial"/>
                <a:cs typeface="Arial"/>
              </a:rPr>
              <a:t>The hackathon starts today.</a:t>
            </a:r>
          </a:p>
        </p:txBody>
      </p:sp>
      <p:sp>
        <p:nvSpPr>
          <p:cNvPr id="5" name="The_38">
            <a:extLst>
              <a:ext uri="{FF2B5EF4-FFF2-40B4-BE49-F238E27FC236}">
                <a16:creationId xmlns:a16="http://schemas.microsoft.com/office/drawing/2014/main" id="{0BBDBC20-3375-4789-93EB-FA689F4B4D9C}"/>
              </a:ext>
            </a:extLst>
          </p:cNvPr>
          <p:cNvSpPr>
            <a:spLocks noGrp="1"/>
          </p:cNvSpPr>
          <p:nvPr/>
        </p:nvSpPr>
        <p:spPr>
          <a:xfrm>
            <a:off x="809625" y="3238500"/>
            <a:ext cx="2000250" cy="876300"/>
          </a:xfrm>
          <a:prstGeom prst="roundRect">
            <a:avLst>
              <a:gd name="adj" fmla="val 8696"/>
            </a:avLst>
          </a:prstGeom>
          <a:solidFill>
            <a:srgbClr val="E8EFFD"/>
          </a:solidFill>
          <a:ln w="19050">
            <a:solidFill>
              <a:srgbClr val="2563EB"/>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The</a:t>
            </a:r>
          </a:p>
        </p:txBody>
      </p:sp>
      <p:sp>
        <p:nvSpPr>
          <p:cNvPr id="6" name="text_39">
            <a:extLst>
              <a:ext uri="{FF2B5EF4-FFF2-40B4-BE49-F238E27FC236}">
                <a16:creationId xmlns:a16="http://schemas.microsoft.com/office/drawing/2014/main" id="{6BD5E6B8-B2FF-46DA-99AB-DE9096CF0BF8}"/>
              </a:ext>
            </a:extLst>
          </p:cNvPr>
          <p:cNvSpPr>
            <a:spLocks noGrp="1"/>
          </p:cNvSpPr>
          <p:nvPr/>
        </p:nvSpPr>
        <p:spPr>
          <a:xfrm>
            <a:off x="952500" y="4286250"/>
            <a:ext cx="1857375"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ID 431</a:t>
            </a:r>
          </a:p>
        </p:txBody>
      </p:sp>
      <p:sp>
        <p:nvSpPr>
          <p:cNvPr id="7" name="_hack_40">
            <a:extLst>
              <a:ext uri="{FF2B5EF4-FFF2-40B4-BE49-F238E27FC236}">
                <a16:creationId xmlns:a16="http://schemas.microsoft.com/office/drawing/2014/main" id="{712DE04C-6F0E-4E9E-986A-A839613717E4}"/>
              </a:ext>
            </a:extLst>
          </p:cNvPr>
          <p:cNvSpPr>
            <a:spLocks noGrp="1"/>
          </p:cNvSpPr>
          <p:nvPr/>
        </p:nvSpPr>
        <p:spPr>
          <a:xfrm>
            <a:off x="3095625" y="3238500"/>
            <a:ext cx="2000250" cy="876300"/>
          </a:xfrm>
          <a:prstGeom prst="roundRect">
            <a:avLst>
              <a:gd name="adj" fmla="val 8696"/>
            </a:avLst>
          </a:prstGeom>
          <a:solidFill>
            <a:srgbClr val="E1F3E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 hack</a:t>
            </a:r>
          </a:p>
        </p:txBody>
      </p:sp>
      <p:sp>
        <p:nvSpPr>
          <p:cNvPr id="8" name="text_41">
            <a:extLst>
              <a:ext uri="{FF2B5EF4-FFF2-40B4-BE49-F238E27FC236}">
                <a16:creationId xmlns:a16="http://schemas.microsoft.com/office/drawing/2014/main" id="{5499BA09-C8C4-4ACE-B351-516B632E727B}"/>
              </a:ext>
            </a:extLst>
          </p:cNvPr>
          <p:cNvSpPr>
            <a:spLocks noGrp="1"/>
          </p:cNvSpPr>
          <p:nvPr/>
        </p:nvSpPr>
        <p:spPr>
          <a:xfrm>
            <a:off x="3238500" y="4286250"/>
            <a:ext cx="1857375"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ID 882</a:t>
            </a:r>
          </a:p>
        </p:txBody>
      </p:sp>
      <p:sp>
        <p:nvSpPr>
          <p:cNvPr id="9" name="athon_42">
            <a:extLst>
              <a:ext uri="{FF2B5EF4-FFF2-40B4-BE49-F238E27FC236}">
                <a16:creationId xmlns:a16="http://schemas.microsoft.com/office/drawing/2014/main" id="{B6D08531-647D-41C1-9366-EED78FA5FF45}"/>
              </a:ext>
            </a:extLst>
          </p:cNvPr>
          <p:cNvSpPr>
            <a:spLocks noGrp="1"/>
          </p:cNvSpPr>
          <p:nvPr/>
        </p:nvSpPr>
        <p:spPr>
          <a:xfrm>
            <a:off x="5381625" y="3238500"/>
            <a:ext cx="2000250" cy="876300"/>
          </a:xfrm>
          <a:prstGeom prst="roundRect">
            <a:avLst>
              <a:gd name="adj" fmla="val 8696"/>
            </a:avLst>
          </a:prstGeom>
          <a:solidFill>
            <a:srgbClr val="E8EFFD"/>
          </a:solidFill>
          <a:ln w="19050">
            <a:solidFill>
              <a:srgbClr val="2563EB"/>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athon</a:t>
            </a:r>
          </a:p>
        </p:txBody>
      </p:sp>
      <p:sp>
        <p:nvSpPr>
          <p:cNvPr id="10" name="text_43">
            <a:extLst>
              <a:ext uri="{FF2B5EF4-FFF2-40B4-BE49-F238E27FC236}">
                <a16:creationId xmlns:a16="http://schemas.microsoft.com/office/drawing/2014/main" id="{A8FC560C-7ED6-4EB8-8A53-0DBE25B858A5}"/>
              </a:ext>
            </a:extLst>
          </p:cNvPr>
          <p:cNvSpPr>
            <a:spLocks noGrp="1"/>
          </p:cNvSpPr>
          <p:nvPr/>
        </p:nvSpPr>
        <p:spPr>
          <a:xfrm>
            <a:off x="5524500" y="4286250"/>
            <a:ext cx="1857375"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ID 215</a:t>
            </a:r>
          </a:p>
        </p:txBody>
      </p:sp>
      <p:sp>
        <p:nvSpPr>
          <p:cNvPr id="11" name="_starts_44">
            <a:extLst>
              <a:ext uri="{FF2B5EF4-FFF2-40B4-BE49-F238E27FC236}">
                <a16:creationId xmlns:a16="http://schemas.microsoft.com/office/drawing/2014/main" id="{0A5F2913-6F00-46FB-9612-660E472E9267}"/>
              </a:ext>
            </a:extLst>
          </p:cNvPr>
          <p:cNvSpPr>
            <a:spLocks noGrp="1"/>
          </p:cNvSpPr>
          <p:nvPr/>
        </p:nvSpPr>
        <p:spPr>
          <a:xfrm>
            <a:off x="7667625" y="3238500"/>
            <a:ext cx="2000250" cy="876300"/>
          </a:xfrm>
          <a:prstGeom prst="roundRect">
            <a:avLst>
              <a:gd name="adj" fmla="val 8696"/>
            </a:avLst>
          </a:prstGeom>
          <a:solidFill>
            <a:srgbClr val="E1F3E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 starts</a:t>
            </a:r>
          </a:p>
        </p:txBody>
      </p:sp>
      <p:sp>
        <p:nvSpPr>
          <p:cNvPr id="12" name="text_45">
            <a:extLst>
              <a:ext uri="{FF2B5EF4-FFF2-40B4-BE49-F238E27FC236}">
                <a16:creationId xmlns:a16="http://schemas.microsoft.com/office/drawing/2014/main" id="{3F7DC9BE-3B55-46B9-B970-EC590F118965}"/>
              </a:ext>
            </a:extLst>
          </p:cNvPr>
          <p:cNvSpPr>
            <a:spLocks noGrp="1"/>
          </p:cNvSpPr>
          <p:nvPr/>
        </p:nvSpPr>
        <p:spPr>
          <a:xfrm>
            <a:off x="7810500" y="4286250"/>
            <a:ext cx="1857375"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ID 706</a:t>
            </a:r>
          </a:p>
        </p:txBody>
      </p:sp>
      <p:sp>
        <p:nvSpPr>
          <p:cNvPr id="13" name="_today_46">
            <a:extLst>
              <a:ext uri="{FF2B5EF4-FFF2-40B4-BE49-F238E27FC236}">
                <a16:creationId xmlns:a16="http://schemas.microsoft.com/office/drawing/2014/main" id="{9FF61A47-4528-46DF-ACE0-8A0095467189}"/>
              </a:ext>
            </a:extLst>
          </p:cNvPr>
          <p:cNvSpPr>
            <a:spLocks noGrp="1"/>
          </p:cNvSpPr>
          <p:nvPr/>
        </p:nvSpPr>
        <p:spPr>
          <a:xfrm>
            <a:off x="9953625" y="3238500"/>
            <a:ext cx="2000250" cy="876300"/>
          </a:xfrm>
          <a:prstGeom prst="roundRect">
            <a:avLst>
              <a:gd name="adj" fmla="val 8696"/>
            </a:avLst>
          </a:prstGeom>
          <a:solidFill>
            <a:srgbClr val="E8EFFD"/>
          </a:solidFill>
          <a:ln w="19050">
            <a:solidFill>
              <a:srgbClr val="2563EB"/>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 today</a:t>
            </a:r>
          </a:p>
        </p:txBody>
      </p:sp>
      <p:sp>
        <p:nvSpPr>
          <p:cNvPr id="14" name="text_47">
            <a:extLst>
              <a:ext uri="{FF2B5EF4-FFF2-40B4-BE49-F238E27FC236}">
                <a16:creationId xmlns:a16="http://schemas.microsoft.com/office/drawing/2014/main" id="{FB1AA817-B307-476C-A4CA-6CD0502641BE}"/>
              </a:ext>
            </a:extLst>
          </p:cNvPr>
          <p:cNvSpPr>
            <a:spLocks noGrp="1"/>
          </p:cNvSpPr>
          <p:nvPr/>
        </p:nvSpPr>
        <p:spPr>
          <a:xfrm>
            <a:off x="10096500" y="4286250"/>
            <a:ext cx="1857375"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ID 519</a:t>
            </a:r>
          </a:p>
        </p:txBody>
      </p:sp>
      <p:sp>
        <p:nvSpPr>
          <p:cNvPr id="15" name="__48">
            <a:extLst>
              <a:ext uri="{FF2B5EF4-FFF2-40B4-BE49-F238E27FC236}">
                <a16:creationId xmlns:a16="http://schemas.microsoft.com/office/drawing/2014/main" id="{A533A5BB-AA74-4C79-8B5A-588806CF8540}"/>
              </a:ext>
            </a:extLst>
          </p:cNvPr>
          <p:cNvSpPr>
            <a:spLocks noGrp="1"/>
          </p:cNvSpPr>
          <p:nvPr/>
        </p:nvSpPr>
        <p:spPr>
          <a:xfrm>
            <a:off x="12239625" y="3238500"/>
            <a:ext cx="2000250" cy="876300"/>
          </a:xfrm>
          <a:prstGeom prst="roundRect">
            <a:avLst>
              <a:gd name="adj" fmla="val 8696"/>
            </a:avLst>
          </a:prstGeom>
          <a:solidFill>
            <a:srgbClr val="E1F3E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a:t>
            </a:r>
          </a:p>
        </p:txBody>
      </p:sp>
      <p:sp>
        <p:nvSpPr>
          <p:cNvPr id="16" name="text_49">
            <a:extLst>
              <a:ext uri="{FF2B5EF4-FFF2-40B4-BE49-F238E27FC236}">
                <a16:creationId xmlns:a16="http://schemas.microsoft.com/office/drawing/2014/main" id="{134A000C-C801-4D24-9ACA-4201B642F208}"/>
              </a:ext>
            </a:extLst>
          </p:cNvPr>
          <p:cNvSpPr>
            <a:spLocks noGrp="1"/>
          </p:cNvSpPr>
          <p:nvPr/>
        </p:nvSpPr>
        <p:spPr>
          <a:xfrm>
            <a:off x="12382500" y="4286250"/>
            <a:ext cx="1857375"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ID 12</a:t>
            </a:r>
          </a:p>
        </p:txBody>
      </p:sp>
      <p:sp>
        <p:nvSpPr>
          <p:cNvPr id="17" name="text_50">
            <a:extLst>
              <a:ext uri="{FF2B5EF4-FFF2-40B4-BE49-F238E27FC236}">
                <a16:creationId xmlns:a16="http://schemas.microsoft.com/office/drawing/2014/main" id="{87C85899-3E6B-4C47-8611-A671B2EBFF93}"/>
              </a:ext>
            </a:extLst>
          </p:cNvPr>
          <p:cNvSpPr>
            <a:spLocks noGrp="1"/>
          </p:cNvSpPr>
          <p:nvPr/>
        </p:nvSpPr>
        <p:spPr>
          <a:xfrm>
            <a:off x="809625" y="5334000"/>
            <a:ext cx="6286500" cy="523875"/>
          </a:xfrm>
          <a:prstGeom prst="rect">
            <a:avLst/>
          </a:prstGeom>
          <a:noFill/>
          <a:ln w="0">
            <a:noFill/>
          </a:ln>
        </p:spPr>
        <p:txBody>
          <a:bodyPr anchor="t">
            <a:noAutofit/>
          </a:bodyPr>
          <a:lstStyle/>
          <a:p>
            <a:pPr>
              <a:defRPr sz="2325" b="1">
                <a:solidFill>
                  <a:srgbClr val="0D9488"/>
                </a:solidFill>
                <a:latin typeface="Arial"/>
                <a:ea typeface="Arial"/>
                <a:cs typeface="Arial"/>
              </a:defRPr>
            </a:pPr>
            <a:r>
              <a:rPr sz="2325" b="1">
                <a:solidFill>
                  <a:srgbClr val="0D9488"/>
                </a:solidFill>
                <a:latin typeface="Arial"/>
                <a:ea typeface="Arial"/>
                <a:cs typeface="Arial"/>
              </a:rPr>
              <a:t>A long word can split, too</a:t>
            </a:r>
          </a:p>
        </p:txBody>
      </p:sp>
      <p:sp>
        <p:nvSpPr>
          <p:cNvPr id="18" name="un_51">
            <a:extLst>
              <a:ext uri="{FF2B5EF4-FFF2-40B4-BE49-F238E27FC236}">
                <a16:creationId xmlns:a16="http://schemas.microsoft.com/office/drawing/2014/main" id="{509F7968-A642-46BC-A038-8BAC328EF123}"/>
              </a:ext>
            </a:extLst>
          </p:cNvPr>
          <p:cNvSpPr>
            <a:spLocks noGrp="1"/>
          </p:cNvSpPr>
          <p:nvPr/>
        </p:nvSpPr>
        <p:spPr>
          <a:xfrm>
            <a:off x="809625" y="6096000"/>
            <a:ext cx="2000250" cy="809625"/>
          </a:xfrm>
          <a:prstGeom prst="roundRect">
            <a:avLst>
              <a:gd name="adj" fmla="val 9412"/>
            </a:avLst>
          </a:prstGeom>
          <a:solidFill>
            <a:srgbClr val="FFFFF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un</a:t>
            </a:r>
          </a:p>
        </p:txBody>
      </p:sp>
      <p:sp>
        <p:nvSpPr>
          <p:cNvPr id="19" name="believ_52">
            <a:extLst>
              <a:ext uri="{FF2B5EF4-FFF2-40B4-BE49-F238E27FC236}">
                <a16:creationId xmlns:a16="http://schemas.microsoft.com/office/drawing/2014/main" id="{A4A3FFF6-BFF1-43EC-A503-EA9902A01D4D}"/>
              </a:ext>
            </a:extLst>
          </p:cNvPr>
          <p:cNvSpPr>
            <a:spLocks noGrp="1"/>
          </p:cNvSpPr>
          <p:nvPr/>
        </p:nvSpPr>
        <p:spPr>
          <a:xfrm>
            <a:off x="3095625" y="6096000"/>
            <a:ext cx="2000250" cy="809625"/>
          </a:xfrm>
          <a:prstGeom prst="roundRect">
            <a:avLst>
              <a:gd name="adj" fmla="val 9412"/>
            </a:avLst>
          </a:prstGeom>
          <a:solidFill>
            <a:srgbClr val="FFFFF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believ</a:t>
            </a:r>
          </a:p>
        </p:txBody>
      </p:sp>
      <p:sp>
        <p:nvSpPr>
          <p:cNvPr id="20" name="able_53">
            <a:extLst>
              <a:ext uri="{FF2B5EF4-FFF2-40B4-BE49-F238E27FC236}">
                <a16:creationId xmlns:a16="http://schemas.microsoft.com/office/drawing/2014/main" id="{5379FFEB-6CA6-44FA-B035-84B6160A97A2}"/>
              </a:ext>
            </a:extLst>
          </p:cNvPr>
          <p:cNvSpPr>
            <a:spLocks noGrp="1"/>
          </p:cNvSpPr>
          <p:nvPr/>
        </p:nvSpPr>
        <p:spPr>
          <a:xfrm>
            <a:off x="5381625" y="6096000"/>
            <a:ext cx="2000250" cy="809625"/>
          </a:xfrm>
          <a:prstGeom prst="roundRect">
            <a:avLst>
              <a:gd name="adj" fmla="val 9412"/>
            </a:avLst>
          </a:prstGeom>
          <a:solidFill>
            <a:srgbClr val="FFFFF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able</a:t>
            </a:r>
          </a:p>
        </p:txBody>
      </p:sp>
      <p:sp>
        <p:nvSpPr>
          <p:cNvPr id="21" name="__54">
            <a:extLst>
              <a:ext uri="{FF2B5EF4-FFF2-40B4-BE49-F238E27FC236}">
                <a16:creationId xmlns:a16="http://schemas.microsoft.com/office/drawing/2014/main" id="{2D757676-43CE-4AD9-9ED1-F8094FA33383}"/>
              </a:ext>
            </a:extLst>
          </p:cNvPr>
          <p:cNvSpPr>
            <a:spLocks noGrp="1"/>
          </p:cNvSpPr>
          <p:nvPr/>
        </p:nvSpPr>
        <p:spPr>
          <a:xfrm>
            <a:off x="7667625" y="6096000"/>
            <a:ext cx="2000250" cy="809625"/>
          </a:xfrm>
          <a:prstGeom prst="roundRect">
            <a:avLst>
              <a:gd name="adj" fmla="val 9412"/>
            </a:avLst>
          </a:prstGeom>
          <a:solidFill>
            <a:srgbClr val="FFFFF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a:t>
            </a:r>
          </a:p>
        </p:txBody>
      </p:sp>
      <p:sp>
        <p:nvSpPr>
          <p:cNvPr id="22" name="text_55">
            <a:extLst>
              <a:ext uri="{FF2B5EF4-FFF2-40B4-BE49-F238E27FC236}">
                <a16:creationId xmlns:a16="http://schemas.microsoft.com/office/drawing/2014/main" id="{7B42F31B-6376-482B-AD8B-7A44B69F502B}"/>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Tokens are the units the model reads and generates. Splits and IDs shown here are illustrative.</a:t>
            </a:r>
          </a:p>
        </p:txBody>
      </p:sp>
    </p:spTree>
    <p:extLst>
      <p:ext uri="{BB962C8B-B14F-4D97-AF65-F5344CB8AC3E}">
        <p14:creationId xmlns:p14="http://schemas.microsoft.com/office/powerpoint/2010/main" val="113745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4" name="Connector: Elbow 13"/>
          <p:cNvCxnSpPr>
            <a:cxnSpLocks/>
            <a:stCxn id="8" idx="3"/>
            <a:endCxn id="6" idx="3"/>
          </p:cNvCxnSpPr>
          <p:nvPr/>
        </p:nvCxnSpPr>
        <p:spPr>
          <a:xfrm flipV="1">
            <a:off x="13287375" y="3238500"/>
            <a:ext cx="12700" cy="2667000"/>
          </a:xfrm>
          <a:prstGeom prst="bentConnector3">
            <a:avLst>
              <a:gd name="adj1" fmla="val 1800000"/>
            </a:avLst>
          </a:prstGeom>
          <a:ln w="28575">
            <a:solidFill>
              <a:srgbClr val="0D9488"/>
            </a:solidFill>
            <a:tailEnd type="triangle" w="med" len="med"/>
          </a:ln>
        </p:spPr>
      </p:cxnSp>
      <p:cxnSp>
        <p:nvCxnSpPr>
          <p:cNvPr id="15" name="Straight Arrow Connector 14"/>
          <p:cNvCxnSpPr>
            <a:stCxn id="7" idx="2"/>
            <a:endCxn id="8" idx="0"/>
          </p:cNvCxnSpPr>
          <p:nvPr/>
        </p:nvCxnSpPr>
        <p:spPr>
          <a:xfrm>
            <a:off x="11120438" y="5000625"/>
            <a:ext cx="0" cy="476250"/>
          </a:xfrm>
          <a:prstGeom prst="straightConnector1">
            <a:avLst/>
          </a:prstGeom>
          <a:ln w="28575">
            <a:solidFill>
              <a:srgbClr val="2563EB"/>
            </a:solidFill>
            <a:tailEnd type="triangle" w="med" len="med"/>
          </a:ln>
        </p:spPr>
      </p:cxnSp>
      <p:cxnSp>
        <p:nvCxnSpPr>
          <p:cNvPr id="16" name="Straight Arrow Connector 15"/>
          <p:cNvCxnSpPr>
            <a:stCxn id="6" idx="2"/>
            <a:endCxn id="7" idx="0"/>
          </p:cNvCxnSpPr>
          <p:nvPr/>
        </p:nvCxnSpPr>
        <p:spPr>
          <a:xfrm>
            <a:off x="11120438" y="3667125"/>
            <a:ext cx="0" cy="476250"/>
          </a:xfrm>
          <a:prstGeom prst="straightConnector1">
            <a:avLst/>
          </a:prstGeom>
          <a:ln w="28575">
            <a:solidFill>
              <a:srgbClr val="2563EB"/>
            </a:solidFill>
            <a:tailEnd type="triangle" w="med" len="med"/>
          </a:ln>
        </p:spPr>
      </p:cxnSp>
      <p:sp>
        <p:nvSpPr>
          <p:cNvPr id="17" name="text_56">
            <a:extLst>
              <a:ext uri="{FF2B5EF4-FFF2-40B4-BE49-F238E27FC236}">
                <a16:creationId xmlns:a16="http://schemas.microsoft.com/office/drawing/2014/main" id="{85AD7CE0-E9A5-42C3-B1BE-2153A31F2671}"/>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01 • PREDICTION</a:t>
            </a:r>
          </a:p>
        </p:txBody>
      </p:sp>
      <p:sp>
        <p:nvSpPr>
          <p:cNvPr id="2" name="text_57">
            <a:extLst>
              <a:ext uri="{FF2B5EF4-FFF2-40B4-BE49-F238E27FC236}">
                <a16:creationId xmlns:a16="http://schemas.microsoft.com/office/drawing/2014/main" id="{665A2497-6144-4B0F-838F-51D13F233C10}"/>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A response grows one token at a time</a:t>
            </a:r>
          </a:p>
        </p:txBody>
      </p:sp>
      <p:sp>
        <p:nvSpPr>
          <p:cNvPr id="3" name="text_58">
            <a:extLst>
              <a:ext uri="{FF2B5EF4-FFF2-40B4-BE49-F238E27FC236}">
                <a16:creationId xmlns:a16="http://schemas.microsoft.com/office/drawing/2014/main" id="{7060039A-AC21-4FF9-AF39-032147BF1B47}"/>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05 / 22</a:t>
            </a:r>
          </a:p>
        </p:txBody>
      </p:sp>
      <p:sp>
        <p:nvSpPr>
          <p:cNvPr id="4" name="text_59">
            <a:extLst>
              <a:ext uri="{FF2B5EF4-FFF2-40B4-BE49-F238E27FC236}">
                <a16:creationId xmlns:a16="http://schemas.microsoft.com/office/drawing/2014/main" id="{A8DC2A23-002D-4DCD-8BC6-5D971C47C53D}"/>
              </a:ext>
            </a:extLst>
          </p:cNvPr>
          <p:cNvSpPr>
            <a:spLocks noGrp="1"/>
          </p:cNvSpPr>
          <p:nvPr/>
        </p:nvSpPr>
        <p:spPr>
          <a:xfrm>
            <a:off x="809625" y="1971675"/>
            <a:ext cx="13335000" cy="666750"/>
          </a:xfrm>
          <a:prstGeom prst="rect">
            <a:avLst/>
          </a:prstGeom>
          <a:noFill/>
          <a:ln w="0">
            <a:noFill/>
          </a:ln>
        </p:spPr>
        <p:txBody>
          <a:bodyPr anchor="t">
            <a:noAutofit/>
          </a:bodyPr>
          <a:lstStyle/>
          <a:p>
            <a:pPr>
              <a:defRPr sz="3450" b="1">
                <a:solidFill>
                  <a:srgbClr val="10233F"/>
                </a:solidFill>
                <a:latin typeface="Arial"/>
                <a:ea typeface="Arial"/>
                <a:cs typeface="Arial"/>
              </a:defRPr>
            </a:pPr>
            <a:r>
              <a:rPr sz="3450" b="1">
                <a:solidFill>
                  <a:srgbClr val="10233F"/>
                </a:solidFill>
                <a:latin typeface="Arial"/>
                <a:ea typeface="Arial"/>
                <a:cs typeface="Arial"/>
              </a:rPr>
              <a:t>“I drink a cup of …”</a:t>
            </a:r>
          </a:p>
        </p:txBody>
      </p:sp>
      <p:graphicFrame>
        <p:nvGraphicFramePr>
          <p:cNvPr id="21" name="Chart"/>
          <p:cNvGraphicFramePr/>
          <p:nvPr/>
        </p:nvGraphicFramePr>
        <p:xfrm>
          <a:off x="809625" y="2952750"/>
          <a:ext cx="6858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6" name="Current_context_60">
            <a:extLst>
              <a:ext uri="{FF2B5EF4-FFF2-40B4-BE49-F238E27FC236}">
                <a16:creationId xmlns:a16="http://schemas.microsoft.com/office/drawing/2014/main" id="{465542D8-15AF-4CFA-93C2-CDA74B4B0D79}"/>
              </a:ext>
            </a:extLst>
          </p:cNvPr>
          <p:cNvSpPr>
            <a:spLocks noGrp="1"/>
          </p:cNvSpPr>
          <p:nvPr/>
        </p:nvSpPr>
        <p:spPr>
          <a:xfrm>
            <a:off x="8953500" y="2809875"/>
            <a:ext cx="4333875" cy="857250"/>
          </a:xfrm>
          <a:prstGeom prst="roundRect">
            <a:avLst>
              <a:gd name="adj" fmla="val 8889"/>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Current context</a:t>
            </a:r>
          </a:p>
        </p:txBody>
      </p:sp>
      <p:sp>
        <p:nvSpPr>
          <p:cNvPr id="7" name="Predict_probabilities_61">
            <a:extLst>
              <a:ext uri="{FF2B5EF4-FFF2-40B4-BE49-F238E27FC236}">
                <a16:creationId xmlns:a16="http://schemas.microsoft.com/office/drawing/2014/main" id="{A701AC62-B920-4768-A5D0-57509C757CA6}"/>
              </a:ext>
            </a:extLst>
          </p:cNvPr>
          <p:cNvSpPr>
            <a:spLocks noGrp="1"/>
          </p:cNvSpPr>
          <p:nvPr/>
        </p:nvSpPr>
        <p:spPr>
          <a:xfrm>
            <a:off x="8953500" y="4143375"/>
            <a:ext cx="4333875" cy="857250"/>
          </a:xfrm>
          <a:prstGeom prst="roundRect">
            <a:avLst>
              <a:gd name="adj" fmla="val 8889"/>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Predict probabilities</a:t>
            </a:r>
          </a:p>
        </p:txBody>
      </p:sp>
      <p:sp>
        <p:nvSpPr>
          <p:cNvPr id="8" name="Select_tea_append_62">
            <a:extLst>
              <a:ext uri="{FF2B5EF4-FFF2-40B4-BE49-F238E27FC236}">
                <a16:creationId xmlns:a16="http://schemas.microsoft.com/office/drawing/2014/main" id="{756C1F12-30D7-4F62-8D73-0C0C658173A3}"/>
              </a:ext>
            </a:extLst>
          </p:cNvPr>
          <p:cNvSpPr>
            <a:spLocks noGrp="1"/>
          </p:cNvSpPr>
          <p:nvPr/>
        </p:nvSpPr>
        <p:spPr>
          <a:xfrm>
            <a:off x="8953500" y="5476875"/>
            <a:ext cx="4333875" cy="857250"/>
          </a:xfrm>
          <a:prstGeom prst="roundRect">
            <a:avLst>
              <a:gd name="adj" fmla="val 8889"/>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Select “tea” + append</a:t>
            </a:r>
          </a:p>
        </p:txBody>
      </p:sp>
      <p:sp>
        <p:nvSpPr>
          <p:cNvPr id="12" name="text_63">
            <a:extLst>
              <a:ext uri="{FF2B5EF4-FFF2-40B4-BE49-F238E27FC236}">
                <a16:creationId xmlns:a16="http://schemas.microsoft.com/office/drawing/2014/main" id="{DA83643B-F67A-4A3B-8457-160A2F5DD052}"/>
              </a:ext>
            </a:extLst>
          </p:cNvPr>
          <p:cNvSpPr>
            <a:spLocks noGrp="1"/>
          </p:cNvSpPr>
          <p:nvPr/>
        </p:nvSpPr>
        <p:spPr>
          <a:xfrm>
            <a:off x="13458825" y="4438650"/>
            <a:ext cx="1095375" cy="428625"/>
          </a:xfrm>
          <a:prstGeom prst="rect">
            <a:avLst/>
          </a:prstGeom>
          <a:noFill/>
          <a:ln w="0">
            <a:noFill/>
          </a:ln>
        </p:spPr>
        <p:txBody>
          <a:bodyPr anchor="t">
            <a:noAutofit/>
          </a:bodyPr>
          <a:lstStyle/>
          <a:p>
            <a:pPr>
              <a:defRPr sz="1800" b="1">
                <a:solidFill>
                  <a:srgbClr val="0D9488"/>
                </a:solidFill>
                <a:latin typeface="Arial"/>
                <a:ea typeface="Arial"/>
                <a:cs typeface="Arial"/>
              </a:defRPr>
            </a:pPr>
            <a:r>
              <a:rPr sz="1800" b="1">
                <a:solidFill>
                  <a:srgbClr val="0D9488"/>
                </a:solidFill>
                <a:latin typeface="Arial"/>
                <a:ea typeface="Arial"/>
                <a:cs typeface="Arial"/>
              </a:rPr>
              <a:t>Repeat</a:t>
            </a:r>
          </a:p>
        </p:txBody>
      </p:sp>
      <p:sp>
        <p:nvSpPr>
          <p:cNvPr id="13" name="text_64">
            <a:extLst>
              <a:ext uri="{FF2B5EF4-FFF2-40B4-BE49-F238E27FC236}">
                <a16:creationId xmlns:a16="http://schemas.microsoft.com/office/drawing/2014/main" id="{6A7DC3D1-BE78-49C7-856F-423A4CBCE2B1}"/>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Prediction describes how text is generated. It is not a guarantee that the answer is true.</a:t>
            </a:r>
          </a:p>
        </p:txBody>
      </p:sp>
    </p:spTree>
    <p:extLst>
      <p:ext uri="{BB962C8B-B14F-4D97-AF65-F5344CB8AC3E}">
        <p14:creationId xmlns:p14="http://schemas.microsoft.com/office/powerpoint/2010/main" val="155334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4" name="text_65">
            <a:extLst>
              <a:ext uri="{FF2B5EF4-FFF2-40B4-BE49-F238E27FC236}">
                <a16:creationId xmlns:a16="http://schemas.microsoft.com/office/drawing/2014/main" id="{D9AC2530-60F2-42D8-ABE7-7BA83C5F5E1F}"/>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01 • SAMPLING</a:t>
            </a:r>
          </a:p>
        </p:txBody>
      </p:sp>
      <p:sp>
        <p:nvSpPr>
          <p:cNvPr id="2" name="text_66">
            <a:extLst>
              <a:ext uri="{FF2B5EF4-FFF2-40B4-BE49-F238E27FC236}">
                <a16:creationId xmlns:a16="http://schemas.microsoft.com/office/drawing/2014/main" id="{F100258E-9B31-43A3-BDC7-E33CF0288051}"/>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Three controls over the next token</a:t>
            </a:r>
          </a:p>
        </p:txBody>
      </p:sp>
      <p:sp>
        <p:nvSpPr>
          <p:cNvPr id="3" name="text_67">
            <a:extLst>
              <a:ext uri="{FF2B5EF4-FFF2-40B4-BE49-F238E27FC236}">
                <a16:creationId xmlns:a16="http://schemas.microsoft.com/office/drawing/2014/main" id="{9639F2D3-7A2B-4F06-87EF-ADB681951A42}"/>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06 / 22</a:t>
            </a:r>
          </a:p>
        </p:txBody>
      </p:sp>
      <p:sp>
        <p:nvSpPr>
          <p:cNvPr id="4" name="text_68">
            <a:extLst>
              <a:ext uri="{FF2B5EF4-FFF2-40B4-BE49-F238E27FC236}">
                <a16:creationId xmlns:a16="http://schemas.microsoft.com/office/drawing/2014/main" id="{5D65F2EA-3B0C-4754-BFB7-C4C7C4410993}"/>
              </a:ext>
            </a:extLst>
          </p:cNvPr>
          <p:cNvSpPr>
            <a:spLocks noGrp="1"/>
          </p:cNvSpPr>
          <p:nvPr/>
        </p:nvSpPr>
        <p:spPr>
          <a:xfrm>
            <a:off x="762000" y="2095500"/>
            <a:ext cx="428625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TEMPERATURE</a:t>
            </a:r>
          </a:p>
        </p:txBody>
      </p:sp>
      <p:sp>
        <p:nvSpPr>
          <p:cNvPr id="5" name="text_69">
            <a:extLst>
              <a:ext uri="{FF2B5EF4-FFF2-40B4-BE49-F238E27FC236}">
                <a16:creationId xmlns:a16="http://schemas.microsoft.com/office/drawing/2014/main" id="{51B7C129-3DFE-4BB5-9A86-985AB182D790}"/>
              </a:ext>
            </a:extLst>
          </p:cNvPr>
          <p:cNvSpPr>
            <a:spLocks noGrp="1"/>
          </p:cNvSpPr>
          <p:nvPr/>
        </p:nvSpPr>
        <p:spPr>
          <a:xfrm>
            <a:off x="6048375" y="2095500"/>
            <a:ext cx="352425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TOP-K = 2</a:t>
            </a:r>
          </a:p>
        </p:txBody>
      </p:sp>
      <p:sp>
        <p:nvSpPr>
          <p:cNvPr id="6" name="text_70">
            <a:extLst>
              <a:ext uri="{FF2B5EF4-FFF2-40B4-BE49-F238E27FC236}">
                <a16:creationId xmlns:a16="http://schemas.microsoft.com/office/drawing/2014/main" id="{6BD4D969-0C05-4F00-AABB-82E9A40B31DB}"/>
              </a:ext>
            </a:extLst>
          </p:cNvPr>
          <p:cNvSpPr>
            <a:spLocks noGrp="1"/>
          </p:cNvSpPr>
          <p:nvPr/>
        </p:nvSpPr>
        <p:spPr>
          <a:xfrm>
            <a:off x="10668000" y="2095500"/>
            <a:ext cx="3810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TOP-P = 0.85</a:t>
            </a:r>
          </a:p>
        </p:txBody>
      </p:sp>
      <p:graphicFrame>
        <p:nvGraphicFramePr>
          <p:cNvPr id="30" name="Chart"/>
          <p:cNvGraphicFramePr/>
          <p:nvPr/>
        </p:nvGraphicFramePr>
        <p:xfrm>
          <a:off x="619125" y="2714625"/>
          <a:ext cx="4857750"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a_50__71">
            <a:extLst>
              <a:ext uri="{FF2B5EF4-FFF2-40B4-BE49-F238E27FC236}">
                <a16:creationId xmlns:a16="http://schemas.microsoft.com/office/drawing/2014/main" id="{777BAF5A-1F82-4EE7-9785-79B3650B56A5}"/>
              </a:ext>
            </a:extLst>
          </p:cNvPr>
          <p:cNvSpPr>
            <a:spLocks noGrp="1"/>
          </p:cNvSpPr>
          <p:nvPr/>
        </p:nvSpPr>
        <p:spPr>
          <a:xfrm>
            <a:off x="6191250" y="2857500"/>
            <a:ext cx="3333750" cy="590550"/>
          </a:xfrm>
          <a:prstGeom prst="roundRect">
            <a:avLst>
              <a:gd name="adj" fmla="val 12903"/>
            </a:avLst>
          </a:prstGeom>
          <a:solidFill>
            <a:srgbClr val="E8EFFD"/>
          </a:solidFill>
          <a:ln w="19050">
            <a:solidFill>
              <a:srgbClr val="2563EB"/>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tea     50%</a:t>
            </a:r>
          </a:p>
        </p:txBody>
      </p:sp>
      <p:sp>
        <p:nvSpPr>
          <p:cNvPr id="9" name="tea_50__72">
            <a:extLst>
              <a:ext uri="{FF2B5EF4-FFF2-40B4-BE49-F238E27FC236}">
                <a16:creationId xmlns:a16="http://schemas.microsoft.com/office/drawing/2014/main" id="{EC0081DA-360B-4EED-A487-88477A06CDA5}"/>
              </a:ext>
            </a:extLst>
          </p:cNvPr>
          <p:cNvSpPr>
            <a:spLocks noGrp="1"/>
          </p:cNvSpPr>
          <p:nvPr/>
        </p:nvSpPr>
        <p:spPr>
          <a:xfrm>
            <a:off x="10763250" y="2857500"/>
            <a:ext cx="3333750" cy="590550"/>
          </a:xfrm>
          <a:prstGeom prst="roundRect">
            <a:avLst>
              <a:gd name="adj" fmla="val 12903"/>
            </a:avLst>
          </a:prstGeom>
          <a:solidFill>
            <a:srgbClr val="E1F3E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tea     50%</a:t>
            </a:r>
          </a:p>
        </p:txBody>
      </p:sp>
      <p:sp>
        <p:nvSpPr>
          <p:cNvPr id="10" name="coffee_30__73">
            <a:extLst>
              <a:ext uri="{FF2B5EF4-FFF2-40B4-BE49-F238E27FC236}">
                <a16:creationId xmlns:a16="http://schemas.microsoft.com/office/drawing/2014/main" id="{40F36A6D-A244-4698-BD1A-40FA8496F5F8}"/>
              </a:ext>
            </a:extLst>
          </p:cNvPr>
          <p:cNvSpPr>
            <a:spLocks noGrp="1"/>
          </p:cNvSpPr>
          <p:nvPr/>
        </p:nvSpPr>
        <p:spPr>
          <a:xfrm>
            <a:off x="6191250" y="3600450"/>
            <a:ext cx="3333750" cy="590550"/>
          </a:xfrm>
          <a:prstGeom prst="roundRect">
            <a:avLst>
              <a:gd name="adj" fmla="val 12903"/>
            </a:avLst>
          </a:prstGeom>
          <a:solidFill>
            <a:srgbClr val="E8EFFD"/>
          </a:solidFill>
          <a:ln w="19050">
            <a:solidFill>
              <a:srgbClr val="2563EB"/>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coffee     30%</a:t>
            </a:r>
          </a:p>
        </p:txBody>
      </p:sp>
      <p:sp>
        <p:nvSpPr>
          <p:cNvPr id="11" name="coffee_30__74">
            <a:extLst>
              <a:ext uri="{FF2B5EF4-FFF2-40B4-BE49-F238E27FC236}">
                <a16:creationId xmlns:a16="http://schemas.microsoft.com/office/drawing/2014/main" id="{4ACC00F5-3B40-47EF-9526-FF6929F86B48}"/>
              </a:ext>
            </a:extLst>
          </p:cNvPr>
          <p:cNvSpPr>
            <a:spLocks noGrp="1"/>
          </p:cNvSpPr>
          <p:nvPr/>
        </p:nvSpPr>
        <p:spPr>
          <a:xfrm>
            <a:off x="10763250" y="3600450"/>
            <a:ext cx="3333750" cy="590550"/>
          </a:xfrm>
          <a:prstGeom prst="roundRect">
            <a:avLst>
              <a:gd name="adj" fmla="val 12903"/>
            </a:avLst>
          </a:prstGeom>
          <a:solidFill>
            <a:srgbClr val="E1F3E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coffee     30%</a:t>
            </a:r>
          </a:p>
        </p:txBody>
      </p:sp>
      <p:sp>
        <p:nvSpPr>
          <p:cNvPr id="12" name="water_10__75">
            <a:extLst>
              <a:ext uri="{FF2B5EF4-FFF2-40B4-BE49-F238E27FC236}">
                <a16:creationId xmlns:a16="http://schemas.microsoft.com/office/drawing/2014/main" id="{D42AB067-C7D2-464A-B795-DF2B7DA181D8}"/>
              </a:ext>
            </a:extLst>
          </p:cNvPr>
          <p:cNvSpPr>
            <a:spLocks noGrp="1"/>
          </p:cNvSpPr>
          <p:nvPr/>
        </p:nvSpPr>
        <p:spPr>
          <a:xfrm>
            <a:off x="6191250" y="4343400"/>
            <a:ext cx="3333750" cy="590550"/>
          </a:xfrm>
          <a:prstGeom prst="roundRect">
            <a:avLst>
              <a:gd name="adj" fmla="val 12903"/>
            </a:avLst>
          </a:prstGeom>
          <a:solidFill>
            <a:srgbClr val="FFFFFF"/>
          </a:solidFill>
          <a:ln w="19050">
            <a:solidFill>
              <a:srgbClr val="CBD5E1"/>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water     10%</a:t>
            </a:r>
          </a:p>
        </p:txBody>
      </p:sp>
      <p:sp>
        <p:nvSpPr>
          <p:cNvPr id="13" name="water_10__76">
            <a:extLst>
              <a:ext uri="{FF2B5EF4-FFF2-40B4-BE49-F238E27FC236}">
                <a16:creationId xmlns:a16="http://schemas.microsoft.com/office/drawing/2014/main" id="{16F7A525-974E-463B-BB5B-BABC0D41E89D}"/>
              </a:ext>
            </a:extLst>
          </p:cNvPr>
          <p:cNvSpPr>
            <a:spLocks noGrp="1"/>
          </p:cNvSpPr>
          <p:nvPr/>
        </p:nvSpPr>
        <p:spPr>
          <a:xfrm>
            <a:off x="10763250" y="4343400"/>
            <a:ext cx="3333750" cy="590550"/>
          </a:xfrm>
          <a:prstGeom prst="roundRect">
            <a:avLst>
              <a:gd name="adj" fmla="val 12903"/>
            </a:avLst>
          </a:prstGeom>
          <a:solidFill>
            <a:srgbClr val="E1F3E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water     10%</a:t>
            </a:r>
          </a:p>
        </p:txBody>
      </p:sp>
      <p:sp>
        <p:nvSpPr>
          <p:cNvPr id="14" name="milk_7__77">
            <a:extLst>
              <a:ext uri="{FF2B5EF4-FFF2-40B4-BE49-F238E27FC236}">
                <a16:creationId xmlns:a16="http://schemas.microsoft.com/office/drawing/2014/main" id="{A7F6BAE4-EE0D-4FED-B8F4-F8D20F87C699}"/>
              </a:ext>
            </a:extLst>
          </p:cNvPr>
          <p:cNvSpPr>
            <a:spLocks noGrp="1"/>
          </p:cNvSpPr>
          <p:nvPr/>
        </p:nvSpPr>
        <p:spPr>
          <a:xfrm>
            <a:off x="6191250" y="5086350"/>
            <a:ext cx="3333750" cy="590550"/>
          </a:xfrm>
          <a:prstGeom prst="roundRect">
            <a:avLst>
              <a:gd name="adj" fmla="val 12903"/>
            </a:avLst>
          </a:prstGeom>
          <a:solidFill>
            <a:srgbClr val="FFFFFF"/>
          </a:solidFill>
          <a:ln w="19050">
            <a:solidFill>
              <a:srgbClr val="CBD5E1"/>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milk     7%</a:t>
            </a:r>
          </a:p>
        </p:txBody>
      </p:sp>
      <p:sp>
        <p:nvSpPr>
          <p:cNvPr id="15" name="milk_7__78">
            <a:extLst>
              <a:ext uri="{FF2B5EF4-FFF2-40B4-BE49-F238E27FC236}">
                <a16:creationId xmlns:a16="http://schemas.microsoft.com/office/drawing/2014/main" id="{D5A62552-0E0A-423C-8A4F-B51F7846753C}"/>
              </a:ext>
            </a:extLst>
          </p:cNvPr>
          <p:cNvSpPr>
            <a:spLocks noGrp="1"/>
          </p:cNvSpPr>
          <p:nvPr/>
        </p:nvSpPr>
        <p:spPr>
          <a:xfrm>
            <a:off x="10763250" y="5086350"/>
            <a:ext cx="3333750" cy="590550"/>
          </a:xfrm>
          <a:prstGeom prst="roundRect">
            <a:avLst>
              <a:gd name="adj" fmla="val 12903"/>
            </a:avLst>
          </a:prstGeom>
          <a:solidFill>
            <a:srgbClr val="FFFFFF"/>
          </a:solidFill>
          <a:ln w="19050">
            <a:solidFill>
              <a:srgbClr val="CBD5E1"/>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milk     7%</a:t>
            </a:r>
          </a:p>
        </p:txBody>
      </p:sp>
      <p:sp>
        <p:nvSpPr>
          <p:cNvPr id="16" name="juice_3__79">
            <a:extLst>
              <a:ext uri="{FF2B5EF4-FFF2-40B4-BE49-F238E27FC236}">
                <a16:creationId xmlns:a16="http://schemas.microsoft.com/office/drawing/2014/main" id="{0B1DCF1C-0533-46EB-B7E6-B4FDB83E2369}"/>
              </a:ext>
            </a:extLst>
          </p:cNvPr>
          <p:cNvSpPr>
            <a:spLocks noGrp="1"/>
          </p:cNvSpPr>
          <p:nvPr/>
        </p:nvSpPr>
        <p:spPr>
          <a:xfrm>
            <a:off x="6191250" y="5829300"/>
            <a:ext cx="3333750" cy="590550"/>
          </a:xfrm>
          <a:prstGeom prst="roundRect">
            <a:avLst>
              <a:gd name="adj" fmla="val 12903"/>
            </a:avLst>
          </a:prstGeom>
          <a:solidFill>
            <a:srgbClr val="FFFFFF"/>
          </a:solidFill>
          <a:ln w="19050">
            <a:solidFill>
              <a:srgbClr val="CBD5E1"/>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juice     3%</a:t>
            </a:r>
          </a:p>
        </p:txBody>
      </p:sp>
      <p:sp>
        <p:nvSpPr>
          <p:cNvPr id="17" name="juice_3__80">
            <a:extLst>
              <a:ext uri="{FF2B5EF4-FFF2-40B4-BE49-F238E27FC236}">
                <a16:creationId xmlns:a16="http://schemas.microsoft.com/office/drawing/2014/main" id="{48B5B6B0-A5DE-4A1B-BF53-DE51F01DEEA4}"/>
              </a:ext>
            </a:extLst>
          </p:cNvPr>
          <p:cNvSpPr>
            <a:spLocks noGrp="1"/>
          </p:cNvSpPr>
          <p:nvPr/>
        </p:nvSpPr>
        <p:spPr>
          <a:xfrm>
            <a:off x="10763250" y="5829300"/>
            <a:ext cx="3333750" cy="590550"/>
          </a:xfrm>
          <a:prstGeom prst="roundRect">
            <a:avLst>
              <a:gd name="adj" fmla="val 12903"/>
            </a:avLst>
          </a:prstGeom>
          <a:solidFill>
            <a:srgbClr val="FFFFFF"/>
          </a:solidFill>
          <a:ln w="19050">
            <a:solidFill>
              <a:srgbClr val="CBD5E1"/>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juice     3%</a:t>
            </a:r>
          </a:p>
        </p:txBody>
      </p:sp>
      <p:sp>
        <p:nvSpPr>
          <p:cNvPr id="18" name="text_81">
            <a:extLst>
              <a:ext uri="{FF2B5EF4-FFF2-40B4-BE49-F238E27FC236}">
                <a16:creationId xmlns:a16="http://schemas.microsoft.com/office/drawing/2014/main" id="{0F32DD29-DC14-4813-BB8C-86ABC2EF76E3}"/>
              </a:ext>
            </a:extLst>
          </p:cNvPr>
          <p:cNvSpPr>
            <a:spLocks noGrp="1"/>
          </p:cNvSpPr>
          <p:nvPr/>
        </p:nvSpPr>
        <p:spPr>
          <a:xfrm>
            <a:off x="952500" y="6362700"/>
            <a:ext cx="1714500" cy="342900"/>
          </a:xfrm>
          <a:prstGeom prst="rect">
            <a:avLst/>
          </a:prstGeom>
          <a:noFill/>
          <a:ln w="0">
            <a:noFill/>
          </a:ln>
        </p:spPr>
        <p:txBody>
          <a:bodyPr anchor="t">
            <a:noAutofit/>
          </a:bodyPr>
          <a:lstStyle/>
          <a:p>
            <a:pPr>
              <a:defRPr sz="1725" b="1">
                <a:solidFill>
                  <a:srgbClr val="2563EB"/>
                </a:solidFill>
                <a:latin typeface="Arial"/>
                <a:ea typeface="Arial"/>
                <a:cs typeface="Arial"/>
              </a:defRPr>
            </a:pPr>
            <a:r>
              <a:rPr sz="1725" b="1">
                <a:solidFill>
                  <a:srgbClr val="2563EB"/>
                </a:solidFill>
                <a:latin typeface="Arial"/>
                <a:ea typeface="Arial"/>
                <a:cs typeface="Arial"/>
              </a:rPr>
              <a:t>Lower T</a:t>
            </a:r>
          </a:p>
        </p:txBody>
      </p:sp>
      <p:sp>
        <p:nvSpPr>
          <p:cNvPr id="19" name="text_82">
            <a:extLst>
              <a:ext uri="{FF2B5EF4-FFF2-40B4-BE49-F238E27FC236}">
                <a16:creationId xmlns:a16="http://schemas.microsoft.com/office/drawing/2014/main" id="{4011F181-53DB-49D8-8FD7-A9893A39CF6A}"/>
              </a:ext>
            </a:extLst>
          </p:cNvPr>
          <p:cNvSpPr>
            <a:spLocks noGrp="1"/>
          </p:cNvSpPr>
          <p:nvPr/>
        </p:nvSpPr>
        <p:spPr>
          <a:xfrm>
            <a:off x="2905125" y="6362700"/>
            <a:ext cx="1809750" cy="34290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Higher T</a:t>
            </a:r>
          </a:p>
        </p:txBody>
      </p:sp>
      <p:sp>
        <p:nvSpPr>
          <p:cNvPr id="20" name="text_83">
            <a:extLst>
              <a:ext uri="{FF2B5EF4-FFF2-40B4-BE49-F238E27FC236}">
                <a16:creationId xmlns:a16="http://schemas.microsoft.com/office/drawing/2014/main" id="{E84460EE-BC91-4A6A-AC14-D9ABF242F70D}"/>
              </a:ext>
            </a:extLst>
          </p:cNvPr>
          <p:cNvSpPr>
            <a:spLocks noGrp="1"/>
          </p:cNvSpPr>
          <p:nvPr/>
        </p:nvSpPr>
        <p:spPr>
          <a:xfrm>
            <a:off x="857250" y="6791325"/>
            <a:ext cx="4572000" cy="476250"/>
          </a:xfrm>
          <a:prstGeom prst="rect">
            <a:avLst/>
          </a:prstGeom>
          <a:noFill/>
          <a:ln w="0">
            <a:noFill/>
          </a:ln>
        </p:spPr>
        <p:txBody>
          <a:bodyPr anchor="t">
            <a:noAutofit/>
          </a:bodyPr>
          <a:lstStyle/>
          <a:p>
            <a:pPr>
              <a:defRPr sz="2100" b="1">
                <a:solidFill>
                  <a:srgbClr val="2563EB"/>
                </a:solidFill>
                <a:latin typeface="Arial"/>
                <a:ea typeface="Arial"/>
                <a:cs typeface="Arial"/>
              </a:defRPr>
            </a:pPr>
            <a:r>
              <a:rPr sz="2100" b="1">
                <a:solidFill>
                  <a:srgbClr val="2563EB"/>
                </a:solidFill>
                <a:latin typeface="Arial"/>
                <a:ea typeface="Arial"/>
                <a:cs typeface="Arial"/>
              </a:rPr>
              <a:t>Sharper ↔ flatter</a:t>
            </a:r>
          </a:p>
        </p:txBody>
      </p:sp>
      <p:sp>
        <p:nvSpPr>
          <p:cNvPr id="21" name="text_84">
            <a:extLst>
              <a:ext uri="{FF2B5EF4-FFF2-40B4-BE49-F238E27FC236}">
                <a16:creationId xmlns:a16="http://schemas.microsoft.com/office/drawing/2014/main" id="{305A6F66-5B5E-4ACE-8A93-07AE1DC77271}"/>
              </a:ext>
            </a:extLst>
          </p:cNvPr>
          <p:cNvSpPr>
            <a:spLocks noGrp="1"/>
          </p:cNvSpPr>
          <p:nvPr/>
        </p:nvSpPr>
        <p:spPr>
          <a:xfrm>
            <a:off x="6143625" y="6791325"/>
            <a:ext cx="4000500" cy="476250"/>
          </a:xfrm>
          <a:prstGeom prst="rect">
            <a:avLst/>
          </a:prstGeom>
          <a:noFill/>
          <a:ln w="0">
            <a:noFill/>
          </a:ln>
        </p:spPr>
        <p:txBody>
          <a:bodyPr anchor="t">
            <a:noAutofit/>
          </a:bodyPr>
          <a:lstStyle/>
          <a:p>
            <a:pPr>
              <a:defRPr sz="2100" b="1">
                <a:solidFill>
                  <a:srgbClr val="2563EB"/>
                </a:solidFill>
                <a:latin typeface="Arial"/>
                <a:ea typeface="Arial"/>
                <a:cs typeface="Arial"/>
              </a:defRPr>
            </a:pPr>
            <a:r>
              <a:rPr sz="2100" b="1">
                <a:solidFill>
                  <a:srgbClr val="2563EB"/>
                </a:solidFill>
                <a:latin typeface="Arial"/>
                <a:ea typeface="Arial"/>
                <a:cs typeface="Arial"/>
              </a:rPr>
              <a:t>Keep two candidates</a:t>
            </a:r>
          </a:p>
        </p:txBody>
      </p:sp>
      <p:sp>
        <p:nvSpPr>
          <p:cNvPr id="22" name="text_85">
            <a:extLst>
              <a:ext uri="{FF2B5EF4-FFF2-40B4-BE49-F238E27FC236}">
                <a16:creationId xmlns:a16="http://schemas.microsoft.com/office/drawing/2014/main" id="{3487D3D0-4F89-4943-B499-75A0BA0B3F09}"/>
              </a:ext>
            </a:extLst>
          </p:cNvPr>
          <p:cNvSpPr>
            <a:spLocks noGrp="1"/>
          </p:cNvSpPr>
          <p:nvPr/>
        </p:nvSpPr>
        <p:spPr>
          <a:xfrm>
            <a:off x="10715625" y="6791325"/>
            <a:ext cx="4095750" cy="476250"/>
          </a:xfrm>
          <a:prstGeom prst="rect">
            <a:avLst/>
          </a:prstGeom>
          <a:noFill/>
          <a:ln w="0">
            <a:noFill/>
          </a:ln>
        </p:spPr>
        <p:txBody>
          <a:bodyPr anchor="t">
            <a:noAutofit/>
          </a:bodyPr>
          <a:lstStyle/>
          <a:p>
            <a:pPr>
              <a:defRPr sz="2100" b="1">
                <a:solidFill>
                  <a:srgbClr val="0D9488"/>
                </a:solidFill>
                <a:latin typeface="Arial"/>
                <a:ea typeface="Arial"/>
                <a:cs typeface="Arial"/>
              </a:defRPr>
            </a:pPr>
            <a:r>
              <a:rPr sz="2100" b="1">
                <a:solidFill>
                  <a:srgbClr val="0D9488"/>
                </a:solidFill>
                <a:latin typeface="Arial"/>
                <a:ea typeface="Arial"/>
                <a:cs typeface="Arial"/>
              </a:rPr>
              <a:t>50 + 30 + 10 = 90%</a:t>
            </a:r>
          </a:p>
        </p:txBody>
      </p:sp>
      <p:sp>
        <p:nvSpPr>
          <p:cNvPr id="23" name="text_86">
            <a:extLst>
              <a:ext uri="{FF2B5EF4-FFF2-40B4-BE49-F238E27FC236}">
                <a16:creationId xmlns:a16="http://schemas.microsoft.com/office/drawing/2014/main" id="{8378C1EB-AD77-4B79-84F6-AF078EAD1496}"/>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Quick vote: at top-p = 0.60, which candidates remain? These controls do not add knowledge.</a:t>
            </a:r>
          </a:p>
        </p:txBody>
      </p:sp>
    </p:spTree>
    <p:extLst>
      <p:ext uri="{BB962C8B-B14F-4D97-AF65-F5344CB8AC3E}">
        <p14:creationId xmlns:p14="http://schemas.microsoft.com/office/powerpoint/2010/main" val="1086377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33F"/>
        </a:solidFill>
        <a:effectLst/>
      </p:bgPr>
    </p:bg>
    <p:spTree>
      <p:nvGrpSpPr>
        <p:cNvPr id="1" name=""/>
        <p:cNvGrpSpPr/>
        <p:nvPr/>
      </p:nvGrpSpPr>
      <p:grpSpPr>
        <a:xfrm>
          <a:off x="0" y="0"/>
          <a:ext cx="0" cy="0"/>
          <a:chOff x="0" y="0"/>
          <a:chExt cx="0" cy="0"/>
        </a:xfrm>
      </p:grpSpPr>
      <p:sp>
        <p:nvSpPr>
          <p:cNvPr id="10" name="text_87">
            <a:extLst>
              <a:ext uri="{FF2B5EF4-FFF2-40B4-BE49-F238E27FC236}">
                <a16:creationId xmlns:a16="http://schemas.microsoft.com/office/drawing/2014/main" id="{172A049A-6FE9-405D-968D-E076C1D37D39}"/>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72DDD0"/>
                </a:solidFill>
                <a:latin typeface="Arial"/>
                <a:ea typeface="Arial"/>
                <a:cs typeface="Arial"/>
              </a:defRPr>
            </a:pPr>
            <a:r>
              <a:rPr sz="1725" b="1">
                <a:solidFill>
                  <a:srgbClr val="72DDD0"/>
                </a:solidFill>
                <a:latin typeface="Arial"/>
                <a:ea typeface="Arial"/>
                <a:cs typeface="Arial"/>
              </a:rPr>
              <a:t>02 • HALLUCINATIONS</a:t>
            </a:r>
          </a:p>
        </p:txBody>
      </p:sp>
      <p:sp>
        <p:nvSpPr>
          <p:cNvPr id="2" name="text_88">
            <a:extLst>
              <a:ext uri="{FF2B5EF4-FFF2-40B4-BE49-F238E27FC236}">
                <a16:creationId xmlns:a16="http://schemas.microsoft.com/office/drawing/2014/main" id="{795D598A-155A-4B5E-9A5C-1FFABFD14475}"/>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FFFFFF"/>
                </a:solidFill>
                <a:latin typeface="Arial"/>
                <a:ea typeface="Arial"/>
                <a:cs typeface="Arial"/>
              </a:defRPr>
            </a:pPr>
            <a:r>
              <a:rPr sz="3975" b="1">
                <a:solidFill>
                  <a:srgbClr val="FFFFFF"/>
                </a:solidFill>
                <a:latin typeface="Arial"/>
                <a:ea typeface="Arial"/>
                <a:cs typeface="Arial"/>
              </a:rPr>
              <a:t>A confident answer can still be wrong</a:t>
            </a:r>
          </a:p>
        </p:txBody>
      </p:sp>
      <p:sp>
        <p:nvSpPr>
          <p:cNvPr id="3" name="text_89">
            <a:extLst>
              <a:ext uri="{FF2B5EF4-FFF2-40B4-BE49-F238E27FC236}">
                <a16:creationId xmlns:a16="http://schemas.microsoft.com/office/drawing/2014/main" id="{C6D9C434-C46C-40D8-A89D-F8C28085F229}"/>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A9BACF"/>
                </a:solidFill>
                <a:latin typeface="Arial"/>
                <a:ea typeface="Arial"/>
                <a:cs typeface="Arial"/>
              </a:defRPr>
            </a:pPr>
            <a:r>
              <a:rPr sz="1425" b="0">
                <a:solidFill>
                  <a:srgbClr val="A9BACF"/>
                </a:solidFill>
                <a:latin typeface="Arial"/>
                <a:ea typeface="Arial"/>
                <a:cs typeface="Arial"/>
              </a:rPr>
              <a:t>07 / 22</a:t>
            </a:r>
          </a:p>
        </p:txBody>
      </p:sp>
      <p:sp>
        <p:nvSpPr>
          <p:cNvPr id="4" name="text_90">
            <a:extLst>
              <a:ext uri="{FF2B5EF4-FFF2-40B4-BE49-F238E27FC236}">
                <a16:creationId xmlns:a16="http://schemas.microsoft.com/office/drawing/2014/main" id="{AF32E287-3825-4349-A4E9-2DAB3B95B7D1}"/>
              </a:ext>
            </a:extLst>
          </p:cNvPr>
          <p:cNvSpPr>
            <a:spLocks noGrp="1"/>
          </p:cNvSpPr>
          <p:nvPr/>
        </p:nvSpPr>
        <p:spPr>
          <a:xfrm>
            <a:off x="904875" y="2571750"/>
            <a:ext cx="13049250" cy="1714500"/>
          </a:xfrm>
          <a:prstGeom prst="rect">
            <a:avLst/>
          </a:prstGeom>
          <a:noFill/>
          <a:ln w="0">
            <a:noFill/>
          </a:ln>
        </p:spPr>
        <p:txBody>
          <a:bodyPr anchor="t">
            <a:noAutofit/>
          </a:bodyPr>
          <a:lstStyle/>
          <a:p>
            <a:pPr>
              <a:defRPr sz="4500" b="1">
                <a:solidFill>
                  <a:srgbClr val="FFFFFF"/>
                </a:solidFill>
                <a:latin typeface="Arial"/>
                <a:ea typeface="Arial"/>
                <a:cs typeface="Arial"/>
              </a:defRPr>
            </a:pPr>
            <a:r>
              <a:rPr sz="4500" b="1">
                <a:solidFill>
                  <a:srgbClr val="FFFFFF"/>
                </a:solidFill>
                <a:latin typeface="Arial"/>
                <a:ea typeface="Arial"/>
                <a:cs typeface="Arial"/>
              </a:rPr>
              <a:t>“Yes, your team is eligible.</a:t>
            </a:r>
          </a:p>
          <a:p>
            <a:pPr>
              <a:defRPr sz="4500" b="1">
                <a:solidFill>
                  <a:srgbClr val="FFFFFF"/>
                </a:solidFill>
                <a:latin typeface="Arial"/>
                <a:ea typeface="Arial"/>
                <a:cs typeface="Arial"/>
              </a:defRPr>
            </a:pPr>
            <a:r>
              <a:rPr sz="4500" b="1">
                <a:solidFill>
                  <a:srgbClr val="FFFFFF"/>
                </a:solidFill>
                <a:latin typeface="Arial"/>
                <a:ea typeface="Arial"/>
                <a:cs typeface="Arial"/>
              </a:rPr>
              <a:t>Report to Lab 4 at 9 AM.”</a:t>
            </a:r>
          </a:p>
        </p:txBody>
      </p:sp>
      <p:sp>
        <p:nvSpPr>
          <p:cNvPr id="5" name="text_91">
            <a:extLst>
              <a:ext uri="{FF2B5EF4-FFF2-40B4-BE49-F238E27FC236}">
                <a16:creationId xmlns:a16="http://schemas.microsoft.com/office/drawing/2014/main" id="{05C24EEE-9815-4F05-B4E3-189562EA355F}"/>
              </a:ext>
            </a:extLst>
          </p:cNvPr>
          <p:cNvSpPr>
            <a:spLocks noGrp="1"/>
          </p:cNvSpPr>
          <p:nvPr/>
        </p:nvSpPr>
        <p:spPr>
          <a:xfrm>
            <a:off x="904875" y="5238750"/>
            <a:ext cx="5238750" cy="523875"/>
          </a:xfrm>
          <a:prstGeom prst="rect">
            <a:avLst/>
          </a:prstGeom>
          <a:noFill/>
          <a:ln w="0">
            <a:noFill/>
          </a:ln>
        </p:spPr>
        <p:txBody>
          <a:bodyPr anchor="t">
            <a:noAutofit/>
          </a:bodyPr>
          <a:lstStyle/>
          <a:p>
            <a:pPr>
              <a:defRPr sz="2475" b="1">
                <a:solidFill>
                  <a:srgbClr val="72DDD0"/>
                </a:solidFill>
                <a:latin typeface="Arial"/>
                <a:ea typeface="Arial"/>
                <a:cs typeface="Arial"/>
              </a:defRPr>
            </a:pPr>
            <a:r>
              <a:rPr sz="2475" b="1">
                <a:solidFill>
                  <a:srgbClr val="72DDD0"/>
                </a:solidFill>
                <a:latin typeface="Arial"/>
                <a:ea typeface="Arial"/>
                <a:cs typeface="Arial"/>
              </a:rPr>
              <a:t>Team eligibility</a:t>
            </a:r>
          </a:p>
        </p:txBody>
      </p:sp>
      <p:sp>
        <p:nvSpPr>
          <p:cNvPr id="6" name="text_92">
            <a:extLst>
              <a:ext uri="{FF2B5EF4-FFF2-40B4-BE49-F238E27FC236}">
                <a16:creationId xmlns:a16="http://schemas.microsoft.com/office/drawing/2014/main" id="{EC387CC5-6FA0-40F4-BF1D-970EC288ACC6}"/>
              </a:ext>
            </a:extLst>
          </p:cNvPr>
          <p:cNvSpPr>
            <a:spLocks noGrp="1"/>
          </p:cNvSpPr>
          <p:nvPr/>
        </p:nvSpPr>
        <p:spPr>
          <a:xfrm>
            <a:off x="8096250" y="5238750"/>
            <a:ext cx="5238750" cy="523875"/>
          </a:xfrm>
          <a:prstGeom prst="rect">
            <a:avLst/>
          </a:prstGeom>
          <a:noFill/>
          <a:ln w="0">
            <a:noFill/>
          </a:ln>
        </p:spPr>
        <p:txBody>
          <a:bodyPr anchor="t">
            <a:noAutofit/>
          </a:bodyPr>
          <a:lstStyle/>
          <a:p>
            <a:pPr>
              <a:defRPr sz="2475" b="1">
                <a:solidFill>
                  <a:srgbClr val="72DDD0"/>
                </a:solidFill>
                <a:latin typeface="Arial"/>
                <a:ea typeface="Arial"/>
                <a:cs typeface="Arial"/>
              </a:defRPr>
            </a:pPr>
            <a:r>
              <a:rPr sz="2475" b="1">
                <a:solidFill>
                  <a:srgbClr val="72DDD0"/>
                </a:solidFill>
                <a:latin typeface="Arial"/>
                <a:ea typeface="Arial"/>
                <a:cs typeface="Arial"/>
              </a:rPr>
              <a:t>Venue + time</a:t>
            </a:r>
          </a:p>
        </p:txBody>
      </p:sp>
      <p:sp>
        <p:nvSpPr>
          <p:cNvPr id="7" name="text_93">
            <a:extLst>
              <a:ext uri="{FF2B5EF4-FFF2-40B4-BE49-F238E27FC236}">
                <a16:creationId xmlns:a16="http://schemas.microsoft.com/office/drawing/2014/main" id="{2B9B4038-7A21-42BF-ADA6-9A374F31ABE1}"/>
              </a:ext>
            </a:extLst>
          </p:cNvPr>
          <p:cNvSpPr>
            <a:spLocks noGrp="1"/>
          </p:cNvSpPr>
          <p:nvPr/>
        </p:nvSpPr>
        <p:spPr>
          <a:xfrm>
            <a:off x="904875" y="5905500"/>
            <a:ext cx="6191250" cy="666750"/>
          </a:xfrm>
          <a:prstGeom prst="rect">
            <a:avLst/>
          </a:prstGeom>
          <a:noFill/>
          <a:ln w="0">
            <a:noFill/>
          </a:ln>
        </p:spPr>
        <p:txBody>
          <a:bodyPr anchor="t">
            <a:noAutofit/>
          </a:bodyPr>
          <a:lstStyle/>
          <a:p>
            <a:pPr>
              <a:defRPr sz="2550" b="0">
                <a:solidFill>
                  <a:srgbClr val="FFFFFF"/>
                </a:solidFill>
                <a:latin typeface="Arial"/>
                <a:ea typeface="Arial"/>
                <a:cs typeface="Arial"/>
              </a:defRPr>
            </a:pPr>
            <a:r>
              <a:rPr sz="2550" b="0">
                <a:solidFill>
                  <a:srgbClr val="FFFFFF"/>
                </a:solidFill>
                <a:latin typeface="Arial"/>
                <a:ea typeface="Arial"/>
                <a:cs typeface="Arial"/>
              </a:rPr>
              <a:t>Evidence supplied: none</a:t>
            </a:r>
          </a:p>
        </p:txBody>
      </p:sp>
      <p:sp>
        <p:nvSpPr>
          <p:cNvPr id="8" name="text_94">
            <a:extLst>
              <a:ext uri="{FF2B5EF4-FFF2-40B4-BE49-F238E27FC236}">
                <a16:creationId xmlns:a16="http://schemas.microsoft.com/office/drawing/2014/main" id="{28C30DE8-F985-464B-B31B-78B79DA280F6}"/>
              </a:ext>
            </a:extLst>
          </p:cNvPr>
          <p:cNvSpPr>
            <a:spLocks noGrp="1"/>
          </p:cNvSpPr>
          <p:nvPr/>
        </p:nvSpPr>
        <p:spPr>
          <a:xfrm>
            <a:off x="8096250" y="5905500"/>
            <a:ext cx="6191250" cy="666750"/>
          </a:xfrm>
          <a:prstGeom prst="rect">
            <a:avLst/>
          </a:prstGeom>
          <a:noFill/>
          <a:ln w="0">
            <a:noFill/>
          </a:ln>
        </p:spPr>
        <p:txBody>
          <a:bodyPr anchor="t">
            <a:noAutofit/>
          </a:bodyPr>
          <a:lstStyle/>
          <a:p>
            <a:pPr>
              <a:defRPr sz="2550" b="0">
                <a:solidFill>
                  <a:srgbClr val="FFFFFF"/>
                </a:solidFill>
                <a:latin typeface="Arial"/>
                <a:ea typeface="Arial"/>
                <a:cs typeface="Arial"/>
              </a:defRPr>
            </a:pPr>
            <a:r>
              <a:rPr sz="2550" b="0">
                <a:solidFill>
                  <a:srgbClr val="FFFFFF"/>
                </a:solidFill>
                <a:latin typeface="Arial"/>
                <a:ea typeface="Arial"/>
                <a:cs typeface="Arial"/>
              </a:rPr>
              <a:t>Evidence supplied: none</a:t>
            </a:r>
          </a:p>
        </p:txBody>
      </p:sp>
      <p:sp>
        <p:nvSpPr>
          <p:cNvPr id="9" name="text_95">
            <a:extLst>
              <a:ext uri="{FF2B5EF4-FFF2-40B4-BE49-F238E27FC236}">
                <a16:creationId xmlns:a16="http://schemas.microsoft.com/office/drawing/2014/main" id="{918E4514-D41A-427E-A228-B373AC9CA672}"/>
              </a:ext>
            </a:extLst>
          </p:cNvPr>
          <p:cNvSpPr>
            <a:spLocks noGrp="1"/>
          </p:cNvSpPr>
          <p:nvPr/>
        </p:nvSpPr>
        <p:spPr>
          <a:xfrm>
            <a:off x="904875" y="7486650"/>
            <a:ext cx="13239750" cy="523875"/>
          </a:xfrm>
          <a:prstGeom prst="rect">
            <a:avLst/>
          </a:prstGeom>
          <a:noFill/>
          <a:ln w="0">
            <a:noFill/>
          </a:ln>
        </p:spPr>
        <p:txBody>
          <a:bodyPr anchor="t">
            <a:noAutofit/>
          </a:bodyPr>
          <a:lstStyle/>
          <a:p>
            <a:pPr>
              <a:defRPr sz="2025" b="0">
                <a:solidFill>
                  <a:srgbClr val="A9BACF"/>
                </a:solidFill>
                <a:latin typeface="Arial"/>
                <a:ea typeface="Arial"/>
                <a:cs typeface="Arial"/>
              </a:defRPr>
            </a:pPr>
            <a:r>
              <a:rPr sz="2025" b="0">
                <a:solidFill>
                  <a:srgbClr val="A9BACF"/>
                </a:solidFill>
                <a:latin typeface="Arial"/>
                <a:ea typeface="Arial"/>
                <a:cs typeface="Arial"/>
              </a:rPr>
              <a:t>Fluent language can make an unsupported claim sound reliable.</a:t>
            </a:r>
          </a:p>
        </p:txBody>
      </p:sp>
    </p:spTree>
    <p:extLst>
      <p:ext uri="{BB962C8B-B14F-4D97-AF65-F5344CB8AC3E}">
        <p14:creationId xmlns:p14="http://schemas.microsoft.com/office/powerpoint/2010/main" val="1064046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6" name="Straight Arrow Connector 15"/>
          <p:cNvCxnSpPr>
            <a:stCxn id="4" idx="3"/>
            <a:endCxn id="12" idx="1"/>
          </p:cNvCxnSpPr>
          <p:nvPr/>
        </p:nvCxnSpPr>
        <p:spPr>
          <a:xfrm flipV="1">
            <a:off x="7000875" y="4524375"/>
            <a:ext cx="1476375" cy="95250"/>
          </a:xfrm>
          <a:prstGeom prst="straightConnector1">
            <a:avLst/>
          </a:prstGeom>
          <a:ln w="28575">
            <a:solidFill>
              <a:srgbClr val="0D9488"/>
            </a:solidFill>
            <a:tailEnd type="triangle" w="med" len="med"/>
          </a:ln>
        </p:spPr>
      </p:cxnSp>
      <p:sp>
        <p:nvSpPr>
          <p:cNvPr id="17" name="text_96">
            <a:extLst>
              <a:ext uri="{FF2B5EF4-FFF2-40B4-BE49-F238E27FC236}">
                <a16:creationId xmlns:a16="http://schemas.microsoft.com/office/drawing/2014/main" id="{EE647986-A36F-426B-BBC2-D425CA9BDA52}"/>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02 • GROUNDING</a:t>
            </a:r>
          </a:p>
        </p:txBody>
      </p:sp>
      <p:sp>
        <p:nvSpPr>
          <p:cNvPr id="2" name="text_97">
            <a:extLst>
              <a:ext uri="{FF2B5EF4-FFF2-40B4-BE49-F238E27FC236}">
                <a16:creationId xmlns:a16="http://schemas.microsoft.com/office/drawing/2014/main" id="{220A252D-A463-41AE-B8BF-19F7F329D743}"/>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Give the model evidence</a:t>
            </a:r>
          </a:p>
        </p:txBody>
      </p:sp>
      <p:sp>
        <p:nvSpPr>
          <p:cNvPr id="3" name="text_98">
            <a:extLst>
              <a:ext uri="{FF2B5EF4-FFF2-40B4-BE49-F238E27FC236}">
                <a16:creationId xmlns:a16="http://schemas.microsoft.com/office/drawing/2014/main" id="{9C3E1227-647E-4347-A09F-4B9DE7098B6B}"/>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08 / 22</a:t>
            </a:r>
          </a:p>
        </p:txBody>
      </p:sp>
      <p:sp>
        <p:nvSpPr>
          <p:cNvPr id="4" name="shape_99">
            <a:extLst>
              <a:ext uri="{FF2B5EF4-FFF2-40B4-BE49-F238E27FC236}">
                <a16:creationId xmlns:a16="http://schemas.microsoft.com/office/drawing/2014/main" id="{761179A3-0038-4F9D-BB98-803046EE933D}"/>
              </a:ext>
            </a:extLst>
          </p:cNvPr>
          <p:cNvSpPr>
            <a:spLocks noGrp="1"/>
          </p:cNvSpPr>
          <p:nvPr/>
        </p:nvSpPr>
        <p:spPr>
          <a:xfrm>
            <a:off x="809625" y="2143125"/>
            <a:ext cx="6191250" cy="4953000"/>
          </a:xfrm>
          <a:prstGeom prst="roundRect">
            <a:avLst>
              <a:gd name="adj" fmla="val 1538"/>
            </a:avLst>
          </a:prstGeom>
          <a:solidFill>
            <a:srgbClr val="FFFFFF"/>
          </a:solidFill>
          <a:ln w="19050">
            <a:solidFill>
              <a:srgbClr val="CBD5E1"/>
            </a:solidFill>
          </a:ln>
        </p:spPr>
      </p:sp>
      <p:sp>
        <p:nvSpPr>
          <p:cNvPr id="5" name="text_100">
            <a:extLst>
              <a:ext uri="{FF2B5EF4-FFF2-40B4-BE49-F238E27FC236}">
                <a16:creationId xmlns:a16="http://schemas.microsoft.com/office/drawing/2014/main" id="{08D62AAE-5FF2-45F7-923C-E28F6BE63EF9}"/>
              </a:ext>
            </a:extLst>
          </p:cNvPr>
          <p:cNvSpPr>
            <a:spLocks noGrp="1"/>
          </p:cNvSpPr>
          <p:nvPr/>
        </p:nvSpPr>
        <p:spPr>
          <a:xfrm>
            <a:off x="1143000" y="2447925"/>
            <a:ext cx="5476875"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CAMPUS HACKATHON HANDBOOK • p. 3</a:t>
            </a:r>
          </a:p>
        </p:txBody>
      </p:sp>
      <p:sp>
        <p:nvSpPr>
          <p:cNvPr id="6" name="text_101">
            <a:extLst>
              <a:ext uri="{FF2B5EF4-FFF2-40B4-BE49-F238E27FC236}">
                <a16:creationId xmlns:a16="http://schemas.microsoft.com/office/drawing/2014/main" id="{DF8EB87D-23A7-4B25-B090-1DF1D2D87DF6}"/>
              </a:ext>
            </a:extLst>
          </p:cNvPr>
          <p:cNvSpPr>
            <a:spLocks noGrp="1"/>
          </p:cNvSpPr>
          <p:nvPr/>
        </p:nvSpPr>
        <p:spPr>
          <a:xfrm>
            <a:off x="1143000" y="3238500"/>
            <a:ext cx="5334000" cy="571500"/>
          </a:xfrm>
          <a:prstGeom prst="rect">
            <a:avLst/>
          </a:prstGeom>
          <a:noFill/>
          <a:ln w="0">
            <a:noFill/>
          </a:ln>
        </p:spPr>
        <p:txBody>
          <a:bodyPr anchor="t">
            <a:noAutofit/>
          </a:bodyPr>
          <a:lstStyle/>
          <a:p>
            <a:pPr>
              <a:defRPr sz="2850" b="1">
                <a:solidFill>
                  <a:srgbClr val="10233F"/>
                </a:solidFill>
                <a:latin typeface="Arial"/>
                <a:ea typeface="Arial"/>
                <a:cs typeface="Arial"/>
              </a:defRPr>
            </a:pPr>
            <a:r>
              <a:rPr sz="2850" b="1">
                <a:solidFill>
                  <a:srgbClr val="10233F"/>
                </a:solidFill>
                <a:latin typeface="Arial"/>
                <a:ea typeface="Arial"/>
                <a:cs typeface="Arial"/>
              </a:rPr>
              <a:t>Eligibility</a:t>
            </a:r>
          </a:p>
        </p:txBody>
      </p:sp>
      <p:sp>
        <p:nvSpPr>
          <p:cNvPr id="7" name="shape_102">
            <a:extLst>
              <a:ext uri="{FF2B5EF4-FFF2-40B4-BE49-F238E27FC236}">
                <a16:creationId xmlns:a16="http://schemas.microsoft.com/office/drawing/2014/main" id="{6CC4E88A-445D-4B18-A6CB-640C0B08CF56}"/>
              </a:ext>
            </a:extLst>
          </p:cNvPr>
          <p:cNvSpPr>
            <a:spLocks noGrp="1"/>
          </p:cNvSpPr>
          <p:nvPr/>
        </p:nvSpPr>
        <p:spPr>
          <a:xfrm>
            <a:off x="1047750" y="4000500"/>
            <a:ext cx="5715000" cy="714375"/>
          </a:xfrm>
          <a:prstGeom prst="roundRect">
            <a:avLst>
              <a:gd name="adj" fmla="val 10667"/>
            </a:avLst>
          </a:prstGeom>
          <a:solidFill>
            <a:srgbClr val="E1F3EF"/>
          </a:solidFill>
          <a:ln w="0">
            <a:noFill/>
          </a:ln>
        </p:spPr>
      </p:sp>
      <p:sp>
        <p:nvSpPr>
          <p:cNvPr id="8" name="text_103">
            <a:extLst>
              <a:ext uri="{FF2B5EF4-FFF2-40B4-BE49-F238E27FC236}">
                <a16:creationId xmlns:a16="http://schemas.microsoft.com/office/drawing/2014/main" id="{C69E72FD-70E4-4849-9A27-CD67323B99B9}"/>
              </a:ext>
            </a:extLst>
          </p:cNvPr>
          <p:cNvSpPr>
            <a:spLocks noGrp="1"/>
          </p:cNvSpPr>
          <p:nvPr/>
        </p:nvSpPr>
        <p:spPr>
          <a:xfrm>
            <a:off x="1257300" y="4191000"/>
            <a:ext cx="5286375" cy="476250"/>
          </a:xfrm>
          <a:prstGeom prst="rect">
            <a:avLst/>
          </a:prstGeom>
          <a:noFill/>
          <a:ln w="0">
            <a:noFill/>
          </a:ln>
        </p:spPr>
        <p:txBody>
          <a:bodyPr anchor="t">
            <a:noAutofit/>
          </a:bodyPr>
          <a:lstStyle/>
          <a:p>
            <a:pPr>
              <a:defRPr sz="2400" b="1">
                <a:solidFill>
                  <a:srgbClr val="0D9488"/>
                </a:solidFill>
                <a:latin typeface="Arial"/>
                <a:ea typeface="Arial"/>
                <a:cs typeface="Arial"/>
              </a:defRPr>
            </a:pPr>
            <a:r>
              <a:rPr sz="2400" b="1">
                <a:solidFill>
                  <a:srgbClr val="0D9488"/>
                </a:solidFill>
                <a:latin typeface="Arial"/>
                <a:ea typeface="Arial"/>
                <a:cs typeface="Arial"/>
              </a:rPr>
              <a:t>Team size: 2–4 students</a:t>
            </a:r>
          </a:p>
        </p:txBody>
      </p:sp>
      <p:sp>
        <p:nvSpPr>
          <p:cNvPr id="9" name="shape_104">
            <a:extLst>
              <a:ext uri="{FF2B5EF4-FFF2-40B4-BE49-F238E27FC236}">
                <a16:creationId xmlns:a16="http://schemas.microsoft.com/office/drawing/2014/main" id="{5C8F15C6-1234-4DEE-9770-2BCA24F97B7B}"/>
              </a:ext>
            </a:extLst>
          </p:cNvPr>
          <p:cNvSpPr>
            <a:spLocks noGrp="1"/>
          </p:cNvSpPr>
          <p:nvPr/>
        </p:nvSpPr>
        <p:spPr>
          <a:xfrm>
            <a:off x="1047750" y="4953000"/>
            <a:ext cx="5715000" cy="714375"/>
          </a:xfrm>
          <a:prstGeom prst="roundRect">
            <a:avLst>
              <a:gd name="adj" fmla="val 10667"/>
            </a:avLst>
          </a:prstGeom>
          <a:solidFill>
            <a:srgbClr val="E8EFFD"/>
          </a:solidFill>
          <a:ln w="0">
            <a:noFill/>
          </a:ln>
        </p:spPr>
      </p:sp>
      <p:sp>
        <p:nvSpPr>
          <p:cNvPr id="10" name="text_105">
            <a:extLst>
              <a:ext uri="{FF2B5EF4-FFF2-40B4-BE49-F238E27FC236}">
                <a16:creationId xmlns:a16="http://schemas.microsoft.com/office/drawing/2014/main" id="{A2B6632F-0576-42E2-8CC0-3AF351D159C5}"/>
              </a:ext>
            </a:extLst>
          </p:cNvPr>
          <p:cNvSpPr>
            <a:spLocks noGrp="1"/>
          </p:cNvSpPr>
          <p:nvPr/>
        </p:nvSpPr>
        <p:spPr>
          <a:xfrm>
            <a:off x="1257300" y="5143500"/>
            <a:ext cx="5286375" cy="476250"/>
          </a:xfrm>
          <a:prstGeom prst="rect">
            <a:avLst/>
          </a:prstGeom>
          <a:noFill/>
          <a:ln w="0">
            <a:noFill/>
          </a:ln>
        </p:spPr>
        <p:txBody>
          <a:bodyPr anchor="t">
            <a:noAutofit/>
          </a:bodyPr>
          <a:lstStyle/>
          <a:p>
            <a:pPr>
              <a:defRPr sz="2250" b="1">
                <a:solidFill>
                  <a:srgbClr val="2563EB"/>
                </a:solidFill>
                <a:latin typeface="Arial"/>
                <a:ea typeface="Arial"/>
                <a:cs typeface="Arial"/>
              </a:defRPr>
            </a:pPr>
            <a:r>
              <a:rPr sz="2250" b="1">
                <a:solidFill>
                  <a:srgbClr val="2563EB"/>
                </a:solidFill>
                <a:latin typeface="Arial"/>
                <a:ea typeface="Arial"/>
                <a:cs typeface="Arial"/>
              </a:rPr>
              <a:t>Open to first and second years</a:t>
            </a:r>
          </a:p>
        </p:txBody>
      </p:sp>
      <p:sp>
        <p:nvSpPr>
          <p:cNvPr id="11" name="text_106">
            <a:extLst>
              <a:ext uri="{FF2B5EF4-FFF2-40B4-BE49-F238E27FC236}">
                <a16:creationId xmlns:a16="http://schemas.microsoft.com/office/drawing/2014/main" id="{15C21B9C-C8ED-4EAB-AC8C-F77CFF7FE373}"/>
              </a:ext>
            </a:extLst>
          </p:cNvPr>
          <p:cNvSpPr>
            <a:spLocks noGrp="1"/>
          </p:cNvSpPr>
          <p:nvPr/>
        </p:nvSpPr>
        <p:spPr>
          <a:xfrm>
            <a:off x="1190625" y="6419850"/>
            <a:ext cx="5191125" cy="342900"/>
          </a:xfrm>
          <a:prstGeom prst="rect">
            <a:avLst/>
          </a:prstGeom>
          <a:noFill/>
          <a:ln w="0">
            <a:noFill/>
          </a:ln>
        </p:spPr>
        <p:txBody>
          <a:bodyPr anchor="t">
            <a:noAutofit/>
          </a:bodyPr>
          <a:lstStyle/>
          <a:p>
            <a:pPr>
              <a:defRPr sz="1650" b="0">
                <a:solidFill>
                  <a:srgbClr val="64748B"/>
                </a:solidFill>
                <a:latin typeface="Arial"/>
                <a:ea typeface="Arial"/>
                <a:cs typeface="Arial"/>
              </a:defRPr>
            </a:pPr>
            <a:r>
              <a:rPr sz="1650" b="0">
                <a:solidFill>
                  <a:srgbClr val="64748B"/>
                </a:solidFill>
                <a:latin typeface="Arial"/>
                <a:ea typeface="Arial"/>
                <a:cs typeface="Arial"/>
              </a:rPr>
              <a:t>Fictional source excerpt</a:t>
            </a:r>
          </a:p>
        </p:txBody>
      </p:sp>
      <p:sp>
        <p:nvSpPr>
          <p:cNvPr id="12" name="_Your_team_size_meets_the_rule_Are_all_members_in_year_1_or_2_Handbook_p_3__107">
            <a:extLst>
              <a:ext uri="{FF2B5EF4-FFF2-40B4-BE49-F238E27FC236}">
                <a16:creationId xmlns:a16="http://schemas.microsoft.com/office/drawing/2014/main" id="{EB0E4A28-05FE-4F82-B8F4-21E507C454BD}"/>
              </a:ext>
            </a:extLst>
          </p:cNvPr>
          <p:cNvSpPr>
            <a:spLocks noGrp="1"/>
          </p:cNvSpPr>
          <p:nvPr/>
        </p:nvSpPr>
        <p:spPr>
          <a:xfrm>
            <a:off x="8477250" y="3429000"/>
            <a:ext cx="5810250" cy="2190750"/>
          </a:xfrm>
          <a:prstGeom prst="roundRect">
            <a:avLst>
              <a:gd name="adj" fmla="val 3478"/>
            </a:avLst>
          </a:prstGeom>
          <a:solidFill>
            <a:srgbClr val="FFFFFF"/>
          </a:solidFill>
          <a:ln w="19050">
            <a:solidFill>
              <a:srgbClr val="0D9488"/>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“Your team size meets the rule.</a:t>
            </a:r>
          </a:p>
          <a:p>
            <a:pPr algn="ctr">
              <a:defRPr sz="2475">
                <a:solidFill>
                  <a:srgbClr val="10233F"/>
                </a:solidFill>
                <a:latin typeface="Arial"/>
                <a:ea typeface="Arial"/>
                <a:cs typeface="Arial"/>
              </a:defRPr>
            </a:pPr>
            <a:r>
              <a:rPr sz="2475">
                <a:solidFill>
                  <a:srgbClr val="10233F"/>
                </a:solidFill>
                <a:latin typeface="Arial"/>
                <a:ea typeface="Arial"/>
                <a:cs typeface="Arial"/>
              </a:rPr>
              <a:t>Are all members in year 1 or 2?”</a:t>
            </a:r>
          </a:p>
          <a:p>
            <a:pPr algn="ctr">
              <a:defRPr sz="2475">
                <a:solidFill>
                  <a:srgbClr val="10233F"/>
                </a:solidFill>
                <a:latin typeface="Arial"/>
                <a:ea typeface="Arial"/>
                <a:cs typeface="Arial"/>
              </a:defRPr>
            </a:pPr>
            <a:r>
              <a:rPr sz="2475">
                <a:solidFill>
                  <a:srgbClr val="10233F"/>
                </a:solidFill>
                <a:latin typeface="Arial"/>
                <a:ea typeface="Arial"/>
                <a:cs typeface="Arial"/>
              </a:rPr>
              <a:t>[Handbook, p. 3]</a:t>
            </a:r>
          </a:p>
        </p:txBody>
      </p:sp>
      <p:sp>
        <p:nvSpPr>
          <p:cNvPr id="14" name="text_108">
            <a:extLst>
              <a:ext uri="{FF2B5EF4-FFF2-40B4-BE49-F238E27FC236}">
                <a16:creationId xmlns:a16="http://schemas.microsoft.com/office/drawing/2014/main" id="{4B11ECAC-D948-4134-94CB-BC40D4FEB214}"/>
              </a:ext>
            </a:extLst>
          </p:cNvPr>
          <p:cNvSpPr>
            <a:spLocks noGrp="1"/>
          </p:cNvSpPr>
          <p:nvPr/>
        </p:nvSpPr>
        <p:spPr>
          <a:xfrm>
            <a:off x="8524875" y="6334125"/>
            <a:ext cx="5715000" cy="523875"/>
          </a:xfrm>
          <a:prstGeom prst="rect">
            <a:avLst/>
          </a:prstGeom>
          <a:noFill/>
          <a:ln w="0">
            <a:noFill/>
          </a:ln>
        </p:spPr>
        <p:txBody>
          <a:bodyPr anchor="t">
            <a:noAutofit/>
          </a:bodyPr>
          <a:lstStyle/>
          <a:p>
            <a:pPr>
              <a:defRPr sz="2250" b="0">
                <a:solidFill>
                  <a:srgbClr val="64748B"/>
                </a:solidFill>
                <a:latin typeface="Arial"/>
                <a:ea typeface="Arial"/>
                <a:cs typeface="Arial"/>
              </a:defRPr>
            </a:pPr>
            <a:r>
              <a:rPr sz="2250" b="0">
                <a:solidFill>
                  <a:srgbClr val="64748B"/>
                </a:solidFill>
                <a:latin typeface="Arial"/>
                <a:ea typeface="Arial"/>
                <a:cs typeface="Arial"/>
              </a:rPr>
              <a:t>Venue today? Still unknown.</a:t>
            </a:r>
          </a:p>
        </p:txBody>
      </p:sp>
      <p:sp>
        <p:nvSpPr>
          <p:cNvPr id="15" name="text_109">
            <a:extLst>
              <a:ext uri="{FF2B5EF4-FFF2-40B4-BE49-F238E27FC236}">
                <a16:creationId xmlns:a16="http://schemas.microsoft.com/office/drawing/2014/main" id="{A5B2F61C-B359-4129-A892-04F518ED9120}"/>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Grounding connects an answer to evidence supplied in the current request.</a:t>
            </a:r>
          </a:p>
        </p:txBody>
      </p:sp>
    </p:spTree>
    <p:extLst>
      <p:ext uri="{BB962C8B-B14F-4D97-AF65-F5344CB8AC3E}">
        <p14:creationId xmlns:p14="http://schemas.microsoft.com/office/powerpoint/2010/main" val="42872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28" name="Straight Arrow Connector 27"/>
          <p:cNvCxnSpPr>
            <a:stCxn id="17" idx="2"/>
            <a:endCxn id="24" idx="0"/>
          </p:cNvCxnSpPr>
          <p:nvPr/>
        </p:nvCxnSpPr>
        <p:spPr>
          <a:xfrm>
            <a:off x="13382625" y="5905500"/>
            <a:ext cx="0" cy="876300"/>
          </a:xfrm>
          <a:prstGeom prst="straightConnector1">
            <a:avLst/>
          </a:prstGeom>
          <a:ln w="28575">
            <a:solidFill>
              <a:srgbClr val="2563EB"/>
            </a:solidFill>
            <a:tailEnd type="triangle" w="med" len="med"/>
          </a:ln>
        </p:spPr>
      </p:cxnSp>
      <p:cxnSp>
        <p:nvCxnSpPr>
          <p:cNvPr id="29" name="Connector: Elbow 28"/>
          <p:cNvCxnSpPr>
            <a:cxnSpLocks/>
          </p:cNvCxnSpPr>
          <p:nvPr/>
        </p:nvCxnSpPr>
        <p:spPr>
          <a:xfrm rot="16200000" flipH="1">
            <a:off x="6098381" y="1556861"/>
            <a:ext cx="114300" cy="8834437"/>
          </a:xfrm>
          <a:prstGeom prst="bentConnector3">
            <a:avLst>
              <a:gd name="adj1" fmla="val 300000"/>
            </a:avLst>
          </a:prstGeom>
          <a:ln w="28575">
            <a:solidFill>
              <a:srgbClr val="2563EB"/>
            </a:solidFill>
            <a:tailEnd type="triangle" w="med" len="med"/>
          </a:ln>
        </p:spPr>
      </p:cxnSp>
      <p:cxnSp>
        <p:nvCxnSpPr>
          <p:cNvPr id="30" name="Connector: Elbow 29"/>
          <p:cNvCxnSpPr>
            <a:stCxn id="8" idx="2"/>
            <a:endCxn id="15" idx="0"/>
          </p:cNvCxnSpPr>
          <p:nvPr/>
        </p:nvCxnSpPr>
        <p:spPr>
          <a:xfrm flipH="1">
            <a:off x="7334250" y="3762375"/>
            <a:ext cx="4905375" cy="1114425"/>
          </a:xfrm>
          <a:prstGeom prst="bentConnector4">
            <a:avLst>
              <a:gd name="adj1" fmla="val 0"/>
              <a:gd name="adj2" fmla="val 50000"/>
            </a:avLst>
          </a:prstGeom>
          <a:ln w="28575">
            <a:solidFill>
              <a:srgbClr val="0D9488"/>
            </a:solidFill>
            <a:tailEnd type="triangle" w="med" len="med"/>
          </a:ln>
        </p:spPr>
      </p:cxnSp>
      <p:cxnSp>
        <p:nvCxnSpPr>
          <p:cNvPr id="31" name="Straight Arrow Connector 30"/>
          <p:cNvCxnSpPr>
            <a:stCxn id="16" idx="3"/>
            <a:endCxn id="17" idx="1"/>
          </p:cNvCxnSpPr>
          <p:nvPr/>
        </p:nvCxnSpPr>
        <p:spPr>
          <a:xfrm>
            <a:off x="11858625" y="5448300"/>
            <a:ext cx="714375" cy="4763"/>
          </a:xfrm>
          <a:prstGeom prst="straightConnector1">
            <a:avLst/>
          </a:prstGeom>
          <a:ln w="28575">
            <a:solidFill>
              <a:srgbClr val="2563EB"/>
            </a:solidFill>
            <a:tailEnd type="triangle" w="med" len="med"/>
          </a:ln>
        </p:spPr>
      </p:cxnSp>
      <p:cxnSp>
        <p:nvCxnSpPr>
          <p:cNvPr id="32" name="Straight Arrow Connector 31"/>
          <p:cNvCxnSpPr>
            <a:stCxn id="15" idx="3"/>
            <a:endCxn id="16" idx="1"/>
          </p:cNvCxnSpPr>
          <p:nvPr/>
        </p:nvCxnSpPr>
        <p:spPr>
          <a:xfrm>
            <a:off x="8572500" y="5448300"/>
            <a:ext cx="714375" cy="0"/>
          </a:xfrm>
          <a:prstGeom prst="straightConnector1">
            <a:avLst/>
          </a:prstGeom>
          <a:ln w="28575">
            <a:solidFill>
              <a:srgbClr val="0D9488"/>
            </a:solidFill>
            <a:tailEnd type="triangle" w="med" len="med"/>
          </a:ln>
        </p:spPr>
      </p:cxnSp>
      <p:cxnSp>
        <p:nvCxnSpPr>
          <p:cNvPr id="33" name="Straight Arrow Connector 32"/>
          <p:cNvCxnSpPr>
            <a:stCxn id="14" idx="3"/>
            <a:endCxn id="15" idx="1"/>
          </p:cNvCxnSpPr>
          <p:nvPr/>
        </p:nvCxnSpPr>
        <p:spPr>
          <a:xfrm flipV="1">
            <a:off x="5476875" y="5448300"/>
            <a:ext cx="619125" cy="4763"/>
          </a:xfrm>
          <a:prstGeom prst="straightConnector1">
            <a:avLst/>
          </a:prstGeom>
          <a:ln w="28575">
            <a:solidFill>
              <a:srgbClr val="0D9488"/>
            </a:solidFill>
            <a:tailEnd type="triangle" w="med" len="med"/>
          </a:ln>
        </p:spPr>
      </p:cxnSp>
      <p:cxnSp>
        <p:nvCxnSpPr>
          <p:cNvPr id="34" name="Straight Arrow Connector 33"/>
          <p:cNvCxnSpPr>
            <a:stCxn id="13" idx="3"/>
            <a:endCxn id="14" idx="1"/>
          </p:cNvCxnSpPr>
          <p:nvPr/>
        </p:nvCxnSpPr>
        <p:spPr>
          <a:xfrm>
            <a:off x="2762250" y="5453063"/>
            <a:ext cx="571500" cy="0"/>
          </a:xfrm>
          <a:prstGeom prst="straightConnector1">
            <a:avLst/>
          </a:prstGeom>
          <a:ln w="28575">
            <a:solidFill>
              <a:srgbClr val="2563EB"/>
            </a:solidFill>
            <a:tailEnd type="triangle" w="med" len="med"/>
          </a:ln>
        </p:spPr>
      </p:cxnSp>
      <p:cxnSp>
        <p:nvCxnSpPr>
          <p:cNvPr id="35" name="Straight Arrow Connector 34"/>
          <p:cNvCxnSpPr>
            <a:stCxn id="7" idx="3"/>
            <a:endCxn id="8" idx="1"/>
          </p:cNvCxnSpPr>
          <p:nvPr/>
        </p:nvCxnSpPr>
        <p:spPr>
          <a:xfrm>
            <a:off x="9096375" y="3133725"/>
            <a:ext cx="1190625" cy="0"/>
          </a:xfrm>
          <a:prstGeom prst="straightConnector1">
            <a:avLst/>
          </a:prstGeom>
          <a:ln w="28575">
            <a:solidFill>
              <a:srgbClr val="0D9488"/>
            </a:solidFill>
            <a:tailEnd type="triangle" w="med" len="med"/>
          </a:ln>
        </p:spPr>
      </p:cxnSp>
      <p:cxnSp>
        <p:nvCxnSpPr>
          <p:cNvPr id="36" name="Straight Arrow Connector 35"/>
          <p:cNvCxnSpPr>
            <a:stCxn id="6" idx="3"/>
            <a:endCxn id="7" idx="1"/>
          </p:cNvCxnSpPr>
          <p:nvPr/>
        </p:nvCxnSpPr>
        <p:spPr>
          <a:xfrm>
            <a:off x="6000750" y="3133725"/>
            <a:ext cx="762000" cy="0"/>
          </a:xfrm>
          <a:prstGeom prst="straightConnector1">
            <a:avLst/>
          </a:prstGeom>
          <a:ln w="28575">
            <a:solidFill>
              <a:srgbClr val="2563EB"/>
            </a:solidFill>
            <a:tailEnd type="triangle" w="med" len="med"/>
          </a:ln>
        </p:spPr>
      </p:cxnSp>
      <p:cxnSp>
        <p:nvCxnSpPr>
          <p:cNvPr id="37" name="Straight Arrow Connector 36"/>
          <p:cNvCxnSpPr>
            <a:stCxn id="5" idx="3"/>
            <a:endCxn id="6" idx="1"/>
          </p:cNvCxnSpPr>
          <p:nvPr/>
        </p:nvCxnSpPr>
        <p:spPr>
          <a:xfrm>
            <a:off x="3000375" y="3133725"/>
            <a:ext cx="714375" cy="0"/>
          </a:xfrm>
          <a:prstGeom prst="straightConnector1">
            <a:avLst/>
          </a:prstGeom>
          <a:ln w="28575">
            <a:solidFill>
              <a:srgbClr val="2563EB"/>
            </a:solidFill>
            <a:tailEnd type="triangle" w="med" len="med"/>
          </a:ln>
        </p:spPr>
      </p:cxnSp>
      <p:sp>
        <p:nvSpPr>
          <p:cNvPr id="38" name="text_110">
            <a:extLst>
              <a:ext uri="{FF2B5EF4-FFF2-40B4-BE49-F238E27FC236}">
                <a16:creationId xmlns:a16="http://schemas.microsoft.com/office/drawing/2014/main" id="{10A3B7ED-69C6-4A04-9AE6-E8E30B41FE24}"/>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02 • THE ARCHITECTURE</a:t>
            </a:r>
          </a:p>
        </p:txBody>
      </p:sp>
      <p:sp>
        <p:nvSpPr>
          <p:cNvPr id="2" name="text_111">
            <a:extLst>
              <a:ext uri="{FF2B5EF4-FFF2-40B4-BE49-F238E27FC236}">
                <a16:creationId xmlns:a16="http://schemas.microsoft.com/office/drawing/2014/main" id="{B00ED61E-E777-4F88-96EA-9C5B746BAB93}"/>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RAG: retrieve evidence, then generate</a:t>
            </a:r>
          </a:p>
        </p:txBody>
      </p:sp>
      <p:sp>
        <p:nvSpPr>
          <p:cNvPr id="3" name="text_112">
            <a:extLst>
              <a:ext uri="{FF2B5EF4-FFF2-40B4-BE49-F238E27FC236}">
                <a16:creationId xmlns:a16="http://schemas.microsoft.com/office/drawing/2014/main" id="{6E7DFA07-CF6F-4015-AA58-53F341E40339}"/>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09 / 22</a:t>
            </a:r>
          </a:p>
        </p:txBody>
      </p:sp>
      <p:sp>
        <p:nvSpPr>
          <p:cNvPr id="4" name="text_113">
            <a:extLst>
              <a:ext uri="{FF2B5EF4-FFF2-40B4-BE49-F238E27FC236}">
                <a16:creationId xmlns:a16="http://schemas.microsoft.com/office/drawing/2014/main" id="{6A17B44C-0DBD-4855-96A7-8458988506C4}"/>
              </a:ext>
            </a:extLst>
          </p:cNvPr>
          <p:cNvSpPr>
            <a:spLocks noGrp="1"/>
          </p:cNvSpPr>
          <p:nvPr/>
        </p:nvSpPr>
        <p:spPr>
          <a:xfrm>
            <a:off x="714375" y="1924050"/>
            <a:ext cx="123825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PREPARE THE SOURCES</a:t>
            </a:r>
          </a:p>
        </p:txBody>
      </p:sp>
      <p:sp>
        <p:nvSpPr>
          <p:cNvPr id="5" name="Source_documents_114">
            <a:extLst>
              <a:ext uri="{FF2B5EF4-FFF2-40B4-BE49-F238E27FC236}">
                <a16:creationId xmlns:a16="http://schemas.microsoft.com/office/drawing/2014/main" id="{426359B2-3F54-4C6D-8CF7-4EA97CB09A55}"/>
              </a:ext>
            </a:extLst>
          </p:cNvPr>
          <p:cNvSpPr>
            <a:spLocks noGrp="1"/>
          </p:cNvSpPr>
          <p:nvPr/>
        </p:nvSpPr>
        <p:spPr>
          <a:xfrm>
            <a:off x="714375" y="2619375"/>
            <a:ext cx="2286000" cy="1028700"/>
          </a:xfrm>
          <a:prstGeom prst="roundRect">
            <a:avLst>
              <a:gd name="adj" fmla="val 7407"/>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Source</a:t>
            </a:r>
          </a:p>
          <a:p>
            <a:pPr algn="ctr">
              <a:defRPr sz="2175">
                <a:solidFill>
                  <a:srgbClr val="10233F"/>
                </a:solidFill>
                <a:latin typeface="Arial"/>
                <a:ea typeface="Arial"/>
                <a:cs typeface="Arial"/>
              </a:defRPr>
            </a:pPr>
            <a:r>
              <a:rPr sz="2175">
                <a:solidFill>
                  <a:srgbClr val="10233F"/>
                </a:solidFill>
                <a:latin typeface="Arial"/>
                <a:ea typeface="Arial"/>
                <a:cs typeface="Arial"/>
              </a:rPr>
              <a:t>documents</a:t>
            </a:r>
          </a:p>
        </p:txBody>
      </p:sp>
      <p:sp>
        <p:nvSpPr>
          <p:cNvPr id="6" name="Text_chunks_115">
            <a:extLst>
              <a:ext uri="{FF2B5EF4-FFF2-40B4-BE49-F238E27FC236}">
                <a16:creationId xmlns:a16="http://schemas.microsoft.com/office/drawing/2014/main" id="{D8A7E42E-1494-4B14-B941-202B6C950BB9}"/>
              </a:ext>
            </a:extLst>
          </p:cNvPr>
          <p:cNvSpPr>
            <a:spLocks noGrp="1"/>
          </p:cNvSpPr>
          <p:nvPr/>
        </p:nvSpPr>
        <p:spPr>
          <a:xfrm>
            <a:off x="3714750" y="2619375"/>
            <a:ext cx="2286000" cy="1028700"/>
          </a:xfrm>
          <a:prstGeom prst="roundRect">
            <a:avLst>
              <a:gd name="adj" fmla="val 7407"/>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Text chunks</a:t>
            </a:r>
          </a:p>
        </p:txBody>
      </p:sp>
      <p:sp>
        <p:nvSpPr>
          <p:cNvPr id="7" name="Embedding_model_116">
            <a:extLst>
              <a:ext uri="{FF2B5EF4-FFF2-40B4-BE49-F238E27FC236}">
                <a16:creationId xmlns:a16="http://schemas.microsoft.com/office/drawing/2014/main" id="{EA5F0C4A-F284-4FE0-89DE-E554C465B19A}"/>
              </a:ext>
            </a:extLst>
          </p:cNvPr>
          <p:cNvSpPr>
            <a:spLocks noGrp="1"/>
          </p:cNvSpPr>
          <p:nvPr/>
        </p:nvSpPr>
        <p:spPr>
          <a:xfrm>
            <a:off x="6762750" y="2619375"/>
            <a:ext cx="2333625" cy="1028700"/>
          </a:xfrm>
          <a:prstGeom prst="roundRect">
            <a:avLst>
              <a:gd name="adj" fmla="val 7407"/>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Embedding</a:t>
            </a:r>
          </a:p>
          <a:p>
            <a:pPr algn="ctr">
              <a:defRPr sz="2175">
                <a:solidFill>
                  <a:srgbClr val="10233F"/>
                </a:solidFill>
                <a:latin typeface="Arial"/>
                <a:ea typeface="Arial"/>
                <a:cs typeface="Arial"/>
              </a:defRPr>
            </a:pPr>
            <a:r>
              <a:rPr sz="2175">
                <a:solidFill>
                  <a:srgbClr val="10233F"/>
                </a:solidFill>
                <a:latin typeface="Arial"/>
                <a:ea typeface="Arial"/>
                <a:cs typeface="Arial"/>
              </a:rPr>
              <a:t>model</a:t>
            </a:r>
          </a:p>
        </p:txBody>
      </p:sp>
      <p:sp>
        <p:nvSpPr>
          <p:cNvPr id="8" name="Vector_database_text_source_links_117">
            <a:extLst>
              <a:ext uri="{FF2B5EF4-FFF2-40B4-BE49-F238E27FC236}">
                <a16:creationId xmlns:a16="http://schemas.microsoft.com/office/drawing/2014/main" id="{C33458FA-2661-4FC8-A967-A716A63A3E29}"/>
              </a:ext>
            </a:extLst>
          </p:cNvPr>
          <p:cNvSpPr>
            <a:spLocks noGrp="1"/>
          </p:cNvSpPr>
          <p:nvPr/>
        </p:nvSpPr>
        <p:spPr>
          <a:xfrm>
            <a:off x="10287000" y="2505075"/>
            <a:ext cx="3905250" cy="1257300"/>
          </a:xfrm>
          <a:prstGeom prst="roundRect">
            <a:avLst>
              <a:gd name="adj" fmla="val 6061"/>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Vector database</a:t>
            </a:r>
          </a:p>
          <a:p>
            <a:pPr algn="ctr">
              <a:defRPr sz="2175">
                <a:solidFill>
                  <a:srgbClr val="10233F"/>
                </a:solidFill>
                <a:latin typeface="Arial"/>
                <a:ea typeface="Arial"/>
                <a:cs typeface="Arial"/>
              </a:defRPr>
            </a:pPr>
            <a:r>
              <a:rPr sz="2175">
                <a:solidFill>
                  <a:srgbClr val="10233F"/>
                </a:solidFill>
                <a:latin typeface="Arial"/>
                <a:ea typeface="Arial"/>
                <a:cs typeface="Arial"/>
              </a:rPr>
              <a:t>+ text / source links</a:t>
            </a:r>
          </a:p>
        </p:txBody>
      </p:sp>
      <p:sp>
        <p:nvSpPr>
          <p:cNvPr id="12" name="text_118">
            <a:extLst>
              <a:ext uri="{FF2B5EF4-FFF2-40B4-BE49-F238E27FC236}">
                <a16:creationId xmlns:a16="http://schemas.microsoft.com/office/drawing/2014/main" id="{DC199FF4-C06B-4154-8C49-0DA5607380E5}"/>
              </a:ext>
            </a:extLst>
          </p:cNvPr>
          <p:cNvSpPr>
            <a:spLocks noGrp="1"/>
          </p:cNvSpPr>
          <p:nvPr/>
        </p:nvSpPr>
        <p:spPr>
          <a:xfrm>
            <a:off x="714375" y="4238625"/>
            <a:ext cx="123825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ANSWER A QUESTION</a:t>
            </a:r>
          </a:p>
        </p:txBody>
      </p:sp>
      <p:sp>
        <p:nvSpPr>
          <p:cNvPr id="13" name="Question_119">
            <a:extLst>
              <a:ext uri="{FF2B5EF4-FFF2-40B4-BE49-F238E27FC236}">
                <a16:creationId xmlns:a16="http://schemas.microsoft.com/office/drawing/2014/main" id="{8F122CB0-1E84-4544-B243-F43615A13184}"/>
              </a:ext>
            </a:extLst>
          </p:cNvPr>
          <p:cNvSpPr>
            <a:spLocks noGrp="1"/>
          </p:cNvSpPr>
          <p:nvPr/>
        </p:nvSpPr>
        <p:spPr>
          <a:xfrm>
            <a:off x="714375" y="5000625"/>
            <a:ext cx="2047875" cy="904875"/>
          </a:xfrm>
          <a:prstGeom prst="roundRect">
            <a:avLst>
              <a:gd name="adj" fmla="val 8421"/>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Question</a:t>
            </a:r>
          </a:p>
        </p:txBody>
      </p:sp>
      <p:sp>
        <p:nvSpPr>
          <p:cNvPr id="14" name="Query_embedding_120">
            <a:extLst>
              <a:ext uri="{FF2B5EF4-FFF2-40B4-BE49-F238E27FC236}">
                <a16:creationId xmlns:a16="http://schemas.microsoft.com/office/drawing/2014/main" id="{C27D6E48-A3B7-4AAA-9EA9-56C789C11DC5}"/>
              </a:ext>
            </a:extLst>
          </p:cNvPr>
          <p:cNvSpPr>
            <a:spLocks noGrp="1"/>
          </p:cNvSpPr>
          <p:nvPr/>
        </p:nvSpPr>
        <p:spPr>
          <a:xfrm>
            <a:off x="3333750" y="5000625"/>
            <a:ext cx="2143125" cy="904875"/>
          </a:xfrm>
          <a:prstGeom prst="roundRect">
            <a:avLst>
              <a:gd name="adj" fmla="val 8421"/>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Query</a:t>
            </a:r>
          </a:p>
          <a:p>
            <a:pPr algn="ctr">
              <a:defRPr sz="2175">
                <a:solidFill>
                  <a:srgbClr val="10233F"/>
                </a:solidFill>
                <a:latin typeface="Arial"/>
                <a:ea typeface="Arial"/>
                <a:cs typeface="Arial"/>
              </a:defRPr>
            </a:pPr>
            <a:r>
              <a:rPr sz="2175">
                <a:solidFill>
                  <a:srgbClr val="10233F"/>
                </a:solidFill>
                <a:latin typeface="Arial"/>
                <a:ea typeface="Arial"/>
                <a:cs typeface="Arial"/>
              </a:rPr>
              <a:t>embedding</a:t>
            </a:r>
          </a:p>
        </p:txBody>
      </p:sp>
      <p:sp>
        <p:nvSpPr>
          <p:cNvPr id="15" name="Retrieve_relevant_chunks_121">
            <a:extLst>
              <a:ext uri="{FF2B5EF4-FFF2-40B4-BE49-F238E27FC236}">
                <a16:creationId xmlns:a16="http://schemas.microsoft.com/office/drawing/2014/main" id="{0A041162-D05D-4770-A10A-AF312CAE4959}"/>
              </a:ext>
            </a:extLst>
          </p:cNvPr>
          <p:cNvSpPr>
            <a:spLocks noGrp="1"/>
          </p:cNvSpPr>
          <p:nvPr/>
        </p:nvSpPr>
        <p:spPr>
          <a:xfrm>
            <a:off x="6096000" y="4876800"/>
            <a:ext cx="2476500" cy="1143000"/>
          </a:xfrm>
          <a:prstGeom prst="roundRect">
            <a:avLst>
              <a:gd name="adj" fmla="val 6667"/>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Retrieve</a:t>
            </a:r>
          </a:p>
          <a:p>
            <a:pPr algn="ctr">
              <a:defRPr sz="2175">
                <a:solidFill>
                  <a:srgbClr val="10233F"/>
                </a:solidFill>
                <a:latin typeface="Arial"/>
                <a:ea typeface="Arial"/>
                <a:cs typeface="Arial"/>
              </a:defRPr>
            </a:pPr>
            <a:r>
              <a:rPr sz="2175">
                <a:solidFill>
                  <a:srgbClr val="10233F"/>
                </a:solidFill>
                <a:latin typeface="Arial"/>
                <a:ea typeface="Arial"/>
                <a:cs typeface="Arial"/>
              </a:rPr>
              <a:t>relevant chunks</a:t>
            </a:r>
          </a:p>
        </p:txBody>
      </p:sp>
      <p:sp>
        <p:nvSpPr>
          <p:cNvPr id="16" name="Prompt_question_evidence_122">
            <a:extLst>
              <a:ext uri="{FF2B5EF4-FFF2-40B4-BE49-F238E27FC236}">
                <a16:creationId xmlns:a16="http://schemas.microsoft.com/office/drawing/2014/main" id="{4A47E563-7D5C-4A57-AF61-024482E2F9EA}"/>
              </a:ext>
            </a:extLst>
          </p:cNvPr>
          <p:cNvSpPr>
            <a:spLocks noGrp="1"/>
          </p:cNvSpPr>
          <p:nvPr/>
        </p:nvSpPr>
        <p:spPr>
          <a:xfrm>
            <a:off x="9286875" y="4876800"/>
            <a:ext cx="2571750" cy="1143000"/>
          </a:xfrm>
          <a:prstGeom prst="roundRect">
            <a:avLst>
              <a:gd name="adj" fmla="val 6667"/>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Prompt</a:t>
            </a:r>
          </a:p>
          <a:p>
            <a:pPr algn="ctr">
              <a:defRPr sz="2175">
                <a:solidFill>
                  <a:srgbClr val="10233F"/>
                </a:solidFill>
                <a:latin typeface="Arial"/>
                <a:ea typeface="Arial"/>
                <a:cs typeface="Arial"/>
              </a:defRPr>
            </a:pPr>
            <a:r>
              <a:rPr sz="2175">
                <a:solidFill>
                  <a:srgbClr val="10233F"/>
                </a:solidFill>
                <a:latin typeface="Arial"/>
                <a:ea typeface="Arial"/>
                <a:cs typeface="Arial"/>
              </a:rPr>
              <a:t>question + evidence</a:t>
            </a:r>
          </a:p>
        </p:txBody>
      </p:sp>
      <p:sp>
        <p:nvSpPr>
          <p:cNvPr id="17" name="LLM_123">
            <a:extLst>
              <a:ext uri="{FF2B5EF4-FFF2-40B4-BE49-F238E27FC236}">
                <a16:creationId xmlns:a16="http://schemas.microsoft.com/office/drawing/2014/main" id="{F56DF971-68E4-4F1E-B65D-251770CF45CB}"/>
              </a:ext>
            </a:extLst>
          </p:cNvPr>
          <p:cNvSpPr>
            <a:spLocks noGrp="1"/>
          </p:cNvSpPr>
          <p:nvPr/>
        </p:nvSpPr>
        <p:spPr>
          <a:xfrm>
            <a:off x="12573000" y="5000625"/>
            <a:ext cx="1619250" cy="904875"/>
          </a:xfrm>
          <a:prstGeom prst="roundRect">
            <a:avLst>
              <a:gd name="adj" fmla="val 8421"/>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LLM</a:t>
            </a:r>
          </a:p>
        </p:txBody>
      </p:sp>
      <p:sp>
        <p:nvSpPr>
          <p:cNvPr id="24" name="Answer_sources_124">
            <a:extLst>
              <a:ext uri="{FF2B5EF4-FFF2-40B4-BE49-F238E27FC236}">
                <a16:creationId xmlns:a16="http://schemas.microsoft.com/office/drawing/2014/main" id="{B4109403-22C8-4D73-B8D8-8B36B52FC995}"/>
              </a:ext>
            </a:extLst>
          </p:cNvPr>
          <p:cNvSpPr>
            <a:spLocks noGrp="1"/>
          </p:cNvSpPr>
          <p:nvPr/>
        </p:nvSpPr>
        <p:spPr>
          <a:xfrm>
            <a:off x="12287250" y="6781800"/>
            <a:ext cx="2190750" cy="857250"/>
          </a:xfrm>
          <a:prstGeom prst="roundRect">
            <a:avLst>
              <a:gd name="adj" fmla="val 8889"/>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Answer</a:t>
            </a:r>
          </a:p>
          <a:p>
            <a:pPr algn="ctr">
              <a:defRPr sz="2175">
                <a:solidFill>
                  <a:srgbClr val="10233F"/>
                </a:solidFill>
                <a:latin typeface="Arial"/>
                <a:ea typeface="Arial"/>
                <a:cs typeface="Arial"/>
              </a:defRPr>
            </a:pPr>
            <a:r>
              <a:rPr sz="2175">
                <a:solidFill>
                  <a:srgbClr val="10233F"/>
                </a:solidFill>
                <a:latin typeface="Arial"/>
                <a:ea typeface="Arial"/>
                <a:cs typeface="Arial"/>
              </a:rPr>
              <a:t>+ sources</a:t>
            </a:r>
          </a:p>
        </p:txBody>
      </p:sp>
      <p:sp>
        <p:nvSpPr>
          <p:cNvPr id="26" name="text_125">
            <a:extLst>
              <a:ext uri="{FF2B5EF4-FFF2-40B4-BE49-F238E27FC236}">
                <a16:creationId xmlns:a16="http://schemas.microsoft.com/office/drawing/2014/main" id="{9A2D646C-7104-4C5A-B693-FC6E66C20D15}"/>
              </a:ext>
            </a:extLst>
          </p:cNvPr>
          <p:cNvSpPr>
            <a:spLocks noGrp="1"/>
          </p:cNvSpPr>
          <p:nvPr/>
        </p:nvSpPr>
        <p:spPr>
          <a:xfrm>
            <a:off x="4762500" y="6724650"/>
            <a:ext cx="3810000" cy="333375"/>
          </a:xfrm>
          <a:prstGeom prst="rect">
            <a:avLst/>
          </a:prstGeom>
          <a:noFill/>
          <a:ln w="0">
            <a:noFill/>
          </a:ln>
        </p:spPr>
        <p:txBody>
          <a:bodyPr anchor="t">
            <a:noAutofit/>
          </a:bodyPr>
          <a:lstStyle/>
          <a:p>
            <a:pPr>
              <a:defRPr sz="1650" b="0">
                <a:solidFill>
                  <a:srgbClr val="2563EB"/>
                </a:solidFill>
                <a:latin typeface="Arial"/>
                <a:ea typeface="Arial"/>
                <a:cs typeface="Arial"/>
              </a:defRPr>
            </a:pPr>
            <a:r>
              <a:rPr sz="1650" b="0">
                <a:solidFill>
                  <a:srgbClr val="2563EB"/>
                </a:solidFill>
                <a:latin typeface="Arial"/>
                <a:ea typeface="Arial"/>
                <a:cs typeface="Arial"/>
              </a:rPr>
              <a:t>Original question</a:t>
            </a:r>
          </a:p>
        </p:txBody>
      </p:sp>
      <p:sp>
        <p:nvSpPr>
          <p:cNvPr id="27" name="text_126">
            <a:extLst>
              <a:ext uri="{FF2B5EF4-FFF2-40B4-BE49-F238E27FC236}">
                <a16:creationId xmlns:a16="http://schemas.microsoft.com/office/drawing/2014/main" id="{F38B51A1-C159-439D-9696-998859088492}"/>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RAG = Retrieval-Augmented Generation. Retrieved text enters the prompt; the model is not retrained.</a:t>
            </a:r>
          </a:p>
        </p:txBody>
      </p:sp>
    </p:spTree>
    <p:extLst>
      <p:ext uri="{BB962C8B-B14F-4D97-AF65-F5344CB8AC3E}">
        <p14:creationId xmlns:p14="http://schemas.microsoft.com/office/powerpoint/2010/main" val="553729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7" name="Straight Arrow Connector 16"/>
          <p:cNvCxnSpPr>
            <a:stCxn id="5" idx="2"/>
            <a:endCxn id="6" idx="0"/>
          </p:cNvCxnSpPr>
          <p:nvPr/>
        </p:nvCxnSpPr>
        <p:spPr>
          <a:xfrm>
            <a:off x="2690813" y="5334000"/>
            <a:ext cx="0" cy="619125"/>
          </a:xfrm>
          <a:prstGeom prst="straightConnector1">
            <a:avLst/>
          </a:prstGeom>
          <a:ln w="28575">
            <a:solidFill>
              <a:srgbClr val="0D9488"/>
            </a:solidFill>
            <a:tailEnd type="triangle" w="med" len="med"/>
          </a:ln>
        </p:spPr>
      </p:cxnSp>
      <p:cxnSp>
        <p:nvCxnSpPr>
          <p:cNvPr id="18" name="Straight Arrow Connector 17"/>
          <p:cNvCxnSpPr>
            <a:stCxn id="4" idx="2"/>
            <a:endCxn id="5" idx="0"/>
          </p:cNvCxnSpPr>
          <p:nvPr/>
        </p:nvCxnSpPr>
        <p:spPr>
          <a:xfrm>
            <a:off x="2690813" y="3810000"/>
            <a:ext cx="0" cy="619125"/>
          </a:xfrm>
          <a:prstGeom prst="straightConnector1">
            <a:avLst/>
          </a:prstGeom>
          <a:ln w="28575">
            <a:solidFill>
              <a:srgbClr val="0D9488"/>
            </a:solidFill>
            <a:tailEnd type="triangle" w="med" len="med"/>
          </a:ln>
        </p:spPr>
      </p:cxnSp>
      <p:sp>
        <p:nvSpPr>
          <p:cNvPr id="19" name="text_127">
            <a:extLst>
              <a:ext uri="{FF2B5EF4-FFF2-40B4-BE49-F238E27FC236}">
                <a16:creationId xmlns:a16="http://schemas.microsoft.com/office/drawing/2014/main" id="{20A748CC-CCE7-40FB-A72E-5C82842B51DA}"/>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02 • INSIDE RETRIEVAL</a:t>
            </a:r>
          </a:p>
        </p:txBody>
      </p:sp>
      <p:sp>
        <p:nvSpPr>
          <p:cNvPr id="2" name="text_128">
            <a:extLst>
              <a:ext uri="{FF2B5EF4-FFF2-40B4-BE49-F238E27FC236}">
                <a16:creationId xmlns:a16="http://schemas.microsoft.com/office/drawing/2014/main" id="{7538F824-439E-463F-9D06-1880944AF1CA}"/>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Embeddings make meaning searchable</a:t>
            </a:r>
          </a:p>
        </p:txBody>
      </p:sp>
      <p:sp>
        <p:nvSpPr>
          <p:cNvPr id="3" name="text_129">
            <a:extLst>
              <a:ext uri="{FF2B5EF4-FFF2-40B4-BE49-F238E27FC236}">
                <a16:creationId xmlns:a16="http://schemas.microsoft.com/office/drawing/2014/main" id="{8FDB8BE3-0317-4B4D-95C4-263DC4D9C788}"/>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10 / 22</a:t>
            </a:r>
          </a:p>
        </p:txBody>
      </p:sp>
      <p:sp>
        <p:nvSpPr>
          <p:cNvPr id="4" name="_Where_is_the_hackathon_venue__130">
            <a:extLst>
              <a:ext uri="{FF2B5EF4-FFF2-40B4-BE49-F238E27FC236}">
                <a16:creationId xmlns:a16="http://schemas.microsoft.com/office/drawing/2014/main" id="{591A231E-068D-45CC-BB28-D4711410DD2E}"/>
              </a:ext>
            </a:extLst>
          </p:cNvPr>
          <p:cNvSpPr>
            <a:spLocks noGrp="1"/>
          </p:cNvSpPr>
          <p:nvPr/>
        </p:nvSpPr>
        <p:spPr>
          <a:xfrm>
            <a:off x="714375" y="2571750"/>
            <a:ext cx="3952875" cy="1238250"/>
          </a:xfrm>
          <a:prstGeom prst="roundRect">
            <a:avLst>
              <a:gd name="adj" fmla="val 6154"/>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“Where is the</a:t>
            </a:r>
          </a:p>
          <a:p>
            <a:pPr algn="ctr">
              <a:defRPr sz="2175">
                <a:solidFill>
                  <a:srgbClr val="10233F"/>
                </a:solidFill>
                <a:latin typeface="Arial"/>
                <a:ea typeface="Arial"/>
                <a:cs typeface="Arial"/>
              </a:defRPr>
            </a:pPr>
            <a:r>
              <a:rPr sz="2175">
                <a:solidFill>
                  <a:srgbClr val="10233F"/>
                </a:solidFill>
                <a:latin typeface="Arial"/>
                <a:ea typeface="Arial"/>
                <a:cs typeface="Arial"/>
              </a:rPr>
              <a:t>hackathon venue?”</a:t>
            </a:r>
          </a:p>
        </p:txBody>
      </p:sp>
      <p:sp>
        <p:nvSpPr>
          <p:cNvPr id="5" name="Embedding_model_131">
            <a:extLst>
              <a:ext uri="{FF2B5EF4-FFF2-40B4-BE49-F238E27FC236}">
                <a16:creationId xmlns:a16="http://schemas.microsoft.com/office/drawing/2014/main" id="{211100DB-1441-46DC-B953-FCECAB5F216D}"/>
              </a:ext>
            </a:extLst>
          </p:cNvPr>
          <p:cNvSpPr>
            <a:spLocks noGrp="1"/>
          </p:cNvSpPr>
          <p:nvPr/>
        </p:nvSpPr>
        <p:spPr>
          <a:xfrm>
            <a:off x="714375" y="4429125"/>
            <a:ext cx="3952875" cy="904875"/>
          </a:xfrm>
          <a:prstGeom prst="roundRect">
            <a:avLst>
              <a:gd name="adj" fmla="val 8421"/>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Embedding model</a:t>
            </a:r>
          </a:p>
        </p:txBody>
      </p:sp>
      <p:sp>
        <p:nvSpPr>
          <p:cNvPr id="6" name="_0_12_0_37_0_81__132">
            <a:extLst>
              <a:ext uri="{FF2B5EF4-FFF2-40B4-BE49-F238E27FC236}">
                <a16:creationId xmlns:a16="http://schemas.microsoft.com/office/drawing/2014/main" id="{4F0B4136-C0C8-4052-99C1-F292C572EEE3}"/>
              </a:ext>
            </a:extLst>
          </p:cNvPr>
          <p:cNvSpPr>
            <a:spLocks noGrp="1"/>
          </p:cNvSpPr>
          <p:nvPr/>
        </p:nvSpPr>
        <p:spPr>
          <a:xfrm>
            <a:off x="714375" y="5953125"/>
            <a:ext cx="3952875" cy="904875"/>
          </a:xfrm>
          <a:prstGeom prst="roundRect">
            <a:avLst>
              <a:gd name="adj" fmla="val 8421"/>
            </a:avLst>
          </a:prstGeom>
          <a:solidFill>
            <a:srgbClr val="FFFFF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[0.12, −0.37, 0.81, …]</a:t>
            </a:r>
          </a:p>
        </p:txBody>
      </p:sp>
      <p:sp>
        <p:nvSpPr>
          <p:cNvPr id="9" name="shape_133">
            <a:extLst>
              <a:ext uri="{FF2B5EF4-FFF2-40B4-BE49-F238E27FC236}">
                <a16:creationId xmlns:a16="http://schemas.microsoft.com/office/drawing/2014/main" id="{D75C58FD-8EED-419D-92BF-3FEA558F0FC6}"/>
              </a:ext>
            </a:extLst>
          </p:cNvPr>
          <p:cNvSpPr>
            <a:spLocks noGrp="1"/>
          </p:cNvSpPr>
          <p:nvPr/>
        </p:nvSpPr>
        <p:spPr>
          <a:xfrm>
            <a:off x="6048375" y="2238375"/>
            <a:ext cx="8286750" cy="4810125"/>
          </a:xfrm>
          <a:prstGeom prst="roundRect">
            <a:avLst>
              <a:gd name="adj" fmla="val 1584"/>
            </a:avLst>
          </a:prstGeom>
          <a:solidFill>
            <a:srgbClr val="FFFFFF"/>
          </a:solidFill>
          <a:ln w="19050">
            <a:solidFill>
              <a:srgbClr val="CBD5E1"/>
            </a:solidFill>
          </a:ln>
        </p:spPr>
      </p:sp>
      <p:sp>
        <p:nvSpPr>
          <p:cNvPr id="10" name="text_134">
            <a:extLst>
              <a:ext uri="{FF2B5EF4-FFF2-40B4-BE49-F238E27FC236}">
                <a16:creationId xmlns:a16="http://schemas.microsoft.com/office/drawing/2014/main" id="{A822B959-4F5E-499F-A33B-006C26739F2A}"/>
              </a:ext>
            </a:extLst>
          </p:cNvPr>
          <p:cNvSpPr>
            <a:spLocks noGrp="1"/>
          </p:cNvSpPr>
          <p:nvPr/>
        </p:nvSpPr>
        <p:spPr>
          <a:xfrm>
            <a:off x="6381750" y="2533650"/>
            <a:ext cx="752475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A MAP OF SIMILAR MEANINGS</a:t>
            </a:r>
          </a:p>
        </p:txBody>
      </p:sp>
      <p:sp>
        <p:nvSpPr>
          <p:cNvPr id="11" name="Where_is_the_venue__135">
            <a:extLst>
              <a:ext uri="{FF2B5EF4-FFF2-40B4-BE49-F238E27FC236}">
                <a16:creationId xmlns:a16="http://schemas.microsoft.com/office/drawing/2014/main" id="{7DC68864-216B-4918-860E-4327AECE7718}"/>
              </a:ext>
            </a:extLst>
          </p:cNvPr>
          <p:cNvSpPr>
            <a:spLocks noGrp="1"/>
          </p:cNvSpPr>
          <p:nvPr/>
        </p:nvSpPr>
        <p:spPr>
          <a:xfrm>
            <a:off x="6953250" y="3619500"/>
            <a:ext cx="3095625" cy="762000"/>
          </a:xfrm>
          <a:prstGeom prst="roundRect">
            <a:avLst>
              <a:gd name="adj" fmla="val 10000"/>
            </a:avLst>
          </a:prstGeom>
          <a:solidFill>
            <a:srgbClr val="E1F3EF"/>
          </a:solidFill>
          <a:ln w="19050">
            <a:solidFill>
              <a:srgbClr val="0D9488"/>
            </a:solidFill>
          </a:ln>
        </p:spPr>
        <p:txBody>
          <a:bodyPr anchor="ctr">
            <a:noAutofit/>
          </a:bodyPr>
          <a:lstStyle/>
          <a:p>
            <a:pPr algn="ctr">
              <a:defRPr sz="1950">
                <a:solidFill>
                  <a:srgbClr val="10233F"/>
                </a:solidFill>
                <a:latin typeface="Arial"/>
                <a:ea typeface="Arial"/>
                <a:cs typeface="Arial"/>
              </a:defRPr>
            </a:pPr>
            <a:r>
              <a:rPr sz="1950">
                <a:solidFill>
                  <a:srgbClr val="10233F"/>
                </a:solidFill>
                <a:latin typeface="Arial"/>
                <a:ea typeface="Arial"/>
                <a:cs typeface="Arial"/>
              </a:rPr>
              <a:t>Where is the venue?</a:t>
            </a:r>
          </a:p>
        </p:txBody>
      </p:sp>
      <p:sp>
        <p:nvSpPr>
          <p:cNvPr id="12" name="Event_location_136">
            <a:extLst>
              <a:ext uri="{FF2B5EF4-FFF2-40B4-BE49-F238E27FC236}">
                <a16:creationId xmlns:a16="http://schemas.microsoft.com/office/drawing/2014/main" id="{024A3B56-6A1C-4FDC-A9F1-3D053FC94B5C}"/>
              </a:ext>
            </a:extLst>
          </p:cNvPr>
          <p:cNvSpPr>
            <a:spLocks noGrp="1"/>
          </p:cNvSpPr>
          <p:nvPr/>
        </p:nvSpPr>
        <p:spPr>
          <a:xfrm>
            <a:off x="9382125" y="4524375"/>
            <a:ext cx="2714625" cy="762000"/>
          </a:xfrm>
          <a:prstGeom prst="roundRect">
            <a:avLst>
              <a:gd name="adj" fmla="val 10000"/>
            </a:avLst>
          </a:prstGeom>
          <a:solidFill>
            <a:srgbClr val="E1F3EF"/>
          </a:solidFill>
          <a:ln w="19050">
            <a:solidFill>
              <a:srgbClr val="0D9488"/>
            </a:solidFill>
          </a:ln>
        </p:spPr>
        <p:txBody>
          <a:bodyPr anchor="ctr">
            <a:noAutofit/>
          </a:bodyPr>
          <a:lstStyle/>
          <a:p>
            <a:pPr algn="ctr">
              <a:defRPr sz="2025">
                <a:solidFill>
                  <a:srgbClr val="10233F"/>
                </a:solidFill>
                <a:latin typeface="Arial"/>
                <a:ea typeface="Arial"/>
                <a:cs typeface="Arial"/>
              </a:defRPr>
            </a:pPr>
            <a:r>
              <a:rPr sz="2025">
                <a:solidFill>
                  <a:srgbClr val="10233F"/>
                </a:solidFill>
                <a:latin typeface="Arial"/>
                <a:ea typeface="Arial"/>
                <a:cs typeface="Arial"/>
              </a:rPr>
              <a:t>Event location</a:t>
            </a:r>
          </a:p>
        </p:txBody>
      </p:sp>
      <p:sp>
        <p:nvSpPr>
          <p:cNvPr id="13" name="Team_size_limit_137">
            <a:extLst>
              <a:ext uri="{FF2B5EF4-FFF2-40B4-BE49-F238E27FC236}">
                <a16:creationId xmlns:a16="http://schemas.microsoft.com/office/drawing/2014/main" id="{327E401B-F38A-4073-B461-AB8D5BF9E542}"/>
              </a:ext>
            </a:extLst>
          </p:cNvPr>
          <p:cNvSpPr>
            <a:spLocks noGrp="1"/>
          </p:cNvSpPr>
          <p:nvPr/>
        </p:nvSpPr>
        <p:spPr>
          <a:xfrm>
            <a:off x="11191875" y="6143625"/>
            <a:ext cx="2762250" cy="666750"/>
          </a:xfrm>
          <a:prstGeom prst="roundRect">
            <a:avLst>
              <a:gd name="adj" fmla="val 11429"/>
            </a:avLst>
          </a:prstGeom>
          <a:solidFill>
            <a:srgbClr val="E8EFFD"/>
          </a:solidFill>
          <a:ln w="19050">
            <a:solidFill>
              <a:srgbClr val="2563EB"/>
            </a:solidFill>
          </a:ln>
        </p:spPr>
        <p:txBody>
          <a:bodyPr anchor="ctr">
            <a:noAutofit/>
          </a:bodyPr>
          <a:lstStyle/>
          <a:p>
            <a:pPr algn="ctr">
              <a:defRPr sz="1950">
                <a:solidFill>
                  <a:srgbClr val="10233F"/>
                </a:solidFill>
                <a:latin typeface="Arial"/>
                <a:ea typeface="Arial"/>
                <a:cs typeface="Arial"/>
              </a:defRPr>
            </a:pPr>
            <a:r>
              <a:rPr sz="1950">
                <a:solidFill>
                  <a:srgbClr val="10233F"/>
                </a:solidFill>
                <a:latin typeface="Arial"/>
                <a:ea typeface="Arial"/>
                <a:cs typeface="Arial"/>
              </a:rPr>
              <a:t>Team size limit</a:t>
            </a:r>
          </a:p>
        </p:txBody>
      </p:sp>
      <p:sp>
        <p:nvSpPr>
          <p:cNvPr id="14" name="text_138">
            <a:extLst>
              <a:ext uri="{FF2B5EF4-FFF2-40B4-BE49-F238E27FC236}">
                <a16:creationId xmlns:a16="http://schemas.microsoft.com/office/drawing/2014/main" id="{C20D7C45-BF70-4ACD-8731-8E15F2E1CCE9}"/>
              </a:ext>
            </a:extLst>
          </p:cNvPr>
          <p:cNvSpPr>
            <a:spLocks noGrp="1"/>
          </p:cNvSpPr>
          <p:nvPr/>
        </p:nvSpPr>
        <p:spPr>
          <a:xfrm>
            <a:off x="6762750" y="5572125"/>
            <a:ext cx="3762375" cy="876300"/>
          </a:xfrm>
          <a:prstGeom prst="rect">
            <a:avLst/>
          </a:prstGeom>
          <a:noFill/>
          <a:ln w="0">
            <a:noFill/>
          </a:ln>
        </p:spPr>
        <p:txBody>
          <a:bodyPr anchor="t">
            <a:noAutofit/>
          </a:bodyPr>
          <a:lstStyle/>
          <a:p>
            <a:pPr>
              <a:defRPr sz="2175" b="0">
                <a:solidFill>
                  <a:srgbClr val="0D9488"/>
                </a:solidFill>
                <a:latin typeface="Arial"/>
                <a:ea typeface="Arial"/>
                <a:cs typeface="Arial"/>
              </a:defRPr>
            </a:pPr>
            <a:r>
              <a:rPr sz="2175" b="0">
                <a:solidFill>
                  <a:srgbClr val="0D9488"/>
                </a:solidFill>
                <a:latin typeface="Arial"/>
                <a:ea typeface="Arial"/>
                <a:cs typeface="Arial"/>
              </a:rPr>
              <a:t>Similar questions</a:t>
            </a:r>
          </a:p>
          <a:p>
            <a:pPr>
              <a:defRPr sz="2175" b="0">
                <a:solidFill>
                  <a:srgbClr val="0D9488"/>
                </a:solidFill>
                <a:latin typeface="Arial"/>
                <a:ea typeface="Arial"/>
                <a:cs typeface="Arial"/>
              </a:defRPr>
            </a:pPr>
            <a:r>
              <a:rPr sz="2175" b="0">
                <a:solidFill>
                  <a:srgbClr val="0D9488"/>
                </a:solidFill>
                <a:latin typeface="Arial"/>
                <a:ea typeface="Arial"/>
                <a:cs typeface="Arial"/>
              </a:rPr>
              <a:t>cluster together</a:t>
            </a:r>
          </a:p>
        </p:txBody>
      </p:sp>
      <p:sp>
        <p:nvSpPr>
          <p:cNvPr id="15" name="text_139">
            <a:extLst>
              <a:ext uri="{FF2B5EF4-FFF2-40B4-BE49-F238E27FC236}">
                <a16:creationId xmlns:a16="http://schemas.microsoft.com/office/drawing/2014/main" id="{FDDEE2D8-60BD-45BD-B11D-25B54BF71D0B}"/>
              </a:ext>
            </a:extLst>
          </p:cNvPr>
          <p:cNvSpPr>
            <a:spLocks noGrp="1"/>
          </p:cNvSpPr>
          <p:nvPr/>
        </p:nvSpPr>
        <p:spPr>
          <a:xfrm>
            <a:off x="11315700" y="5553075"/>
            <a:ext cx="2667000" cy="428625"/>
          </a:xfrm>
          <a:prstGeom prst="rect">
            <a:avLst/>
          </a:prstGeom>
          <a:noFill/>
          <a:ln w="0">
            <a:noFill/>
          </a:ln>
        </p:spPr>
        <p:txBody>
          <a:bodyPr anchor="t">
            <a:noAutofit/>
          </a:bodyPr>
          <a:lstStyle/>
          <a:p>
            <a:pPr>
              <a:defRPr sz="1875" b="0">
                <a:solidFill>
                  <a:srgbClr val="2563EB"/>
                </a:solidFill>
                <a:latin typeface="Arial"/>
                <a:ea typeface="Arial"/>
                <a:cs typeface="Arial"/>
              </a:defRPr>
            </a:pPr>
            <a:r>
              <a:rPr sz="1875" b="0">
                <a:solidFill>
                  <a:srgbClr val="2563EB"/>
                </a:solidFill>
                <a:latin typeface="Arial"/>
                <a:ea typeface="Arial"/>
                <a:cs typeface="Arial"/>
              </a:rPr>
              <a:t>Different topic</a:t>
            </a:r>
          </a:p>
        </p:txBody>
      </p:sp>
      <p:sp>
        <p:nvSpPr>
          <p:cNvPr id="16" name="text_140">
            <a:extLst>
              <a:ext uri="{FF2B5EF4-FFF2-40B4-BE49-F238E27FC236}">
                <a16:creationId xmlns:a16="http://schemas.microsoft.com/office/drawing/2014/main" id="{C8F6DF68-5816-4EF2-9EAE-E0A2B22B9D0A}"/>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Real vectors may have hundreds or thousands of dimensions. This map is a conceptual projection.</a:t>
            </a:r>
          </a:p>
        </p:txBody>
      </p:sp>
    </p:spTree>
    <p:extLst>
      <p:ext uri="{BB962C8B-B14F-4D97-AF65-F5344CB8AC3E}">
        <p14:creationId xmlns:p14="http://schemas.microsoft.com/office/powerpoint/2010/main" val="688543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9" name="Straight Arrow Connector 8"/>
          <p:cNvCxnSpPr>
            <a:stCxn id="4" idx="3"/>
            <a:endCxn id="5" idx="1"/>
          </p:cNvCxnSpPr>
          <p:nvPr/>
        </p:nvCxnSpPr>
        <p:spPr>
          <a:xfrm>
            <a:off x="5429250" y="2667000"/>
            <a:ext cx="1809750" cy="0"/>
          </a:xfrm>
          <a:prstGeom prst="straightConnector1">
            <a:avLst/>
          </a:prstGeom>
          <a:ln w="28575">
            <a:solidFill>
              <a:srgbClr val="0D9488"/>
            </a:solidFill>
            <a:tailEnd type="triangle" w="med" len="med"/>
          </a:ln>
        </p:spPr>
      </p:cxnSp>
      <p:sp>
        <p:nvSpPr>
          <p:cNvPr id="10" name="text_141">
            <a:extLst>
              <a:ext uri="{FF2B5EF4-FFF2-40B4-BE49-F238E27FC236}">
                <a16:creationId xmlns:a16="http://schemas.microsoft.com/office/drawing/2014/main" id="{7B56AB9E-6237-4B7F-A608-34357F090AA8}"/>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02 • SEARCHABLE KNOWLEDGE</a:t>
            </a:r>
          </a:p>
        </p:txBody>
      </p:sp>
      <p:sp>
        <p:nvSpPr>
          <p:cNvPr id="2" name="text_142">
            <a:extLst>
              <a:ext uri="{FF2B5EF4-FFF2-40B4-BE49-F238E27FC236}">
                <a16:creationId xmlns:a16="http://schemas.microsoft.com/office/drawing/2014/main" id="{1DAFD55A-0390-4EE7-8E5C-4152578D2F25}"/>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The vector database keeps the evidence</a:t>
            </a:r>
          </a:p>
        </p:txBody>
      </p:sp>
      <p:sp>
        <p:nvSpPr>
          <p:cNvPr id="3" name="text_143">
            <a:extLst>
              <a:ext uri="{FF2B5EF4-FFF2-40B4-BE49-F238E27FC236}">
                <a16:creationId xmlns:a16="http://schemas.microsoft.com/office/drawing/2014/main" id="{1A91093D-AB1E-42D6-8877-AD2D1DE921CD}"/>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11 / 22</a:t>
            </a:r>
          </a:p>
        </p:txBody>
      </p:sp>
      <p:sp>
        <p:nvSpPr>
          <p:cNvPr id="4" name="Query_How_many_students_in_a_team__144">
            <a:extLst>
              <a:ext uri="{FF2B5EF4-FFF2-40B4-BE49-F238E27FC236}">
                <a16:creationId xmlns:a16="http://schemas.microsoft.com/office/drawing/2014/main" id="{DB379766-95DA-49B7-8AF1-28D24E1249DA}"/>
              </a:ext>
            </a:extLst>
          </p:cNvPr>
          <p:cNvSpPr>
            <a:spLocks noGrp="1"/>
          </p:cNvSpPr>
          <p:nvPr/>
        </p:nvSpPr>
        <p:spPr>
          <a:xfrm>
            <a:off x="762000" y="2143125"/>
            <a:ext cx="4667250" cy="1047750"/>
          </a:xfrm>
          <a:prstGeom prst="roundRect">
            <a:avLst>
              <a:gd name="adj" fmla="val 7273"/>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Query: “How many</a:t>
            </a:r>
          </a:p>
          <a:p>
            <a:pPr algn="ctr">
              <a:defRPr sz="2175">
                <a:solidFill>
                  <a:srgbClr val="10233F"/>
                </a:solidFill>
                <a:latin typeface="Arial"/>
                <a:ea typeface="Arial"/>
                <a:cs typeface="Arial"/>
              </a:defRPr>
            </a:pPr>
            <a:r>
              <a:rPr sz="2175">
                <a:solidFill>
                  <a:srgbClr val="10233F"/>
                </a:solidFill>
                <a:latin typeface="Arial"/>
                <a:ea typeface="Arial"/>
                <a:cs typeface="Arial"/>
              </a:rPr>
              <a:t>students in a team?”</a:t>
            </a:r>
          </a:p>
        </p:txBody>
      </p:sp>
      <p:sp>
        <p:nvSpPr>
          <p:cNvPr id="5" name="Query_embedding_similarity_search_145">
            <a:extLst>
              <a:ext uri="{FF2B5EF4-FFF2-40B4-BE49-F238E27FC236}">
                <a16:creationId xmlns:a16="http://schemas.microsoft.com/office/drawing/2014/main" id="{51DCD366-CCBA-450E-A900-9883DC5DC4A0}"/>
              </a:ext>
            </a:extLst>
          </p:cNvPr>
          <p:cNvSpPr>
            <a:spLocks noGrp="1"/>
          </p:cNvSpPr>
          <p:nvPr/>
        </p:nvSpPr>
        <p:spPr>
          <a:xfrm>
            <a:off x="7239000" y="2143125"/>
            <a:ext cx="6191250" cy="1047750"/>
          </a:xfrm>
          <a:prstGeom prst="roundRect">
            <a:avLst>
              <a:gd name="adj" fmla="val 7273"/>
            </a:avLst>
          </a:prstGeom>
          <a:solidFill>
            <a:srgbClr val="FFFFF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Query embedding</a:t>
            </a:r>
          </a:p>
          <a:p>
            <a:pPr algn="ctr">
              <a:defRPr sz="2175">
                <a:solidFill>
                  <a:srgbClr val="10233F"/>
                </a:solidFill>
                <a:latin typeface="Arial"/>
                <a:ea typeface="Arial"/>
                <a:cs typeface="Arial"/>
              </a:defRPr>
            </a:pPr>
            <a:r>
              <a:rPr sz="2175">
                <a:solidFill>
                  <a:srgbClr val="10233F"/>
                </a:solidFill>
                <a:latin typeface="Arial"/>
                <a:ea typeface="Arial"/>
                <a:cs typeface="Arial"/>
              </a:rPr>
              <a:t>→ similarity search</a:t>
            </a:r>
          </a:p>
        </p:txBody>
      </p:sp>
      <p:graphicFrame>
        <p:nvGraphicFramePr>
          <p:cNvPr id="15" name="Table 14"/>
          <p:cNvGraphicFramePr/>
          <p:nvPr/>
        </p:nvGraphicFramePr>
        <p:xfrm>
          <a:off x="762000" y="3857625"/>
          <a:ext cx="13620750" cy="3000376"/>
        </p:xfrm>
        <a:graphic>
          <a:graphicData uri="http://schemas.openxmlformats.org/drawingml/2006/table">
            <a:tbl>
              <a:tblPr/>
              <a:tblGrid>
                <a:gridCol w="59055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750094">
                <a:tc>
                  <a:txBody>
                    <a:bodyPr/>
                    <a:lstStyle/>
                    <a:p>
                      <a:r>
                        <a:rPr sz="2025" b="1">
                          <a:solidFill>
                            <a:srgbClr val="FFFFFF"/>
                          </a:solidFill>
                          <a:latin typeface="Arial"/>
                          <a:ea typeface="Arial"/>
                          <a:cs typeface="Arial"/>
                        </a:rPr>
                        <a:t>Stored text chunk</a:t>
                      </a:r>
                    </a:p>
                  </a:txBody>
                  <a:tcPr>
                    <a:solidFill>
                      <a:srgbClr val="10233F"/>
                    </a:solidFill>
                  </a:tcPr>
                </a:tc>
                <a:tc>
                  <a:txBody>
                    <a:bodyPr/>
                    <a:lstStyle/>
                    <a:p>
                      <a:r>
                        <a:rPr sz="2025" b="1">
                          <a:solidFill>
                            <a:srgbClr val="FFFFFF"/>
                          </a:solidFill>
                          <a:latin typeface="Arial"/>
                          <a:ea typeface="Arial"/>
                          <a:cs typeface="Arial"/>
                        </a:rPr>
                        <a:t>Embedding (illustrative)</a:t>
                      </a:r>
                    </a:p>
                  </a:txBody>
                  <a:tcPr>
                    <a:solidFill>
                      <a:srgbClr val="10233F"/>
                    </a:solidFill>
                  </a:tcPr>
                </a:tc>
                <a:tc>
                  <a:txBody>
                    <a:bodyPr/>
                    <a:lstStyle/>
                    <a:p>
                      <a:r>
                        <a:rPr sz="2025" b="1">
                          <a:solidFill>
                            <a:srgbClr val="FFFFFF"/>
                          </a:solidFill>
                          <a:latin typeface="Arial"/>
                          <a:ea typeface="Arial"/>
                          <a:cs typeface="Arial"/>
                        </a:rPr>
                        <a:t>Source</a:t>
                      </a:r>
                    </a:p>
                  </a:txBody>
                  <a:tcPr>
                    <a:solidFill>
                      <a:srgbClr val="10233F"/>
                    </a:solidFill>
                  </a:tcPr>
                </a:tc>
                <a:extLst>
                  <a:ext uri="{0D108BD9-81ED-4DB2-BD59-A6C34878D82A}">
                    <a16:rowId xmlns:a16="http://schemas.microsoft.com/office/drawing/2014/main" val="10000"/>
                  </a:ext>
                </a:extLst>
              </a:tr>
              <a:tr h="750094">
                <a:tc>
                  <a:txBody>
                    <a:bodyPr/>
                    <a:lstStyle/>
                    <a:p>
                      <a:r>
                        <a:rPr sz="2025" b="0">
                          <a:solidFill>
                            <a:srgbClr val="10233F"/>
                          </a:solidFill>
                          <a:latin typeface="Arial"/>
                          <a:ea typeface="Arial"/>
                          <a:cs typeface="Arial"/>
                        </a:rPr>
                        <a:t>Teams have 2–4 students.</a:t>
                      </a:r>
                    </a:p>
                  </a:txBody>
                  <a:tcPr>
                    <a:solidFill>
                      <a:srgbClr val="FFFFFF"/>
                    </a:solidFill>
                  </a:tcPr>
                </a:tc>
                <a:tc>
                  <a:txBody>
                    <a:bodyPr/>
                    <a:lstStyle/>
                    <a:p>
                      <a:r>
                        <a:rPr sz="2025" b="0">
                          <a:solidFill>
                            <a:srgbClr val="10233F"/>
                          </a:solidFill>
                          <a:latin typeface="Arial"/>
                          <a:ea typeface="Arial"/>
                          <a:cs typeface="Arial"/>
                        </a:rPr>
                        <a:t>[0.12, −0.37, …]</a:t>
                      </a:r>
                    </a:p>
                  </a:txBody>
                  <a:tcPr>
                    <a:solidFill>
                      <a:srgbClr val="FFFFFF"/>
                    </a:solidFill>
                  </a:tcPr>
                </a:tc>
                <a:tc>
                  <a:txBody>
                    <a:bodyPr/>
                    <a:lstStyle/>
                    <a:p>
                      <a:r>
                        <a:rPr sz="2025" b="0">
                          <a:solidFill>
                            <a:srgbClr val="10233F"/>
                          </a:solidFill>
                          <a:latin typeface="Arial"/>
                          <a:ea typeface="Arial"/>
                          <a:cs typeface="Arial"/>
                        </a:rPr>
                        <a:t>Handbook, p. 3</a:t>
                      </a:r>
                    </a:p>
                  </a:txBody>
                  <a:tcPr>
                    <a:solidFill>
                      <a:srgbClr val="FFFFFF"/>
                    </a:solidFill>
                  </a:tcPr>
                </a:tc>
                <a:extLst>
                  <a:ext uri="{0D108BD9-81ED-4DB2-BD59-A6C34878D82A}">
                    <a16:rowId xmlns:a16="http://schemas.microsoft.com/office/drawing/2014/main" val="10001"/>
                  </a:ext>
                </a:extLst>
              </a:tr>
              <a:tr h="750094">
                <a:tc>
                  <a:txBody>
                    <a:bodyPr/>
                    <a:lstStyle/>
                    <a:p>
                      <a:r>
                        <a:rPr sz="2025" b="0">
                          <a:solidFill>
                            <a:srgbClr val="10233F"/>
                          </a:solidFill>
                          <a:latin typeface="Arial"/>
                          <a:ea typeface="Arial"/>
                          <a:cs typeface="Arial"/>
                        </a:rPr>
                        <a:t>Open to years 1 and 2.</a:t>
                      </a:r>
                    </a:p>
                  </a:txBody>
                  <a:tcPr>
                    <a:solidFill>
                      <a:srgbClr val="E8EFFD"/>
                    </a:solidFill>
                  </a:tcPr>
                </a:tc>
                <a:tc>
                  <a:txBody>
                    <a:bodyPr/>
                    <a:lstStyle/>
                    <a:p>
                      <a:r>
                        <a:rPr sz="2025" b="0">
                          <a:solidFill>
                            <a:srgbClr val="10233F"/>
                          </a:solidFill>
                          <a:latin typeface="Arial"/>
                          <a:ea typeface="Arial"/>
                          <a:cs typeface="Arial"/>
                        </a:rPr>
                        <a:t>[0.18, −0.29, …]</a:t>
                      </a:r>
                    </a:p>
                  </a:txBody>
                  <a:tcPr>
                    <a:solidFill>
                      <a:srgbClr val="E8EFFD"/>
                    </a:solidFill>
                  </a:tcPr>
                </a:tc>
                <a:tc>
                  <a:txBody>
                    <a:bodyPr/>
                    <a:lstStyle/>
                    <a:p>
                      <a:r>
                        <a:rPr sz="2025" b="0">
                          <a:solidFill>
                            <a:srgbClr val="10233F"/>
                          </a:solidFill>
                          <a:latin typeface="Arial"/>
                          <a:ea typeface="Arial"/>
                          <a:cs typeface="Arial"/>
                        </a:rPr>
                        <a:t>Handbook, p. 3</a:t>
                      </a:r>
                    </a:p>
                  </a:txBody>
                  <a:tcPr>
                    <a:solidFill>
                      <a:srgbClr val="E8EFFD"/>
                    </a:solidFill>
                  </a:tcPr>
                </a:tc>
                <a:extLst>
                  <a:ext uri="{0D108BD9-81ED-4DB2-BD59-A6C34878D82A}">
                    <a16:rowId xmlns:a16="http://schemas.microsoft.com/office/drawing/2014/main" val="10002"/>
                  </a:ext>
                </a:extLst>
              </a:tr>
              <a:tr h="750094">
                <a:tc>
                  <a:txBody>
                    <a:bodyPr/>
                    <a:lstStyle/>
                    <a:p>
                      <a:r>
                        <a:rPr sz="2025" b="0">
                          <a:solidFill>
                            <a:srgbClr val="10233F"/>
                          </a:solidFill>
                          <a:latin typeface="Arial"/>
                          <a:ea typeface="Arial"/>
                          <a:cs typeface="Arial"/>
                        </a:rPr>
                        <a:t>Bring your student ID.</a:t>
                      </a:r>
                    </a:p>
                  </a:txBody>
                  <a:tcPr>
                    <a:solidFill>
                      <a:srgbClr val="FFFFFF"/>
                    </a:solidFill>
                  </a:tcPr>
                </a:tc>
                <a:tc>
                  <a:txBody>
                    <a:bodyPr/>
                    <a:lstStyle/>
                    <a:p>
                      <a:r>
                        <a:rPr sz="2025" b="0">
                          <a:solidFill>
                            <a:srgbClr val="10233F"/>
                          </a:solidFill>
                          <a:latin typeface="Arial"/>
                          <a:ea typeface="Arial"/>
                          <a:cs typeface="Arial"/>
                        </a:rPr>
                        <a:t>[0.71, 0.04, …]</a:t>
                      </a:r>
                    </a:p>
                  </a:txBody>
                  <a:tcPr>
                    <a:solidFill>
                      <a:srgbClr val="FFFFFF"/>
                    </a:solidFill>
                  </a:tcPr>
                </a:tc>
                <a:tc>
                  <a:txBody>
                    <a:bodyPr/>
                    <a:lstStyle/>
                    <a:p>
                      <a:r>
                        <a:rPr sz="2025" b="0">
                          <a:solidFill>
                            <a:srgbClr val="10233F"/>
                          </a:solidFill>
                          <a:latin typeface="Arial"/>
                          <a:ea typeface="Arial"/>
                          <a:cs typeface="Arial"/>
                        </a:rPr>
                        <a:t>Handbook, p. 6</a:t>
                      </a:r>
                    </a:p>
                  </a:txBody>
                  <a:tcPr>
                    <a:solidFill>
                      <a:srgbClr val="FFFFFF"/>
                    </a:solidFill>
                  </a:tcPr>
                </a:tc>
                <a:extLst>
                  <a:ext uri="{0D108BD9-81ED-4DB2-BD59-A6C34878D82A}">
                    <a16:rowId xmlns:a16="http://schemas.microsoft.com/office/drawing/2014/main" val="10003"/>
                  </a:ext>
                </a:extLst>
              </a:tr>
            </a:tbl>
          </a:graphicData>
        </a:graphic>
      </p:graphicFrame>
      <p:sp>
        <p:nvSpPr>
          <p:cNvPr id="8" name="text_146">
            <a:extLst>
              <a:ext uri="{FF2B5EF4-FFF2-40B4-BE49-F238E27FC236}">
                <a16:creationId xmlns:a16="http://schemas.microsoft.com/office/drawing/2014/main" id="{C2F96418-872E-4AE8-B552-5B41059794E0}"/>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Search returns relevant text + source information. A vector is not the answer itself.</a:t>
            </a:r>
          </a:p>
        </p:txBody>
      </p:sp>
    </p:spTree>
    <p:extLst>
      <p:ext uri="{BB962C8B-B14F-4D97-AF65-F5344CB8AC3E}">
        <p14:creationId xmlns:p14="http://schemas.microsoft.com/office/powerpoint/2010/main" val="695409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3" name="Connector: Elbow 12"/>
          <p:cNvCxnSpPr>
            <a:stCxn id="6" idx="3"/>
            <a:endCxn id="7" idx="2"/>
          </p:cNvCxnSpPr>
          <p:nvPr/>
        </p:nvCxnSpPr>
        <p:spPr>
          <a:xfrm flipV="1">
            <a:off x="8524875" y="5076825"/>
            <a:ext cx="3571875" cy="1066800"/>
          </a:xfrm>
          <a:prstGeom prst="bentConnector2">
            <a:avLst/>
          </a:prstGeom>
          <a:ln w="28575">
            <a:solidFill>
              <a:srgbClr val="2563EB"/>
            </a:solidFill>
            <a:tailEnd type="triangle" w="med" len="med"/>
          </a:ln>
        </p:spPr>
      </p:cxnSp>
      <p:cxnSp>
        <p:nvCxnSpPr>
          <p:cNvPr id="14" name="Straight Arrow Connector 13"/>
          <p:cNvCxnSpPr>
            <a:stCxn id="5" idx="3"/>
            <a:endCxn id="7" idx="1"/>
          </p:cNvCxnSpPr>
          <p:nvPr/>
        </p:nvCxnSpPr>
        <p:spPr>
          <a:xfrm flipV="1">
            <a:off x="8524875" y="4457700"/>
            <a:ext cx="1809750" cy="19050"/>
          </a:xfrm>
          <a:prstGeom prst="straightConnector1">
            <a:avLst/>
          </a:prstGeom>
          <a:ln w="28575">
            <a:solidFill>
              <a:srgbClr val="0D9488"/>
            </a:solidFill>
            <a:tailEnd type="triangle" w="med" len="med"/>
          </a:ln>
        </p:spPr>
      </p:cxnSp>
      <p:cxnSp>
        <p:nvCxnSpPr>
          <p:cNvPr id="15" name="Connector: Elbow 14"/>
          <p:cNvCxnSpPr>
            <a:stCxn id="4" idx="3"/>
            <a:endCxn id="7" idx="0"/>
          </p:cNvCxnSpPr>
          <p:nvPr/>
        </p:nvCxnSpPr>
        <p:spPr>
          <a:xfrm>
            <a:off x="8524875" y="2762250"/>
            <a:ext cx="3571875" cy="1076325"/>
          </a:xfrm>
          <a:prstGeom prst="bentConnector2">
            <a:avLst/>
          </a:prstGeom>
          <a:ln w="28575">
            <a:solidFill>
              <a:srgbClr val="2563EB"/>
            </a:solidFill>
            <a:tailEnd type="triangle" w="med" len="med"/>
          </a:ln>
        </p:spPr>
      </p:cxnSp>
      <p:sp>
        <p:nvSpPr>
          <p:cNvPr id="16" name="text_147">
            <a:extLst>
              <a:ext uri="{FF2B5EF4-FFF2-40B4-BE49-F238E27FC236}">
                <a16:creationId xmlns:a16="http://schemas.microsoft.com/office/drawing/2014/main" id="{F8704656-C80F-4CB4-B1C6-64E23AF081D3}"/>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02 • RETRIEVAL MEETS GENERATION</a:t>
            </a:r>
          </a:p>
        </p:txBody>
      </p:sp>
      <p:sp>
        <p:nvSpPr>
          <p:cNvPr id="2" name="text_148">
            <a:extLst>
              <a:ext uri="{FF2B5EF4-FFF2-40B4-BE49-F238E27FC236}">
                <a16:creationId xmlns:a16="http://schemas.microsoft.com/office/drawing/2014/main" id="{A9A9919B-6ECE-4B00-9139-2977D702CC9A}"/>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The prompt carries the retrieved text</a:t>
            </a:r>
          </a:p>
        </p:txBody>
      </p:sp>
      <p:sp>
        <p:nvSpPr>
          <p:cNvPr id="3" name="text_149">
            <a:extLst>
              <a:ext uri="{FF2B5EF4-FFF2-40B4-BE49-F238E27FC236}">
                <a16:creationId xmlns:a16="http://schemas.microsoft.com/office/drawing/2014/main" id="{84C32FBE-EB29-40C1-95ED-CF8BC40D5D00}"/>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12 / 22</a:t>
            </a:r>
          </a:p>
        </p:txBody>
      </p:sp>
      <p:sp>
        <p:nvSpPr>
          <p:cNvPr id="4" name="INSTRUCTIONS_Use_the_evidence_State_what_is_missing__150">
            <a:extLst>
              <a:ext uri="{FF2B5EF4-FFF2-40B4-BE49-F238E27FC236}">
                <a16:creationId xmlns:a16="http://schemas.microsoft.com/office/drawing/2014/main" id="{CC134004-D630-496B-95D4-481E39E06C71}"/>
              </a:ext>
            </a:extLst>
          </p:cNvPr>
          <p:cNvSpPr>
            <a:spLocks noGrp="1"/>
          </p:cNvSpPr>
          <p:nvPr/>
        </p:nvSpPr>
        <p:spPr>
          <a:xfrm>
            <a:off x="714375" y="2238375"/>
            <a:ext cx="7810500" cy="1047750"/>
          </a:xfrm>
          <a:prstGeom prst="roundRect">
            <a:avLst>
              <a:gd name="adj" fmla="val 7273"/>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INSTRUCTIONS</a:t>
            </a:r>
          </a:p>
          <a:p>
            <a:pPr algn="ctr">
              <a:defRPr sz="2175">
                <a:solidFill>
                  <a:srgbClr val="10233F"/>
                </a:solidFill>
                <a:latin typeface="Arial"/>
                <a:ea typeface="Arial"/>
                <a:cs typeface="Arial"/>
              </a:defRPr>
            </a:pPr>
            <a:r>
              <a:rPr sz="2175">
                <a:solidFill>
                  <a:srgbClr val="10233F"/>
                </a:solidFill>
                <a:latin typeface="Arial"/>
                <a:ea typeface="Arial"/>
                <a:cs typeface="Arial"/>
              </a:rPr>
              <a:t>Use the evidence. State what is missing.</a:t>
            </a:r>
          </a:p>
        </p:txBody>
      </p:sp>
      <p:sp>
        <p:nvSpPr>
          <p:cNvPr id="5" name="RETRIEVED_CONTEXT_Teams_2_4_students_Years_1_2_p_3__151">
            <a:extLst>
              <a:ext uri="{FF2B5EF4-FFF2-40B4-BE49-F238E27FC236}">
                <a16:creationId xmlns:a16="http://schemas.microsoft.com/office/drawing/2014/main" id="{25C8E92C-6701-4EA2-AB5A-76920A2B2E78}"/>
              </a:ext>
            </a:extLst>
          </p:cNvPr>
          <p:cNvSpPr>
            <a:spLocks noGrp="1"/>
          </p:cNvSpPr>
          <p:nvPr/>
        </p:nvSpPr>
        <p:spPr>
          <a:xfrm>
            <a:off x="714375" y="3857625"/>
            <a:ext cx="7810500" cy="1238250"/>
          </a:xfrm>
          <a:prstGeom prst="roundRect">
            <a:avLst>
              <a:gd name="adj" fmla="val 6154"/>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RETRIEVED CONTEXT</a:t>
            </a:r>
          </a:p>
          <a:p>
            <a:pPr algn="ctr">
              <a:defRPr sz="2175">
                <a:solidFill>
                  <a:srgbClr val="10233F"/>
                </a:solidFill>
                <a:latin typeface="Arial"/>
                <a:ea typeface="Arial"/>
                <a:cs typeface="Arial"/>
              </a:defRPr>
            </a:pPr>
            <a:r>
              <a:rPr sz="2175">
                <a:solidFill>
                  <a:srgbClr val="10233F"/>
                </a:solidFill>
                <a:latin typeface="Arial"/>
                <a:ea typeface="Arial"/>
                <a:cs typeface="Arial"/>
              </a:rPr>
              <a:t>Teams: 2–4 students. Years: 1–2. [p. 3]</a:t>
            </a:r>
          </a:p>
        </p:txBody>
      </p:sp>
      <p:sp>
        <p:nvSpPr>
          <p:cNvPr id="6" name="STUDENT_QUESTION_Can_three_first_year_students_join__152">
            <a:extLst>
              <a:ext uri="{FF2B5EF4-FFF2-40B4-BE49-F238E27FC236}">
                <a16:creationId xmlns:a16="http://schemas.microsoft.com/office/drawing/2014/main" id="{CDFF4BBF-5C3D-48A9-8F7E-B80409CD271D}"/>
              </a:ext>
            </a:extLst>
          </p:cNvPr>
          <p:cNvSpPr>
            <a:spLocks noGrp="1"/>
          </p:cNvSpPr>
          <p:nvPr/>
        </p:nvSpPr>
        <p:spPr>
          <a:xfrm>
            <a:off x="714375" y="5619750"/>
            <a:ext cx="7810500" cy="1047750"/>
          </a:xfrm>
          <a:prstGeom prst="roundRect">
            <a:avLst>
              <a:gd name="adj" fmla="val 7273"/>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STUDENT QUESTION</a:t>
            </a:r>
          </a:p>
          <a:p>
            <a:pPr algn="ctr">
              <a:defRPr sz="2175">
                <a:solidFill>
                  <a:srgbClr val="10233F"/>
                </a:solidFill>
                <a:latin typeface="Arial"/>
                <a:ea typeface="Arial"/>
                <a:cs typeface="Arial"/>
              </a:defRPr>
            </a:pPr>
            <a:r>
              <a:rPr sz="2175">
                <a:solidFill>
                  <a:srgbClr val="10233F"/>
                </a:solidFill>
                <a:latin typeface="Arial"/>
                <a:ea typeface="Arial"/>
                <a:cs typeface="Arial"/>
              </a:rPr>
              <a:t>Can three first-year students join?</a:t>
            </a:r>
          </a:p>
        </p:txBody>
      </p:sp>
      <p:sp>
        <p:nvSpPr>
          <p:cNvPr id="7" name="LLM_153">
            <a:extLst>
              <a:ext uri="{FF2B5EF4-FFF2-40B4-BE49-F238E27FC236}">
                <a16:creationId xmlns:a16="http://schemas.microsoft.com/office/drawing/2014/main" id="{B9A77AB0-FF32-42C4-A0D1-193095622597}"/>
              </a:ext>
            </a:extLst>
          </p:cNvPr>
          <p:cNvSpPr>
            <a:spLocks noGrp="1"/>
          </p:cNvSpPr>
          <p:nvPr/>
        </p:nvSpPr>
        <p:spPr>
          <a:xfrm>
            <a:off x="10334625" y="3838575"/>
            <a:ext cx="3524250" cy="1238250"/>
          </a:xfrm>
          <a:prstGeom prst="roundRect">
            <a:avLst>
              <a:gd name="adj" fmla="val 6154"/>
            </a:avLst>
          </a:prstGeom>
          <a:solidFill>
            <a:srgbClr val="E8EFFD"/>
          </a:solidFill>
          <a:ln w="19050">
            <a:solidFill>
              <a:srgbClr val="2563EB"/>
            </a:solidFill>
          </a:ln>
        </p:spPr>
        <p:txBody>
          <a:bodyPr anchor="ctr">
            <a:noAutofit/>
          </a:bodyPr>
          <a:lstStyle/>
          <a:p>
            <a:pPr algn="ctr">
              <a:defRPr sz="3150">
                <a:solidFill>
                  <a:srgbClr val="10233F"/>
                </a:solidFill>
                <a:latin typeface="Arial"/>
                <a:ea typeface="Arial"/>
                <a:cs typeface="Arial"/>
              </a:defRPr>
            </a:pPr>
            <a:r>
              <a:rPr sz="3150">
                <a:solidFill>
                  <a:srgbClr val="10233F"/>
                </a:solidFill>
                <a:latin typeface="Arial"/>
                <a:ea typeface="Arial"/>
                <a:cs typeface="Arial"/>
              </a:rPr>
              <a:t>LLM</a:t>
            </a:r>
          </a:p>
        </p:txBody>
      </p:sp>
      <p:sp>
        <p:nvSpPr>
          <p:cNvPr id="11" name="text_154">
            <a:extLst>
              <a:ext uri="{FF2B5EF4-FFF2-40B4-BE49-F238E27FC236}">
                <a16:creationId xmlns:a16="http://schemas.microsoft.com/office/drawing/2014/main" id="{F9E8FAF2-CECB-4738-BC05-6CED3E42E703}"/>
              </a:ext>
            </a:extLst>
          </p:cNvPr>
          <p:cNvSpPr>
            <a:spLocks noGrp="1"/>
          </p:cNvSpPr>
          <p:nvPr/>
        </p:nvSpPr>
        <p:spPr>
          <a:xfrm>
            <a:off x="10334625" y="6210300"/>
            <a:ext cx="4429125" cy="1381125"/>
          </a:xfrm>
          <a:prstGeom prst="rect">
            <a:avLst/>
          </a:prstGeom>
          <a:noFill/>
          <a:ln w="0">
            <a:noFill/>
          </a:ln>
        </p:spPr>
        <p:txBody>
          <a:bodyPr anchor="t">
            <a:noAutofit/>
          </a:bodyPr>
          <a:lstStyle/>
          <a:p>
            <a:pPr>
              <a:defRPr sz="2250" b="1">
                <a:solidFill>
                  <a:srgbClr val="0D9488"/>
                </a:solidFill>
                <a:latin typeface="Arial"/>
                <a:ea typeface="Arial"/>
                <a:cs typeface="Arial"/>
              </a:defRPr>
            </a:pPr>
            <a:r>
              <a:rPr sz="2250" b="1" dirty="0">
                <a:solidFill>
                  <a:srgbClr val="0D9488"/>
                </a:solidFill>
                <a:latin typeface="Arial"/>
                <a:ea typeface="Arial"/>
                <a:cs typeface="Arial"/>
              </a:rPr>
              <a:t>“Yes. The team size and</a:t>
            </a:r>
          </a:p>
          <a:p>
            <a:pPr>
              <a:defRPr sz="2250" b="1">
                <a:solidFill>
                  <a:srgbClr val="0D9488"/>
                </a:solidFill>
                <a:latin typeface="Arial"/>
                <a:ea typeface="Arial"/>
                <a:cs typeface="Arial"/>
              </a:defRPr>
            </a:pPr>
            <a:r>
              <a:rPr sz="2250" b="1" dirty="0">
                <a:solidFill>
                  <a:srgbClr val="0D9488"/>
                </a:solidFill>
                <a:latin typeface="Arial"/>
                <a:ea typeface="Arial"/>
                <a:cs typeface="Arial"/>
              </a:rPr>
              <a:t>year meet the stated rules.”</a:t>
            </a:r>
          </a:p>
          <a:p>
            <a:pPr>
              <a:defRPr sz="2250" b="1">
                <a:solidFill>
                  <a:srgbClr val="0D9488"/>
                </a:solidFill>
                <a:latin typeface="Arial"/>
                <a:ea typeface="Arial"/>
                <a:cs typeface="Arial"/>
              </a:defRPr>
            </a:pPr>
            <a:r>
              <a:rPr sz="2250" b="1" dirty="0">
                <a:solidFill>
                  <a:srgbClr val="0D9488"/>
                </a:solidFill>
                <a:latin typeface="Arial"/>
                <a:ea typeface="Arial"/>
                <a:cs typeface="Arial"/>
              </a:rPr>
              <a:t>[Handbook, p. 3]</a:t>
            </a:r>
          </a:p>
        </p:txBody>
      </p:sp>
      <p:sp>
        <p:nvSpPr>
          <p:cNvPr id="12" name="text_155">
            <a:extLst>
              <a:ext uri="{FF2B5EF4-FFF2-40B4-BE49-F238E27FC236}">
                <a16:creationId xmlns:a16="http://schemas.microsoft.com/office/drawing/2014/main" id="{FFD9E423-17B6-4923-B994-E3F59AAB8B54}"/>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Embeddings help find the passage. The passage’s text helps the LLM answer.</a:t>
            </a:r>
          </a:p>
        </p:txBody>
      </p:sp>
    </p:spTree>
    <p:extLst>
      <p:ext uri="{BB962C8B-B14F-4D97-AF65-F5344CB8AC3E}">
        <p14:creationId xmlns:p14="http://schemas.microsoft.com/office/powerpoint/2010/main" val="142612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2" name="Straight Arrow Connector 11"/>
          <p:cNvCxnSpPr>
            <a:stCxn id="5" idx="2"/>
            <a:endCxn id="6" idx="0"/>
          </p:cNvCxnSpPr>
          <p:nvPr/>
        </p:nvCxnSpPr>
        <p:spPr>
          <a:xfrm>
            <a:off x="3476625" y="4714875"/>
            <a:ext cx="0" cy="1190625"/>
          </a:xfrm>
          <a:prstGeom prst="straightConnector1">
            <a:avLst/>
          </a:prstGeom>
          <a:ln w="28575">
            <a:solidFill>
              <a:srgbClr val="2563EB"/>
            </a:solidFill>
            <a:tailEnd type="triangle" w="med" len="med"/>
          </a:ln>
        </p:spPr>
      </p:cxnSp>
      <p:sp>
        <p:nvSpPr>
          <p:cNvPr id="13" name="text_156">
            <a:extLst>
              <a:ext uri="{FF2B5EF4-FFF2-40B4-BE49-F238E27FC236}">
                <a16:creationId xmlns:a16="http://schemas.microsoft.com/office/drawing/2014/main" id="{AAF60121-5516-44AC-A6C6-4CB41366AA92}"/>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02 • THE LIMIT OF OUR KNOWLEDGE STORE</a:t>
            </a:r>
          </a:p>
        </p:txBody>
      </p:sp>
      <p:sp>
        <p:nvSpPr>
          <p:cNvPr id="2" name="text_157">
            <a:extLst>
              <a:ext uri="{FF2B5EF4-FFF2-40B4-BE49-F238E27FC236}">
                <a16:creationId xmlns:a16="http://schemas.microsoft.com/office/drawing/2014/main" id="{4CEE4B3F-310E-4A00-B1B9-47ED9FA84AED}"/>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Retrieval is only as current as its sources</a:t>
            </a:r>
          </a:p>
        </p:txBody>
      </p:sp>
      <p:sp>
        <p:nvSpPr>
          <p:cNvPr id="3" name="text_158">
            <a:extLst>
              <a:ext uri="{FF2B5EF4-FFF2-40B4-BE49-F238E27FC236}">
                <a16:creationId xmlns:a16="http://schemas.microsoft.com/office/drawing/2014/main" id="{3111FBBA-B1B0-487F-846D-2ED0AFD6401A}"/>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13 / 22</a:t>
            </a:r>
          </a:p>
        </p:txBody>
      </p:sp>
      <p:sp>
        <p:nvSpPr>
          <p:cNvPr id="4" name="text_159">
            <a:extLst>
              <a:ext uri="{FF2B5EF4-FFF2-40B4-BE49-F238E27FC236}">
                <a16:creationId xmlns:a16="http://schemas.microsoft.com/office/drawing/2014/main" id="{7428A24D-9443-4F9F-861C-629F706B905F}"/>
              </a:ext>
            </a:extLst>
          </p:cNvPr>
          <p:cNvSpPr>
            <a:spLocks noGrp="1"/>
          </p:cNvSpPr>
          <p:nvPr/>
        </p:nvSpPr>
        <p:spPr>
          <a:xfrm>
            <a:off x="762000" y="2238375"/>
            <a:ext cx="619125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WHAT THE INDEX HAS</a:t>
            </a:r>
          </a:p>
        </p:txBody>
      </p:sp>
      <p:sp>
        <p:nvSpPr>
          <p:cNvPr id="5" name="Yesterday_s_notice_Venue_Lab_2_160">
            <a:extLst>
              <a:ext uri="{FF2B5EF4-FFF2-40B4-BE49-F238E27FC236}">
                <a16:creationId xmlns:a16="http://schemas.microsoft.com/office/drawing/2014/main" id="{137596EA-34E3-4657-886F-B1CCF7D9E166}"/>
              </a:ext>
            </a:extLst>
          </p:cNvPr>
          <p:cNvSpPr>
            <a:spLocks noGrp="1"/>
          </p:cNvSpPr>
          <p:nvPr/>
        </p:nvSpPr>
        <p:spPr>
          <a:xfrm>
            <a:off x="762000" y="3143250"/>
            <a:ext cx="5429250" cy="1571625"/>
          </a:xfrm>
          <a:prstGeom prst="roundRect">
            <a:avLst>
              <a:gd name="adj" fmla="val 4848"/>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Yesterday’s notice</a:t>
            </a:r>
          </a:p>
          <a:p>
            <a:pPr algn="ctr">
              <a:defRPr sz="2175">
                <a:solidFill>
                  <a:srgbClr val="10233F"/>
                </a:solidFill>
                <a:latin typeface="Arial"/>
                <a:ea typeface="Arial"/>
                <a:cs typeface="Arial"/>
              </a:defRPr>
            </a:pPr>
            <a:r>
              <a:rPr sz="2175">
                <a:solidFill>
                  <a:srgbClr val="10233F"/>
                </a:solidFill>
                <a:latin typeface="Arial"/>
                <a:ea typeface="Arial"/>
                <a:cs typeface="Arial"/>
              </a:rPr>
              <a:t>Venue: Lab 2</a:t>
            </a:r>
          </a:p>
        </p:txBody>
      </p:sp>
      <p:sp>
        <p:nvSpPr>
          <p:cNvPr id="6" name="Retrieved_answer_Go_to_Lab_2__161">
            <a:extLst>
              <a:ext uri="{FF2B5EF4-FFF2-40B4-BE49-F238E27FC236}">
                <a16:creationId xmlns:a16="http://schemas.microsoft.com/office/drawing/2014/main" id="{4DDB13B1-39E2-4B29-A6CC-94FBA0F7570B}"/>
              </a:ext>
            </a:extLst>
          </p:cNvPr>
          <p:cNvSpPr>
            <a:spLocks noGrp="1"/>
          </p:cNvSpPr>
          <p:nvPr/>
        </p:nvSpPr>
        <p:spPr>
          <a:xfrm>
            <a:off x="762000" y="5905500"/>
            <a:ext cx="5429250" cy="1047750"/>
          </a:xfrm>
          <a:prstGeom prst="roundRect">
            <a:avLst>
              <a:gd name="adj" fmla="val 7273"/>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Retrieved answer:</a:t>
            </a:r>
          </a:p>
          <a:p>
            <a:pPr algn="ctr">
              <a:defRPr sz="2175">
                <a:solidFill>
                  <a:srgbClr val="10233F"/>
                </a:solidFill>
                <a:latin typeface="Arial"/>
                <a:ea typeface="Arial"/>
                <a:cs typeface="Arial"/>
              </a:defRPr>
            </a:pPr>
            <a:r>
              <a:rPr sz="2175">
                <a:solidFill>
                  <a:srgbClr val="10233F"/>
                </a:solidFill>
                <a:latin typeface="Arial"/>
                <a:ea typeface="Arial"/>
                <a:cs typeface="Arial"/>
              </a:rPr>
              <a:t>“Go to Lab 2.”</a:t>
            </a:r>
          </a:p>
        </p:txBody>
      </p:sp>
      <p:sp>
        <p:nvSpPr>
          <p:cNvPr id="8" name="text_162">
            <a:extLst>
              <a:ext uri="{FF2B5EF4-FFF2-40B4-BE49-F238E27FC236}">
                <a16:creationId xmlns:a16="http://schemas.microsoft.com/office/drawing/2014/main" id="{68AAB250-E28B-4FCF-8AE4-FB99F1F8944F}"/>
              </a:ext>
            </a:extLst>
          </p:cNvPr>
          <p:cNvSpPr>
            <a:spLocks noGrp="1"/>
          </p:cNvSpPr>
          <p:nvPr/>
        </p:nvSpPr>
        <p:spPr>
          <a:xfrm>
            <a:off x="8429625" y="2238375"/>
            <a:ext cx="5953125"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WHAT CHANGED TODAY</a:t>
            </a:r>
          </a:p>
        </p:txBody>
      </p:sp>
      <p:sp>
        <p:nvSpPr>
          <p:cNvPr id="9" name="Today_s_update_Venue_Auditorium_Report_at_9_00_AM_163">
            <a:extLst>
              <a:ext uri="{FF2B5EF4-FFF2-40B4-BE49-F238E27FC236}">
                <a16:creationId xmlns:a16="http://schemas.microsoft.com/office/drawing/2014/main" id="{F2920AC5-A040-40F2-AA1B-E9C33CBC6AF9}"/>
              </a:ext>
            </a:extLst>
          </p:cNvPr>
          <p:cNvSpPr>
            <a:spLocks noGrp="1"/>
          </p:cNvSpPr>
          <p:nvPr/>
        </p:nvSpPr>
        <p:spPr>
          <a:xfrm>
            <a:off x="8429625" y="3143250"/>
            <a:ext cx="5715000" cy="2333625"/>
          </a:xfrm>
          <a:prstGeom prst="roundRect">
            <a:avLst>
              <a:gd name="adj" fmla="val 3265"/>
            </a:avLst>
          </a:prstGeom>
          <a:solidFill>
            <a:srgbClr val="E1F3EF"/>
          </a:solidFill>
          <a:ln w="19050">
            <a:solidFill>
              <a:srgbClr val="0D9488"/>
            </a:solidFill>
          </a:ln>
        </p:spPr>
        <p:txBody>
          <a:bodyPr anchor="ctr">
            <a:noAutofit/>
          </a:bodyPr>
          <a:lstStyle/>
          <a:p>
            <a:pPr algn="ctr">
              <a:defRPr sz="2925">
                <a:solidFill>
                  <a:srgbClr val="10233F"/>
                </a:solidFill>
                <a:latin typeface="Arial"/>
                <a:ea typeface="Arial"/>
                <a:cs typeface="Arial"/>
              </a:defRPr>
            </a:pPr>
            <a:r>
              <a:rPr sz="2925">
                <a:solidFill>
                  <a:srgbClr val="10233F"/>
                </a:solidFill>
                <a:latin typeface="Arial"/>
                <a:ea typeface="Arial"/>
                <a:cs typeface="Arial"/>
              </a:rPr>
              <a:t>Today’s update</a:t>
            </a:r>
          </a:p>
          <a:p>
            <a:pPr algn="ctr">
              <a:defRPr sz="2925">
                <a:solidFill>
                  <a:srgbClr val="10233F"/>
                </a:solidFill>
                <a:latin typeface="Arial"/>
                <a:ea typeface="Arial"/>
                <a:cs typeface="Arial"/>
              </a:defRPr>
            </a:pPr>
            <a:r>
              <a:rPr sz="2925">
                <a:solidFill>
                  <a:srgbClr val="10233F"/>
                </a:solidFill>
                <a:latin typeface="Arial"/>
                <a:ea typeface="Arial"/>
                <a:cs typeface="Arial"/>
              </a:rPr>
              <a:t>Venue: Auditorium</a:t>
            </a:r>
          </a:p>
          <a:p>
            <a:pPr algn="ctr">
              <a:defRPr sz="2925">
                <a:solidFill>
                  <a:srgbClr val="10233F"/>
                </a:solidFill>
                <a:latin typeface="Arial"/>
                <a:ea typeface="Arial"/>
                <a:cs typeface="Arial"/>
              </a:defRPr>
            </a:pPr>
            <a:r>
              <a:rPr sz="2925">
                <a:solidFill>
                  <a:srgbClr val="10233F"/>
                </a:solidFill>
                <a:latin typeface="Arial"/>
                <a:ea typeface="Arial"/>
                <a:cs typeface="Arial"/>
              </a:rPr>
              <a:t>Report at 9:00 AM</a:t>
            </a:r>
          </a:p>
        </p:txBody>
      </p:sp>
      <p:sp>
        <p:nvSpPr>
          <p:cNvPr id="10" name="text_164">
            <a:extLst>
              <a:ext uri="{FF2B5EF4-FFF2-40B4-BE49-F238E27FC236}">
                <a16:creationId xmlns:a16="http://schemas.microsoft.com/office/drawing/2014/main" id="{512F8E63-08DF-4A1C-A5C2-D1E9018A10C2}"/>
              </a:ext>
            </a:extLst>
          </p:cNvPr>
          <p:cNvSpPr>
            <a:spLocks noGrp="1"/>
          </p:cNvSpPr>
          <p:nvPr/>
        </p:nvSpPr>
        <p:spPr>
          <a:xfrm>
            <a:off x="8429625" y="5905500"/>
            <a:ext cx="5810250" cy="857250"/>
          </a:xfrm>
          <a:prstGeom prst="rect">
            <a:avLst/>
          </a:prstGeom>
          <a:noFill/>
          <a:ln w="0">
            <a:noFill/>
          </a:ln>
        </p:spPr>
        <p:txBody>
          <a:bodyPr anchor="t">
            <a:noAutofit/>
          </a:bodyPr>
          <a:lstStyle/>
          <a:p>
            <a:pPr>
              <a:defRPr sz="2400" b="1">
                <a:solidFill>
                  <a:srgbClr val="0D9488"/>
                </a:solidFill>
                <a:latin typeface="Arial"/>
                <a:ea typeface="Arial"/>
                <a:cs typeface="Arial"/>
              </a:defRPr>
            </a:pPr>
            <a:r>
              <a:rPr sz="2400" b="1">
                <a:solidFill>
                  <a:srgbClr val="0D9488"/>
                </a:solidFill>
                <a:latin typeface="Arial"/>
                <a:ea typeface="Arial"/>
                <a:cs typeface="Arial"/>
              </a:rPr>
              <a:t>Not yet in our knowledge store</a:t>
            </a:r>
          </a:p>
        </p:txBody>
      </p:sp>
      <p:sp>
        <p:nvSpPr>
          <p:cNvPr id="11" name="text_165">
            <a:extLst>
              <a:ext uri="{FF2B5EF4-FFF2-40B4-BE49-F238E27FC236}">
                <a16:creationId xmlns:a16="http://schemas.microsoft.com/office/drawing/2014/main" id="{D6D5314F-720C-4217-922B-0D06EBB125F7}"/>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Fresh answers need fresh sources. Changing temperature cannot supply missing information.</a:t>
            </a:r>
          </a:p>
        </p:txBody>
      </p:sp>
    </p:spTree>
    <p:extLst>
      <p:ext uri="{BB962C8B-B14F-4D97-AF65-F5344CB8AC3E}">
        <p14:creationId xmlns:p14="http://schemas.microsoft.com/office/powerpoint/2010/main" val="431389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8" name="Straight Arrow Connector 17"/>
          <p:cNvCxnSpPr>
            <a:stCxn id="7" idx="3"/>
            <a:endCxn id="13" idx="1"/>
          </p:cNvCxnSpPr>
          <p:nvPr/>
        </p:nvCxnSpPr>
        <p:spPr>
          <a:xfrm>
            <a:off x="10382250" y="6619875"/>
            <a:ext cx="1047750" cy="0"/>
          </a:xfrm>
          <a:prstGeom prst="straightConnector1">
            <a:avLst/>
          </a:prstGeom>
          <a:ln w="28575">
            <a:solidFill>
              <a:srgbClr val="2563EB"/>
            </a:solidFill>
            <a:tailEnd type="triangle" w="med" len="med"/>
          </a:ln>
        </p:spPr>
      </p:cxnSp>
      <p:cxnSp>
        <p:nvCxnSpPr>
          <p:cNvPr id="19" name="Straight Arrow Connector 18"/>
          <p:cNvCxnSpPr>
            <a:stCxn id="6" idx="3"/>
            <a:endCxn id="12" idx="1"/>
          </p:cNvCxnSpPr>
          <p:nvPr/>
        </p:nvCxnSpPr>
        <p:spPr>
          <a:xfrm>
            <a:off x="10382250" y="4762500"/>
            <a:ext cx="1047750" cy="0"/>
          </a:xfrm>
          <a:prstGeom prst="straightConnector1">
            <a:avLst/>
          </a:prstGeom>
          <a:ln w="28575">
            <a:solidFill>
              <a:srgbClr val="2563EB"/>
            </a:solidFill>
            <a:tailEnd type="triangle" w="med" len="med"/>
          </a:ln>
        </p:spPr>
      </p:cxnSp>
      <p:cxnSp>
        <p:nvCxnSpPr>
          <p:cNvPr id="20" name="Straight Arrow Connector 19"/>
          <p:cNvCxnSpPr>
            <a:stCxn id="5" idx="3"/>
            <a:endCxn id="11" idx="1"/>
          </p:cNvCxnSpPr>
          <p:nvPr/>
        </p:nvCxnSpPr>
        <p:spPr>
          <a:xfrm>
            <a:off x="10382250" y="2905125"/>
            <a:ext cx="1047750" cy="0"/>
          </a:xfrm>
          <a:prstGeom prst="straightConnector1">
            <a:avLst/>
          </a:prstGeom>
          <a:ln w="28575">
            <a:solidFill>
              <a:srgbClr val="2563EB"/>
            </a:solidFill>
            <a:tailEnd type="triangle" w="med" len="med"/>
          </a:ln>
        </p:spPr>
      </p:cxnSp>
      <p:cxnSp>
        <p:nvCxnSpPr>
          <p:cNvPr id="21" name="Straight Arrow Connector 20"/>
          <p:cNvCxnSpPr>
            <a:stCxn id="4" idx="3"/>
            <a:endCxn id="7" idx="1"/>
          </p:cNvCxnSpPr>
          <p:nvPr/>
        </p:nvCxnSpPr>
        <p:spPr>
          <a:xfrm>
            <a:off x="3895725" y="4751070"/>
            <a:ext cx="1771650" cy="1868805"/>
          </a:xfrm>
          <a:prstGeom prst="straightConnector1">
            <a:avLst/>
          </a:prstGeom>
          <a:ln w="28575">
            <a:solidFill>
              <a:srgbClr val="0D9488"/>
            </a:solidFill>
            <a:tailEnd type="triangle" w="med" len="med"/>
          </a:ln>
        </p:spPr>
      </p:cxnSp>
      <p:cxnSp>
        <p:nvCxnSpPr>
          <p:cNvPr id="22" name="Straight Arrow Connector 21"/>
          <p:cNvCxnSpPr>
            <a:stCxn id="4" idx="3"/>
            <a:endCxn id="6" idx="1"/>
          </p:cNvCxnSpPr>
          <p:nvPr/>
        </p:nvCxnSpPr>
        <p:spPr>
          <a:xfrm>
            <a:off x="3895725" y="4751070"/>
            <a:ext cx="1771650" cy="11430"/>
          </a:xfrm>
          <a:prstGeom prst="straightConnector1">
            <a:avLst/>
          </a:prstGeom>
          <a:ln w="28575">
            <a:solidFill>
              <a:srgbClr val="0D9488"/>
            </a:solidFill>
            <a:tailEnd type="triangle" w="med" len="med"/>
          </a:ln>
        </p:spPr>
      </p:cxnSp>
      <p:cxnSp>
        <p:nvCxnSpPr>
          <p:cNvPr id="23" name="Straight Arrow Connector 22"/>
          <p:cNvCxnSpPr>
            <a:stCxn id="4" idx="3"/>
            <a:endCxn id="5" idx="1"/>
          </p:cNvCxnSpPr>
          <p:nvPr/>
        </p:nvCxnSpPr>
        <p:spPr>
          <a:xfrm flipV="1">
            <a:off x="3895725" y="2905125"/>
            <a:ext cx="1771650" cy="1845945"/>
          </a:xfrm>
          <a:prstGeom prst="straightConnector1">
            <a:avLst/>
          </a:prstGeom>
          <a:ln w="28575">
            <a:solidFill>
              <a:srgbClr val="0D9488"/>
            </a:solidFill>
            <a:tailEnd type="triangle" w="med" len="med"/>
          </a:ln>
        </p:spPr>
      </p:cxnSp>
      <p:sp>
        <p:nvSpPr>
          <p:cNvPr id="24" name="text_166">
            <a:extLst>
              <a:ext uri="{FF2B5EF4-FFF2-40B4-BE49-F238E27FC236}">
                <a16:creationId xmlns:a16="http://schemas.microsoft.com/office/drawing/2014/main" id="{A30AE57F-9E68-4D95-BCC3-505E5BA6B4B0}"/>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03 • TOOL USE</a:t>
            </a:r>
          </a:p>
        </p:txBody>
      </p:sp>
      <p:sp>
        <p:nvSpPr>
          <p:cNvPr id="2" name="text_167">
            <a:extLst>
              <a:ext uri="{FF2B5EF4-FFF2-40B4-BE49-F238E27FC236}">
                <a16:creationId xmlns:a16="http://schemas.microsoft.com/office/drawing/2014/main" id="{C8F80200-4513-427D-8715-52F36C80744E}"/>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Tools connect the model to capabilities</a:t>
            </a:r>
          </a:p>
        </p:txBody>
      </p:sp>
      <p:sp>
        <p:nvSpPr>
          <p:cNvPr id="3" name="text_168">
            <a:extLst>
              <a:ext uri="{FF2B5EF4-FFF2-40B4-BE49-F238E27FC236}">
                <a16:creationId xmlns:a16="http://schemas.microsoft.com/office/drawing/2014/main" id="{20E46DC8-1535-4D63-864F-ADE93BC28510}"/>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14 / 22</a:t>
            </a:r>
          </a:p>
        </p:txBody>
      </p:sp>
      <p:sp>
        <p:nvSpPr>
          <p:cNvPr id="4" name="Model_chooses_a_capability_169">
            <a:extLst>
              <a:ext uri="{FF2B5EF4-FFF2-40B4-BE49-F238E27FC236}">
                <a16:creationId xmlns:a16="http://schemas.microsoft.com/office/drawing/2014/main" id="{8441612C-98FA-41BE-ACE3-2054FE77AEEC}"/>
              </a:ext>
            </a:extLst>
          </p:cNvPr>
          <p:cNvSpPr>
            <a:spLocks noGrp="1"/>
          </p:cNvSpPr>
          <p:nvPr/>
        </p:nvSpPr>
        <p:spPr>
          <a:xfrm>
            <a:off x="752475" y="3989070"/>
            <a:ext cx="3143250" cy="1524000"/>
          </a:xfrm>
          <a:prstGeom prst="roundRect">
            <a:avLst>
              <a:gd name="adj" fmla="val 5000"/>
            </a:avLst>
          </a:prstGeom>
          <a:solidFill>
            <a:srgbClr val="E8EFFD"/>
          </a:solidFill>
          <a:ln w="19050">
            <a:solidFill>
              <a:srgbClr val="2563EB"/>
            </a:solidFill>
          </a:ln>
        </p:spPr>
        <p:txBody>
          <a:bodyPr anchor="ctr">
            <a:noAutofit/>
          </a:bodyPr>
          <a:lstStyle/>
          <a:p>
            <a:pPr algn="ctr">
              <a:defRPr sz="2475">
                <a:solidFill>
                  <a:srgbClr val="10233F"/>
                </a:solidFill>
                <a:latin typeface="Arial"/>
                <a:ea typeface="Arial"/>
                <a:cs typeface="Arial"/>
              </a:defRPr>
            </a:pPr>
            <a:r>
              <a:rPr sz="2475">
                <a:solidFill>
                  <a:srgbClr val="10233F"/>
                </a:solidFill>
                <a:latin typeface="Arial"/>
                <a:ea typeface="Arial"/>
                <a:cs typeface="Arial"/>
              </a:rPr>
              <a:t>Model</a:t>
            </a:r>
          </a:p>
          <a:p>
            <a:pPr algn="ctr">
              <a:defRPr sz="2475">
                <a:solidFill>
                  <a:srgbClr val="10233F"/>
                </a:solidFill>
                <a:latin typeface="Arial"/>
                <a:ea typeface="Arial"/>
                <a:cs typeface="Arial"/>
              </a:defRPr>
            </a:pPr>
            <a:r>
              <a:rPr sz="2475">
                <a:solidFill>
                  <a:srgbClr val="10233F"/>
                </a:solidFill>
                <a:latin typeface="Arial"/>
                <a:ea typeface="Arial"/>
                <a:cs typeface="Arial"/>
              </a:rPr>
              <a:t>chooses a capability</a:t>
            </a:r>
          </a:p>
        </p:txBody>
      </p:sp>
      <p:sp>
        <p:nvSpPr>
          <p:cNvPr id="5" name="get_event_update_event__170">
            <a:extLst>
              <a:ext uri="{FF2B5EF4-FFF2-40B4-BE49-F238E27FC236}">
                <a16:creationId xmlns:a16="http://schemas.microsoft.com/office/drawing/2014/main" id="{D5EE42E0-C863-4CEC-9FEC-F3C79DF3B5D7}"/>
              </a:ext>
            </a:extLst>
          </p:cNvPr>
          <p:cNvSpPr>
            <a:spLocks noGrp="1"/>
          </p:cNvSpPr>
          <p:nvPr/>
        </p:nvSpPr>
        <p:spPr>
          <a:xfrm>
            <a:off x="5667375" y="2428875"/>
            <a:ext cx="4714875" cy="952500"/>
          </a:xfrm>
          <a:prstGeom prst="roundRect">
            <a:avLst>
              <a:gd name="adj" fmla="val 8000"/>
            </a:avLst>
          </a:prstGeom>
          <a:solidFill>
            <a:srgbClr val="E1F3E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get_event_update(event)</a:t>
            </a:r>
          </a:p>
        </p:txBody>
      </p:sp>
      <p:sp>
        <p:nvSpPr>
          <p:cNvPr id="6" name="search_web_query__171">
            <a:extLst>
              <a:ext uri="{FF2B5EF4-FFF2-40B4-BE49-F238E27FC236}">
                <a16:creationId xmlns:a16="http://schemas.microsoft.com/office/drawing/2014/main" id="{9F3582F4-F02C-4C50-8C3E-B15C84D92299}"/>
              </a:ext>
            </a:extLst>
          </p:cNvPr>
          <p:cNvSpPr>
            <a:spLocks noGrp="1"/>
          </p:cNvSpPr>
          <p:nvPr/>
        </p:nvSpPr>
        <p:spPr>
          <a:xfrm>
            <a:off x="5667375" y="4286250"/>
            <a:ext cx="4714875" cy="952500"/>
          </a:xfrm>
          <a:prstGeom prst="roundRect">
            <a:avLst>
              <a:gd name="adj" fmla="val 8000"/>
            </a:avLst>
          </a:prstGeom>
          <a:solidFill>
            <a:srgbClr val="E1F3E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search_web(query)</a:t>
            </a:r>
          </a:p>
        </p:txBody>
      </p:sp>
      <p:sp>
        <p:nvSpPr>
          <p:cNvPr id="7" name="calculate_cost_items__172">
            <a:extLst>
              <a:ext uri="{FF2B5EF4-FFF2-40B4-BE49-F238E27FC236}">
                <a16:creationId xmlns:a16="http://schemas.microsoft.com/office/drawing/2014/main" id="{5615A3F7-3A9D-4262-B53C-162F121F4078}"/>
              </a:ext>
            </a:extLst>
          </p:cNvPr>
          <p:cNvSpPr>
            <a:spLocks noGrp="1"/>
          </p:cNvSpPr>
          <p:nvPr/>
        </p:nvSpPr>
        <p:spPr>
          <a:xfrm>
            <a:off x="5667375" y="6143625"/>
            <a:ext cx="4714875" cy="952500"/>
          </a:xfrm>
          <a:prstGeom prst="roundRect">
            <a:avLst>
              <a:gd name="adj" fmla="val 8000"/>
            </a:avLst>
          </a:prstGeom>
          <a:solidFill>
            <a:srgbClr val="E1F3EF"/>
          </a:solidFill>
          <a:ln w="19050">
            <a:solidFill>
              <a:srgbClr val="0D9488"/>
            </a:solidFill>
          </a:ln>
        </p:spPr>
        <p:txBody>
          <a:bodyPr anchor="ctr">
            <a:noAutofit/>
          </a:bodyPr>
          <a:lstStyle/>
          <a:p>
            <a:pPr algn="ctr">
              <a:defRPr sz="2100">
                <a:solidFill>
                  <a:srgbClr val="10233F"/>
                </a:solidFill>
                <a:latin typeface="Arial"/>
                <a:ea typeface="Arial"/>
                <a:cs typeface="Arial"/>
              </a:defRPr>
            </a:pPr>
            <a:r>
              <a:rPr sz="2100">
                <a:solidFill>
                  <a:srgbClr val="10233F"/>
                </a:solidFill>
                <a:latin typeface="Arial"/>
                <a:ea typeface="Arial"/>
                <a:cs typeface="Arial"/>
              </a:rPr>
              <a:t>calculate_cost(items)</a:t>
            </a:r>
          </a:p>
        </p:txBody>
      </p:sp>
      <p:sp>
        <p:nvSpPr>
          <p:cNvPr id="11" name="Campus_data_173">
            <a:extLst>
              <a:ext uri="{FF2B5EF4-FFF2-40B4-BE49-F238E27FC236}">
                <a16:creationId xmlns:a16="http://schemas.microsoft.com/office/drawing/2014/main" id="{C2C8CF52-57E8-4A8C-A16C-ADB9E8BC0613}"/>
              </a:ext>
            </a:extLst>
          </p:cNvPr>
          <p:cNvSpPr>
            <a:spLocks noGrp="1"/>
          </p:cNvSpPr>
          <p:nvPr/>
        </p:nvSpPr>
        <p:spPr>
          <a:xfrm>
            <a:off x="11430000" y="2428875"/>
            <a:ext cx="2952750" cy="952500"/>
          </a:xfrm>
          <a:prstGeom prst="roundRect">
            <a:avLst>
              <a:gd name="adj" fmla="val 8000"/>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Campus data</a:t>
            </a:r>
          </a:p>
        </p:txBody>
      </p:sp>
      <p:sp>
        <p:nvSpPr>
          <p:cNvPr id="12" name="Public_web_174">
            <a:extLst>
              <a:ext uri="{FF2B5EF4-FFF2-40B4-BE49-F238E27FC236}">
                <a16:creationId xmlns:a16="http://schemas.microsoft.com/office/drawing/2014/main" id="{52CA87CD-37FD-4EB3-AAD4-2958EED65A96}"/>
              </a:ext>
            </a:extLst>
          </p:cNvPr>
          <p:cNvSpPr>
            <a:spLocks noGrp="1"/>
          </p:cNvSpPr>
          <p:nvPr/>
        </p:nvSpPr>
        <p:spPr>
          <a:xfrm>
            <a:off x="11430000" y="4286250"/>
            <a:ext cx="2952750" cy="952500"/>
          </a:xfrm>
          <a:prstGeom prst="roundRect">
            <a:avLst>
              <a:gd name="adj" fmla="val 8000"/>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Public web</a:t>
            </a:r>
          </a:p>
        </p:txBody>
      </p:sp>
      <p:sp>
        <p:nvSpPr>
          <p:cNvPr id="13" name="Python_code_175">
            <a:extLst>
              <a:ext uri="{FF2B5EF4-FFF2-40B4-BE49-F238E27FC236}">
                <a16:creationId xmlns:a16="http://schemas.microsoft.com/office/drawing/2014/main" id="{F085B544-E751-4248-BA82-FB14F2178F30}"/>
              </a:ext>
            </a:extLst>
          </p:cNvPr>
          <p:cNvSpPr>
            <a:spLocks noGrp="1"/>
          </p:cNvSpPr>
          <p:nvPr/>
        </p:nvSpPr>
        <p:spPr>
          <a:xfrm>
            <a:off x="11430000" y="6143625"/>
            <a:ext cx="2952750" cy="952500"/>
          </a:xfrm>
          <a:prstGeom prst="roundRect">
            <a:avLst>
              <a:gd name="adj" fmla="val 8000"/>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Python code</a:t>
            </a:r>
          </a:p>
        </p:txBody>
      </p:sp>
      <p:sp>
        <p:nvSpPr>
          <p:cNvPr id="17" name="text_176">
            <a:extLst>
              <a:ext uri="{FF2B5EF4-FFF2-40B4-BE49-F238E27FC236}">
                <a16:creationId xmlns:a16="http://schemas.microsoft.com/office/drawing/2014/main" id="{370D97CE-D589-4472-B108-5D45FE614569}"/>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A tool has a name, description, inputs and executable code. The application runs it.</a:t>
            </a:r>
          </a:p>
        </p:txBody>
      </p:sp>
    </p:spTree>
    <p:extLst>
      <p:ext uri="{BB962C8B-B14F-4D97-AF65-F5344CB8AC3E}">
        <p14:creationId xmlns:p14="http://schemas.microsoft.com/office/powerpoint/2010/main" val="146032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40" name="Straight Arrow Connector 39"/>
          <p:cNvCxnSpPr>
            <a:stCxn id="36" idx="2"/>
            <a:endCxn id="37" idx="6"/>
          </p:cNvCxnSpPr>
          <p:nvPr/>
        </p:nvCxnSpPr>
        <p:spPr>
          <a:xfrm flipH="1">
            <a:off x="1800225" y="7372350"/>
            <a:ext cx="3638550" cy="0"/>
          </a:xfrm>
          <a:prstGeom prst="straightConnector1">
            <a:avLst/>
          </a:prstGeom>
          <a:ln w="28575">
            <a:solidFill>
              <a:srgbClr val="2563EB"/>
            </a:solidFill>
            <a:tailEnd type="triangle" w="med" len="med"/>
          </a:ln>
        </p:spPr>
      </p:cxnSp>
      <p:cxnSp>
        <p:nvCxnSpPr>
          <p:cNvPr id="41" name="Straight Arrow Connector 40"/>
          <p:cNvCxnSpPr>
            <a:stCxn id="32" idx="2"/>
            <a:endCxn id="33" idx="6"/>
          </p:cNvCxnSpPr>
          <p:nvPr/>
        </p:nvCxnSpPr>
        <p:spPr>
          <a:xfrm flipH="1">
            <a:off x="5610225" y="6610350"/>
            <a:ext cx="3638550" cy="0"/>
          </a:xfrm>
          <a:prstGeom prst="straightConnector1">
            <a:avLst/>
          </a:prstGeom>
          <a:ln w="28575">
            <a:solidFill>
              <a:srgbClr val="0D9488"/>
            </a:solidFill>
            <a:tailEnd type="triangle" w="med" len="med"/>
          </a:ln>
        </p:spPr>
      </p:cxnSp>
      <p:cxnSp>
        <p:nvCxnSpPr>
          <p:cNvPr id="42" name="Straight Arrow Connector 41"/>
          <p:cNvCxnSpPr>
            <a:stCxn id="28" idx="2"/>
            <a:endCxn id="29" idx="6"/>
          </p:cNvCxnSpPr>
          <p:nvPr/>
        </p:nvCxnSpPr>
        <p:spPr>
          <a:xfrm flipH="1">
            <a:off x="9420225" y="5800725"/>
            <a:ext cx="3638550" cy="0"/>
          </a:xfrm>
          <a:prstGeom prst="straightConnector1">
            <a:avLst/>
          </a:prstGeom>
          <a:ln w="28575">
            <a:solidFill>
              <a:srgbClr val="0D9488"/>
            </a:solidFill>
            <a:tailEnd type="triangle" w="med" len="med"/>
          </a:ln>
        </p:spPr>
      </p:cxnSp>
      <p:cxnSp>
        <p:nvCxnSpPr>
          <p:cNvPr id="43" name="Straight Arrow Connector 42"/>
          <p:cNvCxnSpPr>
            <a:stCxn id="24" idx="6"/>
            <a:endCxn id="25" idx="2"/>
          </p:cNvCxnSpPr>
          <p:nvPr/>
        </p:nvCxnSpPr>
        <p:spPr>
          <a:xfrm>
            <a:off x="9420225" y="4943475"/>
            <a:ext cx="3638550" cy="0"/>
          </a:xfrm>
          <a:prstGeom prst="straightConnector1">
            <a:avLst/>
          </a:prstGeom>
          <a:ln w="28575">
            <a:solidFill>
              <a:srgbClr val="0D9488"/>
            </a:solidFill>
            <a:tailEnd type="triangle" w="med" len="med"/>
          </a:ln>
        </p:spPr>
      </p:cxnSp>
      <p:cxnSp>
        <p:nvCxnSpPr>
          <p:cNvPr id="44" name="Straight Arrow Connector 43"/>
          <p:cNvCxnSpPr>
            <a:stCxn id="20" idx="6"/>
            <a:endCxn id="21" idx="2"/>
          </p:cNvCxnSpPr>
          <p:nvPr/>
        </p:nvCxnSpPr>
        <p:spPr>
          <a:xfrm>
            <a:off x="5610225" y="4086225"/>
            <a:ext cx="3638550" cy="0"/>
          </a:xfrm>
          <a:prstGeom prst="straightConnector1">
            <a:avLst/>
          </a:prstGeom>
          <a:ln w="28575">
            <a:solidFill>
              <a:srgbClr val="0D9488"/>
            </a:solidFill>
            <a:tailEnd type="triangle" w="med" len="med"/>
          </a:ln>
        </p:spPr>
      </p:cxnSp>
      <p:cxnSp>
        <p:nvCxnSpPr>
          <p:cNvPr id="45" name="Straight Arrow Connector 44"/>
          <p:cNvCxnSpPr>
            <a:stCxn id="16" idx="6"/>
            <a:endCxn id="17" idx="2"/>
          </p:cNvCxnSpPr>
          <p:nvPr/>
        </p:nvCxnSpPr>
        <p:spPr>
          <a:xfrm>
            <a:off x="1800225" y="3181350"/>
            <a:ext cx="3638550" cy="0"/>
          </a:xfrm>
          <a:prstGeom prst="straightConnector1">
            <a:avLst/>
          </a:prstGeom>
          <a:ln w="28575">
            <a:solidFill>
              <a:srgbClr val="2563EB"/>
            </a:solidFill>
            <a:tailEnd type="triangle" w="med" len="med"/>
          </a:ln>
        </p:spPr>
      </p:cxnSp>
      <p:cxnSp>
        <p:nvCxnSpPr>
          <p:cNvPr id="46" name="Straight Arrow Connector 45"/>
          <p:cNvCxnSpPr>
            <a:stCxn id="7" idx="2"/>
            <a:endCxn id="11" idx="0"/>
          </p:cNvCxnSpPr>
          <p:nvPr/>
        </p:nvCxnSpPr>
        <p:spPr>
          <a:xfrm>
            <a:off x="13144500" y="2667000"/>
            <a:ext cx="0" cy="4810125"/>
          </a:xfrm>
          <a:prstGeom prst="straightConnector1">
            <a:avLst/>
          </a:prstGeom>
          <a:ln w="28575">
            <a:solidFill>
              <a:srgbClr val="CBD5E1"/>
            </a:solidFill>
          </a:ln>
        </p:spPr>
      </p:cxnSp>
      <p:cxnSp>
        <p:nvCxnSpPr>
          <p:cNvPr id="47" name="Straight Arrow Connector 46"/>
          <p:cNvCxnSpPr>
            <a:stCxn id="6" idx="2"/>
            <a:endCxn id="10" idx="0"/>
          </p:cNvCxnSpPr>
          <p:nvPr/>
        </p:nvCxnSpPr>
        <p:spPr>
          <a:xfrm>
            <a:off x="9334500" y="2667000"/>
            <a:ext cx="0" cy="4810125"/>
          </a:xfrm>
          <a:prstGeom prst="straightConnector1">
            <a:avLst/>
          </a:prstGeom>
          <a:ln w="28575">
            <a:solidFill>
              <a:srgbClr val="CBD5E1"/>
            </a:solidFill>
          </a:ln>
        </p:spPr>
      </p:cxnSp>
      <p:cxnSp>
        <p:nvCxnSpPr>
          <p:cNvPr id="48" name="Straight Arrow Connector 47"/>
          <p:cNvCxnSpPr>
            <a:stCxn id="5" idx="2"/>
            <a:endCxn id="9" idx="0"/>
          </p:cNvCxnSpPr>
          <p:nvPr/>
        </p:nvCxnSpPr>
        <p:spPr>
          <a:xfrm>
            <a:off x="5524500" y="2667000"/>
            <a:ext cx="0" cy="4810125"/>
          </a:xfrm>
          <a:prstGeom prst="straightConnector1">
            <a:avLst/>
          </a:prstGeom>
          <a:ln w="28575">
            <a:solidFill>
              <a:srgbClr val="CBD5E1"/>
            </a:solidFill>
          </a:ln>
        </p:spPr>
      </p:cxnSp>
      <p:cxnSp>
        <p:nvCxnSpPr>
          <p:cNvPr id="49" name="Straight Arrow Connector 48"/>
          <p:cNvCxnSpPr>
            <a:stCxn id="4" idx="2"/>
            <a:endCxn id="8" idx="0"/>
          </p:cNvCxnSpPr>
          <p:nvPr/>
        </p:nvCxnSpPr>
        <p:spPr>
          <a:xfrm>
            <a:off x="1714500" y="2667000"/>
            <a:ext cx="0" cy="4810125"/>
          </a:xfrm>
          <a:prstGeom prst="straightConnector1">
            <a:avLst/>
          </a:prstGeom>
          <a:ln w="28575">
            <a:solidFill>
              <a:srgbClr val="CBD5E1"/>
            </a:solidFill>
          </a:ln>
        </p:spPr>
      </p:cxnSp>
      <p:sp>
        <p:nvSpPr>
          <p:cNvPr id="50" name="text_177">
            <a:extLst>
              <a:ext uri="{FF2B5EF4-FFF2-40B4-BE49-F238E27FC236}">
                <a16:creationId xmlns:a16="http://schemas.microsoft.com/office/drawing/2014/main" id="{FD1B1C7D-8D7F-4FFC-8CC5-8372329B6F34}"/>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03 • WHO DOES WHAT?</a:t>
            </a:r>
          </a:p>
        </p:txBody>
      </p:sp>
      <p:sp>
        <p:nvSpPr>
          <p:cNvPr id="2" name="text_178">
            <a:extLst>
              <a:ext uri="{FF2B5EF4-FFF2-40B4-BE49-F238E27FC236}">
                <a16:creationId xmlns:a16="http://schemas.microsoft.com/office/drawing/2014/main" id="{D22E6872-20EB-4953-B155-B69C7CFBF4F2}"/>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One tool call, end to end</a:t>
            </a:r>
          </a:p>
        </p:txBody>
      </p:sp>
      <p:sp>
        <p:nvSpPr>
          <p:cNvPr id="3" name="text_179">
            <a:extLst>
              <a:ext uri="{FF2B5EF4-FFF2-40B4-BE49-F238E27FC236}">
                <a16:creationId xmlns:a16="http://schemas.microsoft.com/office/drawing/2014/main" id="{F4E539C0-DC4A-4474-AF8D-5A0131D3EA47}"/>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15 / 22</a:t>
            </a:r>
          </a:p>
        </p:txBody>
      </p:sp>
      <p:sp>
        <p:nvSpPr>
          <p:cNvPr id="4" name="Student_180">
            <a:extLst>
              <a:ext uri="{FF2B5EF4-FFF2-40B4-BE49-F238E27FC236}">
                <a16:creationId xmlns:a16="http://schemas.microsoft.com/office/drawing/2014/main" id="{2BCC0339-1DF8-4477-9780-068FAFE485BC}"/>
              </a:ext>
            </a:extLst>
          </p:cNvPr>
          <p:cNvSpPr>
            <a:spLocks noGrp="1"/>
          </p:cNvSpPr>
          <p:nvPr/>
        </p:nvSpPr>
        <p:spPr>
          <a:xfrm>
            <a:off x="523875" y="2047875"/>
            <a:ext cx="2381250" cy="619125"/>
          </a:xfrm>
          <a:prstGeom prst="roundRect">
            <a:avLst>
              <a:gd name="adj" fmla="val 12308"/>
            </a:avLst>
          </a:prstGeom>
          <a:solidFill>
            <a:srgbClr val="FFFFFF"/>
          </a:solidFill>
          <a:ln w="19050">
            <a:solidFill>
              <a:srgbClr val="2563EB"/>
            </a:solidFill>
          </a:ln>
        </p:spPr>
        <p:txBody>
          <a:bodyPr anchor="ctr">
            <a:noAutofit/>
          </a:bodyPr>
          <a:lstStyle/>
          <a:p>
            <a:pPr algn="ctr">
              <a:defRPr sz="2025">
                <a:solidFill>
                  <a:srgbClr val="10233F"/>
                </a:solidFill>
                <a:latin typeface="Arial"/>
                <a:ea typeface="Arial"/>
                <a:cs typeface="Arial"/>
              </a:defRPr>
            </a:pPr>
            <a:r>
              <a:rPr sz="2025">
                <a:solidFill>
                  <a:srgbClr val="10233F"/>
                </a:solidFill>
                <a:latin typeface="Arial"/>
                <a:ea typeface="Arial"/>
                <a:cs typeface="Arial"/>
              </a:rPr>
              <a:t>Student</a:t>
            </a:r>
          </a:p>
        </p:txBody>
      </p:sp>
      <p:sp>
        <p:nvSpPr>
          <p:cNvPr id="5" name="Model_181">
            <a:extLst>
              <a:ext uri="{FF2B5EF4-FFF2-40B4-BE49-F238E27FC236}">
                <a16:creationId xmlns:a16="http://schemas.microsoft.com/office/drawing/2014/main" id="{FEE79C2C-8502-4195-8581-09A573C1CB72}"/>
              </a:ext>
            </a:extLst>
          </p:cNvPr>
          <p:cNvSpPr>
            <a:spLocks noGrp="1"/>
          </p:cNvSpPr>
          <p:nvPr/>
        </p:nvSpPr>
        <p:spPr>
          <a:xfrm>
            <a:off x="4333875" y="2047875"/>
            <a:ext cx="2381250" cy="619125"/>
          </a:xfrm>
          <a:prstGeom prst="roundRect">
            <a:avLst>
              <a:gd name="adj" fmla="val 12308"/>
            </a:avLst>
          </a:prstGeom>
          <a:solidFill>
            <a:srgbClr val="E8EFFD"/>
          </a:solidFill>
          <a:ln w="19050">
            <a:solidFill>
              <a:srgbClr val="2563EB"/>
            </a:solidFill>
          </a:ln>
        </p:spPr>
        <p:txBody>
          <a:bodyPr anchor="ctr">
            <a:noAutofit/>
          </a:bodyPr>
          <a:lstStyle/>
          <a:p>
            <a:pPr algn="ctr">
              <a:defRPr sz="2025">
                <a:solidFill>
                  <a:srgbClr val="10233F"/>
                </a:solidFill>
                <a:latin typeface="Arial"/>
                <a:ea typeface="Arial"/>
                <a:cs typeface="Arial"/>
              </a:defRPr>
            </a:pPr>
            <a:r>
              <a:rPr sz="2025">
                <a:solidFill>
                  <a:srgbClr val="10233F"/>
                </a:solidFill>
                <a:latin typeface="Arial"/>
                <a:ea typeface="Arial"/>
                <a:cs typeface="Arial"/>
              </a:rPr>
              <a:t>Model</a:t>
            </a:r>
          </a:p>
        </p:txBody>
      </p:sp>
      <p:sp>
        <p:nvSpPr>
          <p:cNvPr id="6" name="Application_182">
            <a:extLst>
              <a:ext uri="{FF2B5EF4-FFF2-40B4-BE49-F238E27FC236}">
                <a16:creationId xmlns:a16="http://schemas.microsoft.com/office/drawing/2014/main" id="{1F6A7AB6-2D50-4586-8587-CB98AC7B604D}"/>
              </a:ext>
            </a:extLst>
          </p:cNvPr>
          <p:cNvSpPr>
            <a:spLocks noGrp="1"/>
          </p:cNvSpPr>
          <p:nvPr/>
        </p:nvSpPr>
        <p:spPr>
          <a:xfrm>
            <a:off x="8143875" y="2047875"/>
            <a:ext cx="2381250" cy="619125"/>
          </a:xfrm>
          <a:prstGeom prst="roundRect">
            <a:avLst>
              <a:gd name="adj" fmla="val 12308"/>
            </a:avLst>
          </a:prstGeom>
          <a:solidFill>
            <a:srgbClr val="FFFFFF"/>
          </a:solidFill>
          <a:ln w="19050">
            <a:solidFill>
              <a:srgbClr val="0D9488"/>
            </a:solidFill>
          </a:ln>
        </p:spPr>
        <p:txBody>
          <a:bodyPr anchor="ctr">
            <a:noAutofit/>
          </a:bodyPr>
          <a:lstStyle/>
          <a:p>
            <a:pPr algn="ctr">
              <a:defRPr sz="2025">
                <a:solidFill>
                  <a:srgbClr val="10233F"/>
                </a:solidFill>
                <a:latin typeface="Arial"/>
                <a:ea typeface="Arial"/>
                <a:cs typeface="Arial"/>
              </a:defRPr>
            </a:pPr>
            <a:r>
              <a:rPr sz="2025">
                <a:solidFill>
                  <a:srgbClr val="10233F"/>
                </a:solidFill>
                <a:latin typeface="Arial"/>
                <a:ea typeface="Arial"/>
                <a:cs typeface="Arial"/>
              </a:rPr>
              <a:t>Application</a:t>
            </a:r>
          </a:p>
        </p:txBody>
      </p:sp>
      <p:sp>
        <p:nvSpPr>
          <p:cNvPr id="7" name="Campus_data_183">
            <a:extLst>
              <a:ext uri="{FF2B5EF4-FFF2-40B4-BE49-F238E27FC236}">
                <a16:creationId xmlns:a16="http://schemas.microsoft.com/office/drawing/2014/main" id="{189B154B-70A4-4A36-B3B2-21B28FB41513}"/>
              </a:ext>
            </a:extLst>
          </p:cNvPr>
          <p:cNvSpPr>
            <a:spLocks noGrp="1"/>
          </p:cNvSpPr>
          <p:nvPr/>
        </p:nvSpPr>
        <p:spPr>
          <a:xfrm>
            <a:off x="11953875" y="2047875"/>
            <a:ext cx="2381250" cy="619125"/>
          </a:xfrm>
          <a:prstGeom prst="roundRect">
            <a:avLst>
              <a:gd name="adj" fmla="val 12308"/>
            </a:avLst>
          </a:prstGeom>
          <a:solidFill>
            <a:srgbClr val="FFFFFF"/>
          </a:solidFill>
          <a:ln w="19050">
            <a:solidFill>
              <a:srgbClr val="2563EB"/>
            </a:solidFill>
          </a:ln>
        </p:spPr>
        <p:txBody>
          <a:bodyPr anchor="ctr">
            <a:noAutofit/>
          </a:bodyPr>
          <a:lstStyle/>
          <a:p>
            <a:pPr algn="ctr">
              <a:defRPr sz="2025">
                <a:solidFill>
                  <a:srgbClr val="10233F"/>
                </a:solidFill>
                <a:latin typeface="Arial"/>
                <a:ea typeface="Arial"/>
                <a:cs typeface="Arial"/>
              </a:defRPr>
            </a:pPr>
            <a:r>
              <a:rPr sz="2025">
                <a:solidFill>
                  <a:srgbClr val="10233F"/>
                </a:solidFill>
                <a:latin typeface="Arial"/>
                <a:ea typeface="Arial"/>
                <a:cs typeface="Arial"/>
              </a:rPr>
              <a:t>Campus data</a:t>
            </a:r>
          </a:p>
        </p:txBody>
      </p:sp>
      <p:sp>
        <p:nvSpPr>
          <p:cNvPr id="8" name="lifeline_end_184">
            <a:extLst>
              <a:ext uri="{FF2B5EF4-FFF2-40B4-BE49-F238E27FC236}">
                <a16:creationId xmlns:a16="http://schemas.microsoft.com/office/drawing/2014/main" id="{A0F9D042-D388-423D-962E-55147289E19F}"/>
              </a:ext>
            </a:extLst>
          </p:cNvPr>
          <p:cNvSpPr>
            <a:spLocks noGrp="1"/>
          </p:cNvSpPr>
          <p:nvPr/>
        </p:nvSpPr>
        <p:spPr>
          <a:xfrm>
            <a:off x="1695450" y="7477125"/>
            <a:ext cx="38100" cy="38100"/>
          </a:xfrm>
          <a:prstGeom prst="ellipse">
            <a:avLst/>
          </a:prstGeom>
          <a:solidFill>
            <a:srgbClr val="CBD5E1"/>
          </a:solidFill>
          <a:ln w="0">
            <a:noFill/>
          </a:ln>
        </p:spPr>
      </p:sp>
      <p:sp>
        <p:nvSpPr>
          <p:cNvPr id="9" name="lifeline_end_185">
            <a:extLst>
              <a:ext uri="{FF2B5EF4-FFF2-40B4-BE49-F238E27FC236}">
                <a16:creationId xmlns:a16="http://schemas.microsoft.com/office/drawing/2014/main" id="{2732247A-1059-465A-A246-8BB11EC25177}"/>
              </a:ext>
            </a:extLst>
          </p:cNvPr>
          <p:cNvSpPr>
            <a:spLocks noGrp="1"/>
          </p:cNvSpPr>
          <p:nvPr/>
        </p:nvSpPr>
        <p:spPr>
          <a:xfrm>
            <a:off x="5505450" y="7477125"/>
            <a:ext cx="38100" cy="38100"/>
          </a:xfrm>
          <a:prstGeom prst="ellipse">
            <a:avLst/>
          </a:prstGeom>
          <a:solidFill>
            <a:srgbClr val="CBD5E1"/>
          </a:solidFill>
          <a:ln w="0">
            <a:noFill/>
          </a:ln>
        </p:spPr>
      </p:sp>
      <p:sp>
        <p:nvSpPr>
          <p:cNvPr id="10" name="lifeline_end_186">
            <a:extLst>
              <a:ext uri="{FF2B5EF4-FFF2-40B4-BE49-F238E27FC236}">
                <a16:creationId xmlns:a16="http://schemas.microsoft.com/office/drawing/2014/main" id="{6F009EF0-E1C1-4939-8084-5F5131C21D45}"/>
              </a:ext>
            </a:extLst>
          </p:cNvPr>
          <p:cNvSpPr>
            <a:spLocks noGrp="1"/>
          </p:cNvSpPr>
          <p:nvPr/>
        </p:nvSpPr>
        <p:spPr>
          <a:xfrm>
            <a:off x="9315450" y="7477125"/>
            <a:ext cx="38100" cy="38100"/>
          </a:xfrm>
          <a:prstGeom prst="ellipse">
            <a:avLst/>
          </a:prstGeom>
          <a:solidFill>
            <a:srgbClr val="CBD5E1"/>
          </a:solidFill>
          <a:ln w="0">
            <a:noFill/>
          </a:ln>
        </p:spPr>
      </p:sp>
      <p:sp>
        <p:nvSpPr>
          <p:cNvPr id="11" name="lifeline_end_187">
            <a:extLst>
              <a:ext uri="{FF2B5EF4-FFF2-40B4-BE49-F238E27FC236}">
                <a16:creationId xmlns:a16="http://schemas.microsoft.com/office/drawing/2014/main" id="{5B7701E2-CF4B-4202-A460-27EF3A69B51B}"/>
              </a:ext>
            </a:extLst>
          </p:cNvPr>
          <p:cNvSpPr>
            <a:spLocks noGrp="1"/>
          </p:cNvSpPr>
          <p:nvPr/>
        </p:nvSpPr>
        <p:spPr>
          <a:xfrm>
            <a:off x="13125450" y="7477125"/>
            <a:ext cx="38100" cy="38100"/>
          </a:xfrm>
          <a:prstGeom prst="ellipse">
            <a:avLst/>
          </a:prstGeom>
          <a:solidFill>
            <a:srgbClr val="CBD5E1"/>
          </a:solidFill>
          <a:ln w="0">
            <a:noFill/>
          </a:ln>
        </p:spPr>
      </p:sp>
      <p:sp>
        <p:nvSpPr>
          <p:cNvPr id="16" name="event_188">
            <a:extLst>
              <a:ext uri="{FF2B5EF4-FFF2-40B4-BE49-F238E27FC236}">
                <a16:creationId xmlns:a16="http://schemas.microsoft.com/office/drawing/2014/main" id="{EE0E9007-9DB3-43F3-96BB-CA389DF60A9E}"/>
              </a:ext>
            </a:extLst>
          </p:cNvPr>
          <p:cNvSpPr>
            <a:spLocks noGrp="1"/>
          </p:cNvSpPr>
          <p:nvPr/>
        </p:nvSpPr>
        <p:spPr>
          <a:xfrm>
            <a:off x="1628775" y="3095625"/>
            <a:ext cx="171450" cy="171450"/>
          </a:xfrm>
          <a:prstGeom prst="ellipse">
            <a:avLst/>
          </a:prstGeom>
          <a:solidFill>
            <a:srgbClr val="2563EB"/>
          </a:solidFill>
          <a:ln w="0">
            <a:noFill/>
          </a:ln>
        </p:spPr>
      </p:sp>
      <p:sp>
        <p:nvSpPr>
          <p:cNvPr id="17" name="event_189">
            <a:extLst>
              <a:ext uri="{FF2B5EF4-FFF2-40B4-BE49-F238E27FC236}">
                <a16:creationId xmlns:a16="http://schemas.microsoft.com/office/drawing/2014/main" id="{55F8A59E-D962-4B60-AD77-638C9F85013B}"/>
              </a:ext>
            </a:extLst>
          </p:cNvPr>
          <p:cNvSpPr>
            <a:spLocks noGrp="1"/>
          </p:cNvSpPr>
          <p:nvPr/>
        </p:nvSpPr>
        <p:spPr>
          <a:xfrm>
            <a:off x="5438775" y="3095625"/>
            <a:ext cx="171450" cy="171450"/>
          </a:xfrm>
          <a:prstGeom prst="ellipse">
            <a:avLst/>
          </a:prstGeom>
          <a:solidFill>
            <a:srgbClr val="2563EB"/>
          </a:solidFill>
          <a:ln w="0">
            <a:noFill/>
          </a:ln>
        </p:spPr>
      </p:sp>
      <p:sp>
        <p:nvSpPr>
          <p:cNvPr id="19" name="text_190">
            <a:extLst>
              <a:ext uri="{FF2B5EF4-FFF2-40B4-BE49-F238E27FC236}">
                <a16:creationId xmlns:a16="http://schemas.microsoft.com/office/drawing/2014/main" id="{11A678D8-255C-4A40-AE2A-DDA146CC8FD4}"/>
              </a:ext>
            </a:extLst>
          </p:cNvPr>
          <p:cNvSpPr>
            <a:spLocks noGrp="1"/>
          </p:cNvSpPr>
          <p:nvPr/>
        </p:nvSpPr>
        <p:spPr>
          <a:xfrm>
            <a:off x="1809750" y="2657475"/>
            <a:ext cx="6858000" cy="381000"/>
          </a:xfrm>
          <a:prstGeom prst="rect">
            <a:avLst/>
          </a:prstGeom>
          <a:noFill/>
          <a:ln w="0">
            <a:noFill/>
          </a:ln>
        </p:spPr>
        <p:txBody>
          <a:bodyPr anchor="t">
            <a:noAutofit/>
          </a:bodyPr>
          <a:lstStyle/>
          <a:p>
            <a:pPr>
              <a:defRPr sz="1725" b="1">
                <a:solidFill>
                  <a:srgbClr val="2563EB"/>
                </a:solidFill>
                <a:latin typeface="Arial"/>
                <a:ea typeface="Arial"/>
                <a:cs typeface="Arial"/>
              </a:defRPr>
            </a:pPr>
            <a:r>
              <a:rPr sz="1725" b="1">
                <a:solidFill>
                  <a:srgbClr val="2563EB"/>
                </a:solidFill>
                <a:latin typeface="Arial"/>
                <a:ea typeface="Arial"/>
                <a:cs typeface="Arial"/>
              </a:rPr>
              <a:t>1  Where do we report?</a:t>
            </a:r>
          </a:p>
        </p:txBody>
      </p:sp>
      <p:sp>
        <p:nvSpPr>
          <p:cNvPr id="20" name="event_191">
            <a:extLst>
              <a:ext uri="{FF2B5EF4-FFF2-40B4-BE49-F238E27FC236}">
                <a16:creationId xmlns:a16="http://schemas.microsoft.com/office/drawing/2014/main" id="{356CD5F3-46C5-4D24-9A0F-299098E205D9}"/>
              </a:ext>
            </a:extLst>
          </p:cNvPr>
          <p:cNvSpPr>
            <a:spLocks noGrp="1"/>
          </p:cNvSpPr>
          <p:nvPr/>
        </p:nvSpPr>
        <p:spPr>
          <a:xfrm>
            <a:off x="5438775" y="4000500"/>
            <a:ext cx="171450" cy="171450"/>
          </a:xfrm>
          <a:prstGeom prst="ellipse">
            <a:avLst/>
          </a:prstGeom>
          <a:solidFill>
            <a:srgbClr val="0D9488"/>
          </a:solidFill>
          <a:ln w="0">
            <a:noFill/>
          </a:ln>
        </p:spPr>
      </p:sp>
      <p:sp>
        <p:nvSpPr>
          <p:cNvPr id="21" name="event_192">
            <a:extLst>
              <a:ext uri="{FF2B5EF4-FFF2-40B4-BE49-F238E27FC236}">
                <a16:creationId xmlns:a16="http://schemas.microsoft.com/office/drawing/2014/main" id="{86189473-C9BC-4BE0-A43F-137C82EED9F3}"/>
              </a:ext>
            </a:extLst>
          </p:cNvPr>
          <p:cNvSpPr>
            <a:spLocks noGrp="1"/>
          </p:cNvSpPr>
          <p:nvPr/>
        </p:nvSpPr>
        <p:spPr>
          <a:xfrm>
            <a:off x="9248775" y="4000500"/>
            <a:ext cx="171450" cy="171450"/>
          </a:xfrm>
          <a:prstGeom prst="ellipse">
            <a:avLst/>
          </a:prstGeom>
          <a:solidFill>
            <a:srgbClr val="0D9488"/>
          </a:solidFill>
          <a:ln w="0">
            <a:noFill/>
          </a:ln>
        </p:spPr>
      </p:sp>
      <p:sp>
        <p:nvSpPr>
          <p:cNvPr id="23" name="text_193">
            <a:extLst>
              <a:ext uri="{FF2B5EF4-FFF2-40B4-BE49-F238E27FC236}">
                <a16:creationId xmlns:a16="http://schemas.microsoft.com/office/drawing/2014/main" id="{28A25C2A-6EF5-4474-9C44-B2A1B21DFF74}"/>
              </a:ext>
            </a:extLst>
          </p:cNvPr>
          <p:cNvSpPr>
            <a:spLocks noGrp="1"/>
          </p:cNvSpPr>
          <p:nvPr/>
        </p:nvSpPr>
        <p:spPr>
          <a:xfrm>
            <a:off x="5619750" y="3562350"/>
            <a:ext cx="6858000" cy="38100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2  get_event_update("hackathon")</a:t>
            </a:r>
          </a:p>
        </p:txBody>
      </p:sp>
      <p:sp>
        <p:nvSpPr>
          <p:cNvPr id="24" name="event_194">
            <a:extLst>
              <a:ext uri="{FF2B5EF4-FFF2-40B4-BE49-F238E27FC236}">
                <a16:creationId xmlns:a16="http://schemas.microsoft.com/office/drawing/2014/main" id="{C90B0776-7348-41F7-B51E-C0ADD86BCF26}"/>
              </a:ext>
            </a:extLst>
          </p:cNvPr>
          <p:cNvSpPr>
            <a:spLocks noGrp="1"/>
          </p:cNvSpPr>
          <p:nvPr/>
        </p:nvSpPr>
        <p:spPr>
          <a:xfrm>
            <a:off x="9248775" y="4857750"/>
            <a:ext cx="171450" cy="171450"/>
          </a:xfrm>
          <a:prstGeom prst="ellipse">
            <a:avLst/>
          </a:prstGeom>
          <a:solidFill>
            <a:srgbClr val="0D9488"/>
          </a:solidFill>
          <a:ln w="0">
            <a:noFill/>
          </a:ln>
        </p:spPr>
      </p:sp>
      <p:sp>
        <p:nvSpPr>
          <p:cNvPr id="25" name="event_195">
            <a:extLst>
              <a:ext uri="{FF2B5EF4-FFF2-40B4-BE49-F238E27FC236}">
                <a16:creationId xmlns:a16="http://schemas.microsoft.com/office/drawing/2014/main" id="{45DB8A8B-940A-473D-8359-EF178099C916}"/>
              </a:ext>
            </a:extLst>
          </p:cNvPr>
          <p:cNvSpPr>
            <a:spLocks noGrp="1"/>
          </p:cNvSpPr>
          <p:nvPr/>
        </p:nvSpPr>
        <p:spPr>
          <a:xfrm>
            <a:off x="13058775" y="4857750"/>
            <a:ext cx="171450" cy="171450"/>
          </a:xfrm>
          <a:prstGeom prst="ellipse">
            <a:avLst/>
          </a:prstGeom>
          <a:solidFill>
            <a:srgbClr val="0D9488"/>
          </a:solidFill>
          <a:ln w="0">
            <a:noFill/>
          </a:ln>
        </p:spPr>
      </p:sp>
      <p:sp>
        <p:nvSpPr>
          <p:cNvPr id="27" name="text_196">
            <a:extLst>
              <a:ext uri="{FF2B5EF4-FFF2-40B4-BE49-F238E27FC236}">
                <a16:creationId xmlns:a16="http://schemas.microsoft.com/office/drawing/2014/main" id="{805D2A4F-66D7-484D-A1DD-BD56A25D8A2C}"/>
              </a:ext>
            </a:extLst>
          </p:cNvPr>
          <p:cNvSpPr>
            <a:spLocks noGrp="1"/>
          </p:cNvSpPr>
          <p:nvPr/>
        </p:nvSpPr>
        <p:spPr>
          <a:xfrm>
            <a:off x="9429750" y="4419600"/>
            <a:ext cx="4953000" cy="38100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3  Execute the function</a:t>
            </a:r>
          </a:p>
        </p:txBody>
      </p:sp>
      <p:sp>
        <p:nvSpPr>
          <p:cNvPr id="28" name="event_197">
            <a:extLst>
              <a:ext uri="{FF2B5EF4-FFF2-40B4-BE49-F238E27FC236}">
                <a16:creationId xmlns:a16="http://schemas.microsoft.com/office/drawing/2014/main" id="{FA5E18C5-6065-4071-8B74-AE934B88E46B}"/>
              </a:ext>
            </a:extLst>
          </p:cNvPr>
          <p:cNvSpPr>
            <a:spLocks noGrp="1"/>
          </p:cNvSpPr>
          <p:nvPr/>
        </p:nvSpPr>
        <p:spPr>
          <a:xfrm>
            <a:off x="13058775" y="5715000"/>
            <a:ext cx="171450" cy="171450"/>
          </a:xfrm>
          <a:prstGeom prst="ellipse">
            <a:avLst/>
          </a:prstGeom>
          <a:solidFill>
            <a:srgbClr val="0D9488"/>
          </a:solidFill>
          <a:ln w="0">
            <a:noFill/>
          </a:ln>
        </p:spPr>
      </p:sp>
      <p:sp>
        <p:nvSpPr>
          <p:cNvPr id="29" name="event_198">
            <a:extLst>
              <a:ext uri="{FF2B5EF4-FFF2-40B4-BE49-F238E27FC236}">
                <a16:creationId xmlns:a16="http://schemas.microsoft.com/office/drawing/2014/main" id="{F1BA64D5-AA76-4582-95FC-462D6011CFD8}"/>
              </a:ext>
            </a:extLst>
          </p:cNvPr>
          <p:cNvSpPr>
            <a:spLocks noGrp="1"/>
          </p:cNvSpPr>
          <p:nvPr/>
        </p:nvSpPr>
        <p:spPr>
          <a:xfrm>
            <a:off x="9248775" y="5715000"/>
            <a:ext cx="171450" cy="171450"/>
          </a:xfrm>
          <a:prstGeom prst="ellipse">
            <a:avLst/>
          </a:prstGeom>
          <a:solidFill>
            <a:srgbClr val="0D9488"/>
          </a:solidFill>
          <a:ln w="0">
            <a:noFill/>
          </a:ln>
        </p:spPr>
      </p:sp>
      <p:sp>
        <p:nvSpPr>
          <p:cNvPr id="31" name="text_199">
            <a:extLst>
              <a:ext uri="{FF2B5EF4-FFF2-40B4-BE49-F238E27FC236}">
                <a16:creationId xmlns:a16="http://schemas.microsoft.com/office/drawing/2014/main" id="{0869A91F-6961-4071-B5BC-AA47352E28AD}"/>
              </a:ext>
            </a:extLst>
          </p:cNvPr>
          <p:cNvSpPr>
            <a:spLocks noGrp="1"/>
          </p:cNvSpPr>
          <p:nvPr/>
        </p:nvSpPr>
        <p:spPr>
          <a:xfrm>
            <a:off x="9429750" y="5276850"/>
            <a:ext cx="4953000" cy="381000"/>
          </a:xfrm>
          <a:prstGeom prst="rect">
            <a:avLst/>
          </a:prstGeom>
          <a:noFill/>
          <a:ln w="0">
            <a:noFill/>
          </a:ln>
        </p:spPr>
        <p:txBody>
          <a:bodyPr anchor="t">
            <a:noAutofit/>
          </a:bodyPr>
          <a:lstStyle/>
          <a:p>
            <a:pPr>
              <a:defRPr sz="1575" b="1">
                <a:solidFill>
                  <a:srgbClr val="0D9488"/>
                </a:solidFill>
                <a:latin typeface="Arial"/>
                <a:ea typeface="Arial"/>
                <a:cs typeface="Arial"/>
              </a:defRPr>
            </a:pPr>
            <a:r>
              <a:rPr sz="1575" b="1">
                <a:solidFill>
                  <a:srgbClr val="0D9488"/>
                </a:solidFill>
                <a:latin typeface="Arial"/>
                <a:ea typeface="Arial"/>
                <a:cs typeface="Arial"/>
              </a:rPr>
              <a:t>4  {venue: "Auditorium", time: "09:00"}</a:t>
            </a:r>
          </a:p>
        </p:txBody>
      </p:sp>
      <p:sp>
        <p:nvSpPr>
          <p:cNvPr id="32" name="event_200">
            <a:extLst>
              <a:ext uri="{FF2B5EF4-FFF2-40B4-BE49-F238E27FC236}">
                <a16:creationId xmlns:a16="http://schemas.microsoft.com/office/drawing/2014/main" id="{B9C57DA1-E197-46A8-AFEC-0703A3FE2F3D}"/>
              </a:ext>
            </a:extLst>
          </p:cNvPr>
          <p:cNvSpPr>
            <a:spLocks noGrp="1"/>
          </p:cNvSpPr>
          <p:nvPr/>
        </p:nvSpPr>
        <p:spPr>
          <a:xfrm>
            <a:off x="9248775" y="6524625"/>
            <a:ext cx="171450" cy="171450"/>
          </a:xfrm>
          <a:prstGeom prst="ellipse">
            <a:avLst/>
          </a:prstGeom>
          <a:solidFill>
            <a:srgbClr val="0D9488"/>
          </a:solidFill>
          <a:ln w="0">
            <a:noFill/>
          </a:ln>
        </p:spPr>
      </p:sp>
      <p:sp>
        <p:nvSpPr>
          <p:cNvPr id="33" name="event_201">
            <a:extLst>
              <a:ext uri="{FF2B5EF4-FFF2-40B4-BE49-F238E27FC236}">
                <a16:creationId xmlns:a16="http://schemas.microsoft.com/office/drawing/2014/main" id="{3B4DC0D7-9343-4C84-9410-A91E05471967}"/>
              </a:ext>
            </a:extLst>
          </p:cNvPr>
          <p:cNvSpPr>
            <a:spLocks noGrp="1"/>
          </p:cNvSpPr>
          <p:nvPr/>
        </p:nvSpPr>
        <p:spPr>
          <a:xfrm>
            <a:off x="5438775" y="6524625"/>
            <a:ext cx="171450" cy="171450"/>
          </a:xfrm>
          <a:prstGeom prst="ellipse">
            <a:avLst/>
          </a:prstGeom>
          <a:solidFill>
            <a:srgbClr val="0D9488"/>
          </a:solidFill>
          <a:ln w="0">
            <a:noFill/>
          </a:ln>
        </p:spPr>
      </p:sp>
      <p:sp>
        <p:nvSpPr>
          <p:cNvPr id="35" name="text_202">
            <a:extLst>
              <a:ext uri="{FF2B5EF4-FFF2-40B4-BE49-F238E27FC236}">
                <a16:creationId xmlns:a16="http://schemas.microsoft.com/office/drawing/2014/main" id="{DA9CD28A-E245-4090-A9A4-057575F415A6}"/>
              </a:ext>
            </a:extLst>
          </p:cNvPr>
          <p:cNvSpPr>
            <a:spLocks noGrp="1"/>
          </p:cNvSpPr>
          <p:nvPr/>
        </p:nvSpPr>
        <p:spPr>
          <a:xfrm>
            <a:off x="5619750" y="6086475"/>
            <a:ext cx="6858000" cy="38100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5  Add tool result to context</a:t>
            </a:r>
          </a:p>
        </p:txBody>
      </p:sp>
      <p:sp>
        <p:nvSpPr>
          <p:cNvPr id="36" name="event_203">
            <a:extLst>
              <a:ext uri="{FF2B5EF4-FFF2-40B4-BE49-F238E27FC236}">
                <a16:creationId xmlns:a16="http://schemas.microsoft.com/office/drawing/2014/main" id="{CF79BEC9-DB83-42C2-A4DE-5D787085E07F}"/>
              </a:ext>
            </a:extLst>
          </p:cNvPr>
          <p:cNvSpPr>
            <a:spLocks noGrp="1"/>
          </p:cNvSpPr>
          <p:nvPr/>
        </p:nvSpPr>
        <p:spPr>
          <a:xfrm>
            <a:off x="5438775" y="7286625"/>
            <a:ext cx="171450" cy="171450"/>
          </a:xfrm>
          <a:prstGeom prst="ellipse">
            <a:avLst/>
          </a:prstGeom>
          <a:solidFill>
            <a:srgbClr val="2563EB"/>
          </a:solidFill>
          <a:ln w="0">
            <a:noFill/>
          </a:ln>
        </p:spPr>
      </p:sp>
      <p:sp>
        <p:nvSpPr>
          <p:cNvPr id="37" name="event_204">
            <a:extLst>
              <a:ext uri="{FF2B5EF4-FFF2-40B4-BE49-F238E27FC236}">
                <a16:creationId xmlns:a16="http://schemas.microsoft.com/office/drawing/2014/main" id="{0835941F-C469-4EFD-B6C1-6FCF1D00F5F8}"/>
              </a:ext>
            </a:extLst>
          </p:cNvPr>
          <p:cNvSpPr>
            <a:spLocks noGrp="1"/>
          </p:cNvSpPr>
          <p:nvPr/>
        </p:nvSpPr>
        <p:spPr>
          <a:xfrm>
            <a:off x="1628775" y="7286625"/>
            <a:ext cx="171450" cy="171450"/>
          </a:xfrm>
          <a:prstGeom prst="ellipse">
            <a:avLst/>
          </a:prstGeom>
          <a:solidFill>
            <a:srgbClr val="2563EB"/>
          </a:solidFill>
          <a:ln w="0">
            <a:noFill/>
          </a:ln>
        </p:spPr>
      </p:sp>
      <p:sp>
        <p:nvSpPr>
          <p:cNvPr id="39" name="text_205">
            <a:extLst>
              <a:ext uri="{FF2B5EF4-FFF2-40B4-BE49-F238E27FC236}">
                <a16:creationId xmlns:a16="http://schemas.microsoft.com/office/drawing/2014/main" id="{C7494184-24F5-4777-9F11-0FDDA804FCED}"/>
              </a:ext>
            </a:extLst>
          </p:cNvPr>
          <p:cNvSpPr>
            <a:spLocks noGrp="1"/>
          </p:cNvSpPr>
          <p:nvPr/>
        </p:nvSpPr>
        <p:spPr>
          <a:xfrm>
            <a:off x="1809750" y="6848475"/>
            <a:ext cx="6858000" cy="381000"/>
          </a:xfrm>
          <a:prstGeom prst="rect">
            <a:avLst/>
          </a:prstGeom>
          <a:noFill/>
          <a:ln w="0">
            <a:noFill/>
          </a:ln>
        </p:spPr>
        <p:txBody>
          <a:bodyPr anchor="t">
            <a:noAutofit/>
          </a:bodyPr>
          <a:lstStyle/>
          <a:p>
            <a:pPr>
              <a:defRPr sz="1725" b="1">
                <a:solidFill>
                  <a:srgbClr val="2563EB"/>
                </a:solidFill>
                <a:latin typeface="Arial"/>
                <a:ea typeface="Arial"/>
                <a:cs typeface="Arial"/>
              </a:defRPr>
            </a:pPr>
            <a:r>
              <a:rPr sz="1725" b="1">
                <a:solidFill>
                  <a:srgbClr val="2563EB"/>
                </a:solidFill>
                <a:latin typeface="Arial"/>
                <a:ea typeface="Arial"/>
                <a:cs typeface="Arial"/>
              </a:rPr>
              <a:t>6  Report to the Auditorium at 9 AM.</a:t>
            </a:r>
          </a:p>
        </p:txBody>
      </p:sp>
    </p:spTree>
    <p:extLst>
      <p:ext uri="{BB962C8B-B14F-4D97-AF65-F5344CB8AC3E}">
        <p14:creationId xmlns:p14="http://schemas.microsoft.com/office/powerpoint/2010/main" val="2117290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33F"/>
        </a:solidFill>
        <a:effectLst/>
      </p:bgPr>
    </p:bg>
    <p:spTree>
      <p:nvGrpSpPr>
        <p:cNvPr id="1" name=""/>
        <p:cNvGrpSpPr/>
        <p:nvPr/>
      </p:nvGrpSpPr>
      <p:grpSpPr>
        <a:xfrm>
          <a:off x="0" y="0"/>
          <a:ext cx="0" cy="0"/>
          <a:chOff x="0" y="0"/>
          <a:chExt cx="0" cy="0"/>
        </a:xfrm>
      </p:grpSpPr>
      <p:cxnSp>
        <p:nvCxnSpPr>
          <p:cNvPr id="17" name="Straight Arrow Connector 16"/>
          <p:cNvCxnSpPr>
            <a:stCxn id="8" idx="3"/>
            <a:endCxn id="11" idx="1"/>
          </p:cNvCxnSpPr>
          <p:nvPr/>
        </p:nvCxnSpPr>
        <p:spPr>
          <a:xfrm>
            <a:off x="10334625" y="2857500"/>
            <a:ext cx="809625" cy="0"/>
          </a:xfrm>
          <a:prstGeom prst="straightConnector1">
            <a:avLst/>
          </a:prstGeom>
          <a:ln w="28575">
            <a:solidFill>
              <a:srgbClr val="2563EB"/>
            </a:solidFill>
            <a:tailEnd type="triangle" w="med" len="med"/>
          </a:ln>
        </p:spPr>
      </p:cxnSp>
      <p:cxnSp>
        <p:nvCxnSpPr>
          <p:cNvPr id="18" name="Connector: Elbow 17"/>
          <p:cNvCxnSpPr>
            <a:cxnSpLocks/>
            <a:stCxn id="10" idx="1"/>
            <a:endCxn id="8" idx="1"/>
          </p:cNvCxnSpPr>
          <p:nvPr/>
        </p:nvCxnSpPr>
        <p:spPr>
          <a:xfrm rot="10800000">
            <a:off x="7096125" y="2857500"/>
            <a:ext cx="12700" cy="3714750"/>
          </a:xfrm>
          <a:prstGeom prst="bentConnector3">
            <a:avLst>
              <a:gd name="adj1" fmla="val 1800000"/>
            </a:avLst>
          </a:prstGeom>
          <a:ln w="28575">
            <a:solidFill>
              <a:srgbClr val="0D9488"/>
            </a:solidFill>
            <a:tailEnd type="triangle" w="med" len="med"/>
          </a:ln>
        </p:spPr>
      </p:cxnSp>
      <p:cxnSp>
        <p:nvCxnSpPr>
          <p:cNvPr id="19" name="Connector: Elbow 18"/>
          <p:cNvCxnSpPr>
            <a:cxnSpLocks/>
            <a:stCxn id="9" idx="2"/>
            <a:endCxn id="10" idx="3"/>
          </p:cNvCxnSpPr>
          <p:nvPr/>
        </p:nvCxnSpPr>
        <p:spPr>
          <a:xfrm rot="5400000">
            <a:off x="10882313" y="4691063"/>
            <a:ext cx="1333500" cy="2428875"/>
          </a:xfrm>
          <a:prstGeom prst="bentConnector2">
            <a:avLst/>
          </a:prstGeom>
          <a:ln w="28575">
            <a:solidFill>
              <a:srgbClr val="0D9488"/>
            </a:solidFill>
            <a:tailEnd type="triangle" w="med" len="med"/>
          </a:ln>
        </p:spPr>
      </p:cxnSp>
      <p:cxnSp>
        <p:nvCxnSpPr>
          <p:cNvPr id="20" name="Connector: Elbow 19"/>
          <p:cNvCxnSpPr>
            <a:stCxn id="8" idx="2"/>
            <a:endCxn id="9" idx="0"/>
          </p:cNvCxnSpPr>
          <p:nvPr/>
        </p:nvCxnSpPr>
        <p:spPr>
          <a:xfrm>
            <a:off x="8715375" y="3381375"/>
            <a:ext cx="4048125" cy="809625"/>
          </a:xfrm>
          <a:prstGeom prst="bentConnector4">
            <a:avLst>
              <a:gd name="adj1" fmla="val 0"/>
              <a:gd name="adj2" fmla="val 50000"/>
            </a:avLst>
          </a:prstGeom>
          <a:ln w="28575">
            <a:solidFill>
              <a:srgbClr val="2563EB"/>
            </a:solidFill>
            <a:tailEnd type="triangle" w="med" len="med"/>
          </a:ln>
        </p:spPr>
      </p:cxnSp>
      <p:sp>
        <p:nvSpPr>
          <p:cNvPr id="21" name="text_206">
            <a:extLst>
              <a:ext uri="{FF2B5EF4-FFF2-40B4-BE49-F238E27FC236}">
                <a16:creationId xmlns:a16="http://schemas.microsoft.com/office/drawing/2014/main" id="{F946BC1B-8D8F-4CF3-B50F-1A14493B11DC}"/>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72DDD0"/>
                </a:solidFill>
                <a:latin typeface="Arial"/>
                <a:ea typeface="Arial"/>
                <a:cs typeface="Arial"/>
              </a:defRPr>
            </a:pPr>
            <a:r>
              <a:rPr sz="1725" b="1">
                <a:solidFill>
                  <a:srgbClr val="72DDD0"/>
                </a:solidFill>
                <a:latin typeface="Arial"/>
                <a:ea typeface="Arial"/>
                <a:cs typeface="Arial"/>
              </a:rPr>
              <a:t>03 • AGENTS</a:t>
            </a:r>
          </a:p>
        </p:txBody>
      </p:sp>
      <p:sp>
        <p:nvSpPr>
          <p:cNvPr id="2" name="text_207">
            <a:extLst>
              <a:ext uri="{FF2B5EF4-FFF2-40B4-BE49-F238E27FC236}">
                <a16:creationId xmlns:a16="http://schemas.microsoft.com/office/drawing/2014/main" id="{45F79DF9-18AA-4C7A-9C00-6F284D051701}"/>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FFFFFF"/>
                </a:solidFill>
                <a:latin typeface="Arial"/>
                <a:ea typeface="Arial"/>
                <a:cs typeface="Arial"/>
              </a:defRPr>
            </a:pPr>
            <a:r>
              <a:rPr sz="3975" b="1">
                <a:solidFill>
                  <a:srgbClr val="FFFFFF"/>
                </a:solidFill>
                <a:latin typeface="Arial"/>
                <a:ea typeface="Arial"/>
                <a:cs typeface="Arial"/>
              </a:rPr>
              <a:t>An agent can decide the next step</a:t>
            </a:r>
          </a:p>
        </p:txBody>
      </p:sp>
      <p:sp>
        <p:nvSpPr>
          <p:cNvPr id="3" name="text_208">
            <a:extLst>
              <a:ext uri="{FF2B5EF4-FFF2-40B4-BE49-F238E27FC236}">
                <a16:creationId xmlns:a16="http://schemas.microsoft.com/office/drawing/2014/main" id="{E8C85FDD-73B1-421B-8854-DB311BA87AC7}"/>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A9BACF"/>
                </a:solidFill>
                <a:latin typeface="Arial"/>
                <a:ea typeface="Arial"/>
                <a:cs typeface="Arial"/>
              </a:defRPr>
            </a:pPr>
            <a:r>
              <a:rPr sz="1425" b="0">
                <a:solidFill>
                  <a:srgbClr val="A9BACF"/>
                </a:solidFill>
                <a:latin typeface="Arial"/>
                <a:ea typeface="Arial"/>
                <a:cs typeface="Arial"/>
              </a:rPr>
              <a:t>16 / 22</a:t>
            </a:r>
          </a:p>
        </p:txBody>
      </p:sp>
      <p:sp>
        <p:nvSpPr>
          <p:cNvPr id="4" name="text_209">
            <a:extLst>
              <a:ext uri="{FF2B5EF4-FFF2-40B4-BE49-F238E27FC236}">
                <a16:creationId xmlns:a16="http://schemas.microsoft.com/office/drawing/2014/main" id="{818F6788-AE97-458A-A756-2D277C2A1207}"/>
              </a:ext>
            </a:extLst>
          </p:cNvPr>
          <p:cNvSpPr>
            <a:spLocks noGrp="1"/>
          </p:cNvSpPr>
          <p:nvPr/>
        </p:nvSpPr>
        <p:spPr>
          <a:xfrm>
            <a:off x="809625" y="2095500"/>
            <a:ext cx="6191250" cy="428625"/>
          </a:xfrm>
          <a:prstGeom prst="rect">
            <a:avLst/>
          </a:prstGeom>
          <a:noFill/>
          <a:ln w="0">
            <a:noFill/>
          </a:ln>
        </p:spPr>
        <p:txBody>
          <a:bodyPr anchor="t">
            <a:noAutofit/>
          </a:bodyPr>
          <a:lstStyle/>
          <a:p>
            <a:pPr>
              <a:defRPr sz="1875" b="1">
                <a:solidFill>
                  <a:srgbClr val="72DDD0"/>
                </a:solidFill>
                <a:latin typeface="Arial"/>
                <a:ea typeface="Arial"/>
                <a:cs typeface="Arial"/>
              </a:defRPr>
            </a:pPr>
            <a:r>
              <a:rPr sz="1875" b="1">
                <a:solidFill>
                  <a:srgbClr val="72DDD0"/>
                </a:solidFill>
                <a:latin typeface="Arial"/>
                <a:ea typeface="Arial"/>
                <a:cs typeface="Arial"/>
              </a:rPr>
              <a:t>ROLE + INSTRUCTIONS</a:t>
            </a:r>
          </a:p>
        </p:txBody>
      </p:sp>
      <p:sp>
        <p:nvSpPr>
          <p:cNvPr id="5" name="text_210">
            <a:extLst>
              <a:ext uri="{FF2B5EF4-FFF2-40B4-BE49-F238E27FC236}">
                <a16:creationId xmlns:a16="http://schemas.microsoft.com/office/drawing/2014/main" id="{98E4A5BD-B3E8-4F26-AEC1-764842942C38}"/>
              </a:ext>
            </a:extLst>
          </p:cNvPr>
          <p:cNvSpPr>
            <a:spLocks noGrp="1"/>
          </p:cNvSpPr>
          <p:nvPr/>
        </p:nvSpPr>
        <p:spPr>
          <a:xfrm>
            <a:off x="809625" y="2714625"/>
            <a:ext cx="5334000" cy="1476375"/>
          </a:xfrm>
          <a:prstGeom prst="rect">
            <a:avLst/>
          </a:prstGeom>
          <a:noFill/>
          <a:ln w="0">
            <a:noFill/>
          </a:ln>
        </p:spPr>
        <p:txBody>
          <a:bodyPr anchor="t">
            <a:noAutofit/>
          </a:bodyPr>
          <a:lstStyle/>
          <a:p>
            <a:pPr>
              <a:defRPr sz="2700" b="0">
                <a:solidFill>
                  <a:srgbClr val="FFFFFF"/>
                </a:solidFill>
                <a:latin typeface="Arial"/>
                <a:ea typeface="Arial"/>
                <a:cs typeface="Arial"/>
              </a:defRPr>
            </a:pPr>
            <a:r>
              <a:rPr sz="2700" b="0">
                <a:solidFill>
                  <a:srgbClr val="FFFFFF"/>
                </a:solidFill>
                <a:latin typeface="Arial"/>
                <a:ea typeface="Arial"/>
                <a:cs typeface="Arial"/>
              </a:rPr>
              <a:t>“Be a helpful campus guide.</a:t>
            </a:r>
          </a:p>
          <a:p>
            <a:pPr>
              <a:defRPr sz="2700" b="0">
                <a:solidFill>
                  <a:srgbClr val="FFFFFF"/>
                </a:solidFill>
                <a:latin typeface="Arial"/>
                <a:ea typeface="Arial"/>
                <a:cs typeface="Arial"/>
              </a:defRPr>
            </a:pPr>
            <a:r>
              <a:rPr sz="2700" b="0">
                <a:solidFill>
                  <a:srgbClr val="FFFFFF"/>
                </a:solidFill>
                <a:latin typeface="Arial"/>
                <a:ea typeface="Arial"/>
                <a:cs typeface="Arial"/>
              </a:rPr>
              <a:t>Check sources. Ask when unsure.”</a:t>
            </a:r>
          </a:p>
        </p:txBody>
      </p:sp>
      <p:sp>
        <p:nvSpPr>
          <p:cNvPr id="6" name="text_211">
            <a:extLst>
              <a:ext uri="{FF2B5EF4-FFF2-40B4-BE49-F238E27FC236}">
                <a16:creationId xmlns:a16="http://schemas.microsoft.com/office/drawing/2014/main" id="{BC0AE81E-FA3A-421E-93C9-8008D8BF187C}"/>
              </a:ext>
            </a:extLst>
          </p:cNvPr>
          <p:cNvSpPr>
            <a:spLocks noGrp="1"/>
          </p:cNvSpPr>
          <p:nvPr/>
        </p:nvSpPr>
        <p:spPr>
          <a:xfrm>
            <a:off x="809625" y="5000625"/>
            <a:ext cx="5238750" cy="428625"/>
          </a:xfrm>
          <a:prstGeom prst="rect">
            <a:avLst/>
          </a:prstGeom>
          <a:noFill/>
          <a:ln w="0">
            <a:noFill/>
          </a:ln>
        </p:spPr>
        <p:txBody>
          <a:bodyPr anchor="t">
            <a:noAutofit/>
          </a:bodyPr>
          <a:lstStyle/>
          <a:p>
            <a:pPr>
              <a:defRPr sz="1875" b="1">
                <a:solidFill>
                  <a:srgbClr val="72DDD0"/>
                </a:solidFill>
                <a:latin typeface="Arial"/>
                <a:ea typeface="Arial"/>
                <a:cs typeface="Arial"/>
              </a:defRPr>
            </a:pPr>
            <a:r>
              <a:rPr sz="1875" b="1">
                <a:solidFill>
                  <a:srgbClr val="72DDD0"/>
                </a:solidFill>
                <a:latin typeface="Arial"/>
                <a:ea typeface="Arial"/>
                <a:cs typeface="Arial"/>
              </a:rPr>
              <a:t>STATE</a:t>
            </a:r>
          </a:p>
        </p:txBody>
      </p:sp>
      <p:sp>
        <p:nvSpPr>
          <p:cNvPr id="7" name="text_212">
            <a:extLst>
              <a:ext uri="{FF2B5EF4-FFF2-40B4-BE49-F238E27FC236}">
                <a16:creationId xmlns:a16="http://schemas.microsoft.com/office/drawing/2014/main" id="{B68E95D3-41BF-4CB3-BFB8-C32733BAE30F}"/>
              </a:ext>
            </a:extLst>
          </p:cNvPr>
          <p:cNvSpPr>
            <a:spLocks noGrp="1"/>
          </p:cNvSpPr>
          <p:nvPr/>
        </p:nvSpPr>
        <p:spPr>
          <a:xfrm>
            <a:off x="809625" y="5619750"/>
            <a:ext cx="5429250" cy="1333500"/>
          </a:xfrm>
          <a:prstGeom prst="rect">
            <a:avLst/>
          </a:prstGeom>
          <a:noFill/>
          <a:ln w="0">
            <a:noFill/>
          </a:ln>
        </p:spPr>
        <p:txBody>
          <a:bodyPr anchor="t">
            <a:noAutofit/>
          </a:bodyPr>
          <a:lstStyle/>
          <a:p>
            <a:pPr>
              <a:defRPr sz="2700" b="0">
                <a:solidFill>
                  <a:srgbClr val="FFFFFF"/>
                </a:solidFill>
                <a:latin typeface="Arial"/>
                <a:ea typeface="Arial"/>
                <a:cs typeface="Arial"/>
              </a:defRPr>
            </a:pPr>
            <a:r>
              <a:rPr sz="2700" b="0">
                <a:solidFill>
                  <a:srgbClr val="FFFFFF"/>
                </a:solidFill>
                <a:latin typeface="Arial"/>
                <a:ea typeface="Arial"/>
                <a:cs typeface="Arial"/>
              </a:rPr>
              <a:t>Goal • conversation</a:t>
            </a:r>
          </a:p>
          <a:p>
            <a:pPr>
              <a:defRPr sz="2700" b="0">
                <a:solidFill>
                  <a:srgbClr val="FFFFFF"/>
                </a:solidFill>
                <a:latin typeface="Arial"/>
                <a:ea typeface="Arial"/>
                <a:cs typeface="Arial"/>
              </a:defRPr>
            </a:pPr>
            <a:r>
              <a:rPr sz="2700" b="0">
                <a:solidFill>
                  <a:srgbClr val="FFFFFF"/>
                </a:solidFill>
                <a:latin typeface="Arial"/>
                <a:ea typeface="Arial"/>
                <a:cs typeface="Arial"/>
              </a:rPr>
              <a:t>plan • tool results</a:t>
            </a:r>
          </a:p>
        </p:txBody>
      </p:sp>
      <p:sp>
        <p:nvSpPr>
          <p:cNvPr id="8" name="Choose_next_step_213">
            <a:extLst>
              <a:ext uri="{FF2B5EF4-FFF2-40B4-BE49-F238E27FC236}">
                <a16:creationId xmlns:a16="http://schemas.microsoft.com/office/drawing/2014/main" id="{4EC93B4E-EDB6-4475-8F8E-62C259AD3B2A}"/>
              </a:ext>
            </a:extLst>
          </p:cNvPr>
          <p:cNvSpPr>
            <a:spLocks noGrp="1"/>
          </p:cNvSpPr>
          <p:nvPr/>
        </p:nvSpPr>
        <p:spPr>
          <a:xfrm>
            <a:off x="7096125" y="2333625"/>
            <a:ext cx="3238500" cy="1047750"/>
          </a:xfrm>
          <a:prstGeom prst="roundRect">
            <a:avLst>
              <a:gd name="adj" fmla="val 7273"/>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Choose next step</a:t>
            </a:r>
          </a:p>
        </p:txBody>
      </p:sp>
      <p:sp>
        <p:nvSpPr>
          <p:cNvPr id="9" name="Execute_a_tool_214">
            <a:extLst>
              <a:ext uri="{FF2B5EF4-FFF2-40B4-BE49-F238E27FC236}">
                <a16:creationId xmlns:a16="http://schemas.microsoft.com/office/drawing/2014/main" id="{412D4075-5C02-4486-9F7A-E75349F66C5A}"/>
              </a:ext>
            </a:extLst>
          </p:cNvPr>
          <p:cNvSpPr>
            <a:spLocks noGrp="1"/>
          </p:cNvSpPr>
          <p:nvPr/>
        </p:nvSpPr>
        <p:spPr>
          <a:xfrm>
            <a:off x="11144250" y="4191000"/>
            <a:ext cx="3238500" cy="1047750"/>
          </a:xfrm>
          <a:prstGeom prst="roundRect">
            <a:avLst>
              <a:gd name="adj" fmla="val 7273"/>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Execute a tool</a:t>
            </a:r>
          </a:p>
        </p:txBody>
      </p:sp>
      <p:sp>
        <p:nvSpPr>
          <p:cNvPr id="10" name="Observe_update_context_plan_215">
            <a:extLst>
              <a:ext uri="{FF2B5EF4-FFF2-40B4-BE49-F238E27FC236}">
                <a16:creationId xmlns:a16="http://schemas.microsoft.com/office/drawing/2014/main" id="{4EF8FEB2-E72B-4315-9D0A-78810F10EE5C}"/>
              </a:ext>
            </a:extLst>
          </p:cNvPr>
          <p:cNvSpPr>
            <a:spLocks noGrp="1"/>
          </p:cNvSpPr>
          <p:nvPr/>
        </p:nvSpPr>
        <p:spPr>
          <a:xfrm>
            <a:off x="7096125" y="6000750"/>
            <a:ext cx="3238500" cy="1143000"/>
          </a:xfrm>
          <a:prstGeom prst="roundRect">
            <a:avLst>
              <a:gd name="adj" fmla="val 6667"/>
            </a:avLst>
          </a:prstGeom>
          <a:solidFill>
            <a:srgbClr val="FFFFF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Observe + update</a:t>
            </a:r>
          </a:p>
          <a:p>
            <a:pPr algn="ctr">
              <a:defRPr sz="2175">
                <a:solidFill>
                  <a:srgbClr val="10233F"/>
                </a:solidFill>
                <a:latin typeface="Arial"/>
                <a:ea typeface="Arial"/>
                <a:cs typeface="Arial"/>
              </a:defRPr>
            </a:pPr>
            <a:r>
              <a:rPr sz="2175">
                <a:solidFill>
                  <a:srgbClr val="10233F"/>
                </a:solidFill>
                <a:latin typeface="Arial"/>
                <a:ea typeface="Arial"/>
                <a:cs typeface="Arial"/>
              </a:rPr>
              <a:t>context / plan</a:t>
            </a:r>
          </a:p>
        </p:txBody>
      </p:sp>
      <p:sp>
        <p:nvSpPr>
          <p:cNvPr id="11" name="Answer_stop_216">
            <a:extLst>
              <a:ext uri="{FF2B5EF4-FFF2-40B4-BE49-F238E27FC236}">
                <a16:creationId xmlns:a16="http://schemas.microsoft.com/office/drawing/2014/main" id="{1C06A1BE-1A25-4A60-85B9-BD75A5D7F579}"/>
              </a:ext>
            </a:extLst>
          </p:cNvPr>
          <p:cNvSpPr>
            <a:spLocks noGrp="1"/>
          </p:cNvSpPr>
          <p:nvPr/>
        </p:nvSpPr>
        <p:spPr>
          <a:xfrm>
            <a:off x="11144250" y="2333625"/>
            <a:ext cx="3238500" cy="1047750"/>
          </a:xfrm>
          <a:prstGeom prst="roundRect">
            <a:avLst>
              <a:gd name="adj" fmla="val 7273"/>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Answer / stop</a:t>
            </a:r>
          </a:p>
        </p:txBody>
      </p:sp>
      <p:sp>
        <p:nvSpPr>
          <p:cNvPr id="16" name="text_217">
            <a:extLst>
              <a:ext uri="{FF2B5EF4-FFF2-40B4-BE49-F238E27FC236}">
                <a16:creationId xmlns:a16="http://schemas.microsoft.com/office/drawing/2014/main" id="{AA969FEE-E24A-48DB-98F7-D064C27B1354}"/>
              </a:ext>
            </a:extLst>
          </p:cNvPr>
          <p:cNvSpPr>
            <a:spLocks noGrp="1"/>
          </p:cNvSpPr>
          <p:nvPr/>
        </p:nvSpPr>
        <p:spPr>
          <a:xfrm>
            <a:off x="10763250" y="1828800"/>
            <a:ext cx="3857625" cy="381000"/>
          </a:xfrm>
          <a:prstGeom prst="rect">
            <a:avLst/>
          </a:prstGeom>
          <a:noFill/>
          <a:ln w="0">
            <a:noFill/>
          </a:ln>
        </p:spPr>
        <p:txBody>
          <a:bodyPr anchor="t">
            <a:noAutofit/>
          </a:bodyPr>
          <a:lstStyle/>
          <a:p>
            <a:pPr>
              <a:defRPr sz="1725" b="0">
                <a:solidFill>
                  <a:srgbClr val="A9BACF"/>
                </a:solidFill>
                <a:latin typeface="Arial"/>
                <a:ea typeface="Arial"/>
                <a:cs typeface="Arial"/>
              </a:defRPr>
            </a:pPr>
            <a:r>
              <a:rPr sz="1725" b="0">
                <a:solidFill>
                  <a:srgbClr val="A9BACF"/>
                </a:solidFill>
                <a:latin typeface="Arial"/>
                <a:ea typeface="Arial"/>
                <a:cs typeface="Arial"/>
              </a:rPr>
              <a:t>Enough information?</a:t>
            </a:r>
          </a:p>
        </p:txBody>
      </p:sp>
    </p:spTree>
    <p:extLst>
      <p:ext uri="{BB962C8B-B14F-4D97-AF65-F5344CB8AC3E}">
        <p14:creationId xmlns:p14="http://schemas.microsoft.com/office/powerpoint/2010/main" val="966081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4" name="Straight Arrow Connector 13"/>
          <p:cNvCxnSpPr>
            <a:stCxn id="6" idx="2"/>
            <a:endCxn id="10" idx="0"/>
          </p:cNvCxnSpPr>
          <p:nvPr/>
        </p:nvCxnSpPr>
        <p:spPr>
          <a:xfrm>
            <a:off x="7620000" y="5095875"/>
            <a:ext cx="1000125" cy="1333500"/>
          </a:xfrm>
          <a:prstGeom prst="straightConnector1">
            <a:avLst/>
          </a:prstGeom>
          <a:ln w="28575">
            <a:solidFill>
              <a:srgbClr val="0D9488"/>
            </a:solidFill>
            <a:tailEnd type="triangle" w="med" len="med"/>
          </a:ln>
        </p:spPr>
      </p:cxnSp>
      <p:cxnSp>
        <p:nvCxnSpPr>
          <p:cNvPr id="15" name="Straight Arrow Connector 14"/>
          <p:cNvCxnSpPr>
            <a:stCxn id="6" idx="3"/>
            <a:endCxn id="7" idx="1"/>
          </p:cNvCxnSpPr>
          <p:nvPr/>
        </p:nvCxnSpPr>
        <p:spPr>
          <a:xfrm>
            <a:off x="9620250" y="4452938"/>
            <a:ext cx="857250" cy="0"/>
          </a:xfrm>
          <a:prstGeom prst="straightConnector1">
            <a:avLst/>
          </a:prstGeom>
          <a:ln w="28575">
            <a:solidFill>
              <a:srgbClr val="2563EB"/>
            </a:solidFill>
            <a:tailEnd type="triangle" w="med" len="med"/>
          </a:ln>
        </p:spPr>
      </p:cxnSp>
      <p:cxnSp>
        <p:nvCxnSpPr>
          <p:cNvPr id="16" name="Straight Arrow Connector 15"/>
          <p:cNvCxnSpPr>
            <a:stCxn id="5" idx="3"/>
            <a:endCxn id="6" idx="1"/>
          </p:cNvCxnSpPr>
          <p:nvPr/>
        </p:nvCxnSpPr>
        <p:spPr>
          <a:xfrm>
            <a:off x="4762500" y="4452938"/>
            <a:ext cx="857250" cy="0"/>
          </a:xfrm>
          <a:prstGeom prst="straightConnector1">
            <a:avLst/>
          </a:prstGeom>
          <a:ln w="28575">
            <a:solidFill>
              <a:srgbClr val="0D9488"/>
            </a:solidFill>
            <a:tailEnd type="triangle" w="med" len="med"/>
          </a:ln>
        </p:spPr>
      </p:cxnSp>
      <p:sp>
        <p:nvSpPr>
          <p:cNvPr id="17" name="text_218">
            <a:extLst>
              <a:ext uri="{FF2B5EF4-FFF2-40B4-BE49-F238E27FC236}">
                <a16:creationId xmlns:a16="http://schemas.microsoft.com/office/drawing/2014/main" id="{ABE968F0-6D47-49FF-B45D-612434804B70}"/>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03 • ONE GOAL, SEVERAL STEPS</a:t>
            </a:r>
          </a:p>
        </p:txBody>
      </p:sp>
      <p:sp>
        <p:nvSpPr>
          <p:cNvPr id="2" name="text_219">
            <a:extLst>
              <a:ext uri="{FF2B5EF4-FFF2-40B4-BE49-F238E27FC236}">
                <a16:creationId xmlns:a16="http://schemas.microsoft.com/office/drawing/2014/main" id="{F49E097B-9A77-4B2C-A58B-B02067B816E4}"/>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The agent handles the whole request</a:t>
            </a:r>
          </a:p>
        </p:txBody>
      </p:sp>
      <p:sp>
        <p:nvSpPr>
          <p:cNvPr id="3" name="text_220">
            <a:extLst>
              <a:ext uri="{FF2B5EF4-FFF2-40B4-BE49-F238E27FC236}">
                <a16:creationId xmlns:a16="http://schemas.microsoft.com/office/drawing/2014/main" id="{927C69AE-F503-4D3E-B0A4-AD72D913B5FC}"/>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17 / 22</a:t>
            </a:r>
          </a:p>
        </p:txBody>
      </p:sp>
      <p:sp>
        <p:nvSpPr>
          <p:cNvPr id="4" name="text_221">
            <a:extLst>
              <a:ext uri="{FF2B5EF4-FFF2-40B4-BE49-F238E27FC236}">
                <a16:creationId xmlns:a16="http://schemas.microsoft.com/office/drawing/2014/main" id="{8E591FDF-CA44-4A56-B38A-CC55C9F0EACC}"/>
              </a:ext>
            </a:extLst>
          </p:cNvPr>
          <p:cNvSpPr>
            <a:spLocks noGrp="1"/>
          </p:cNvSpPr>
          <p:nvPr/>
        </p:nvSpPr>
        <p:spPr>
          <a:xfrm>
            <a:off x="762000" y="2019300"/>
            <a:ext cx="13620750" cy="1190625"/>
          </a:xfrm>
          <a:prstGeom prst="rect">
            <a:avLst/>
          </a:prstGeom>
          <a:noFill/>
          <a:ln w="0">
            <a:noFill/>
          </a:ln>
        </p:spPr>
        <p:txBody>
          <a:bodyPr anchor="t">
            <a:noAutofit/>
          </a:bodyPr>
          <a:lstStyle/>
          <a:p>
            <a:pPr>
              <a:defRPr sz="3075" b="1">
                <a:solidFill>
                  <a:srgbClr val="10233F"/>
                </a:solidFill>
                <a:latin typeface="Arial"/>
                <a:ea typeface="Arial"/>
                <a:cs typeface="Arial"/>
              </a:defRPr>
            </a:pPr>
            <a:r>
              <a:rPr sz="3075" b="1">
                <a:solidFill>
                  <a:srgbClr val="10233F"/>
                </a:solidFill>
                <a:latin typeface="Arial"/>
                <a:ea typeface="Arial"/>
                <a:cs typeface="Arial"/>
              </a:rPr>
              <a:t>“Check our eligibility, find today’s venue,</a:t>
            </a:r>
          </a:p>
          <a:p>
            <a:pPr>
              <a:defRPr sz="3075" b="1">
                <a:solidFill>
                  <a:srgbClr val="10233F"/>
                </a:solidFill>
                <a:latin typeface="Arial"/>
                <a:ea typeface="Arial"/>
                <a:cs typeface="Arial"/>
              </a:defRPr>
            </a:pPr>
            <a:r>
              <a:rPr sz="3075" b="1">
                <a:solidFill>
                  <a:srgbClr val="10233F"/>
                </a:solidFill>
                <a:latin typeface="Arial"/>
                <a:ea typeface="Arial"/>
                <a:cs typeface="Arial"/>
              </a:rPr>
              <a:t>and help us prepare.”</a:t>
            </a:r>
          </a:p>
        </p:txBody>
      </p:sp>
      <p:sp>
        <p:nvSpPr>
          <p:cNvPr id="5" name="1_Retrieve_handbook_Team_2_4_years_1_2_222">
            <a:extLst>
              <a:ext uri="{FF2B5EF4-FFF2-40B4-BE49-F238E27FC236}">
                <a16:creationId xmlns:a16="http://schemas.microsoft.com/office/drawing/2014/main" id="{49ECA9AB-4307-4ACF-916C-21CB6C4B5C55}"/>
              </a:ext>
            </a:extLst>
          </p:cNvPr>
          <p:cNvSpPr>
            <a:spLocks noGrp="1"/>
          </p:cNvSpPr>
          <p:nvPr/>
        </p:nvSpPr>
        <p:spPr>
          <a:xfrm>
            <a:off x="762000" y="3810000"/>
            <a:ext cx="4000500" cy="1285875"/>
          </a:xfrm>
          <a:prstGeom prst="roundRect">
            <a:avLst>
              <a:gd name="adj" fmla="val 5926"/>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1  Retrieve handbook</a:t>
            </a:r>
          </a:p>
          <a:p>
            <a:pPr algn="ctr">
              <a:defRPr sz="2175">
                <a:solidFill>
                  <a:srgbClr val="10233F"/>
                </a:solidFill>
                <a:latin typeface="Arial"/>
                <a:ea typeface="Arial"/>
                <a:cs typeface="Arial"/>
              </a:defRPr>
            </a:pPr>
            <a:r>
              <a:rPr sz="2175">
                <a:solidFill>
                  <a:srgbClr val="10233F"/>
                </a:solidFill>
                <a:latin typeface="Arial"/>
                <a:ea typeface="Arial"/>
                <a:cs typeface="Arial"/>
              </a:rPr>
              <a:t>Team: 2–4; years: 1–2</a:t>
            </a:r>
          </a:p>
        </p:txBody>
      </p:sp>
      <p:sp>
        <p:nvSpPr>
          <p:cNvPr id="6" name="2_Check_today_s_notice_Auditorium_9_AM_223">
            <a:extLst>
              <a:ext uri="{FF2B5EF4-FFF2-40B4-BE49-F238E27FC236}">
                <a16:creationId xmlns:a16="http://schemas.microsoft.com/office/drawing/2014/main" id="{C8700743-500D-44CD-A38F-BFB063D9E27F}"/>
              </a:ext>
            </a:extLst>
          </p:cNvPr>
          <p:cNvSpPr>
            <a:spLocks noGrp="1"/>
          </p:cNvSpPr>
          <p:nvPr/>
        </p:nvSpPr>
        <p:spPr>
          <a:xfrm>
            <a:off x="5619750" y="3810000"/>
            <a:ext cx="4000500" cy="1285875"/>
          </a:xfrm>
          <a:prstGeom prst="roundRect">
            <a:avLst>
              <a:gd name="adj" fmla="val 5926"/>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2  Check today’s notice</a:t>
            </a:r>
          </a:p>
          <a:p>
            <a:pPr algn="ctr">
              <a:defRPr sz="2175">
                <a:solidFill>
                  <a:srgbClr val="10233F"/>
                </a:solidFill>
                <a:latin typeface="Arial"/>
                <a:ea typeface="Arial"/>
                <a:cs typeface="Arial"/>
              </a:defRPr>
            </a:pPr>
            <a:r>
              <a:rPr sz="2175">
                <a:solidFill>
                  <a:srgbClr val="10233F"/>
                </a:solidFill>
                <a:latin typeface="Arial"/>
                <a:ea typeface="Arial"/>
                <a:cs typeface="Arial"/>
              </a:rPr>
              <a:t>Auditorium • 9 AM</a:t>
            </a:r>
          </a:p>
        </p:txBody>
      </p:sp>
      <p:sp>
        <p:nvSpPr>
          <p:cNvPr id="7" name="3_Make_a_checklist_ID_laptop_arrive_early_224">
            <a:extLst>
              <a:ext uri="{FF2B5EF4-FFF2-40B4-BE49-F238E27FC236}">
                <a16:creationId xmlns:a16="http://schemas.microsoft.com/office/drawing/2014/main" id="{2B4B71B7-A49A-4A96-BE98-CAF5D10C8CE2}"/>
              </a:ext>
            </a:extLst>
          </p:cNvPr>
          <p:cNvSpPr>
            <a:spLocks noGrp="1"/>
          </p:cNvSpPr>
          <p:nvPr/>
        </p:nvSpPr>
        <p:spPr>
          <a:xfrm>
            <a:off x="10477500" y="3810000"/>
            <a:ext cx="4000500" cy="1285875"/>
          </a:xfrm>
          <a:prstGeom prst="roundRect">
            <a:avLst>
              <a:gd name="adj" fmla="val 5926"/>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3  Make a checklist</a:t>
            </a:r>
          </a:p>
          <a:p>
            <a:pPr algn="ctr">
              <a:defRPr sz="2175">
                <a:solidFill>
                  <a:srgbClr val="10233F"/>
                </a:solidFill>
                <a:latin typeface="Arial"/>
                <a:ea typeface="Arial"/>
                <a:cs typeface="Arial"/>
              </a:defRPr>
            </a:pPr>
            <a:r>
              <a:rPr sz="2175">
                <a:solidFill>
                  <a:srgbClr val="10233F"/>
                </a:solidFill>
                <a:latin typeface="Arial"/>
                <a:ea typeface="Arial"/>
                <a:cs typeface="Arial"/>
              </a:rPr>
              <a:t>ID • laptop • arrive early</a:t>
            </a:r>
          </a:p>
        </p:txBody>
      </p:sp>
      <p:sp>
        <p:nvSpPr>
          <p:cNvPr id="10" name="No_update_found_Ask_the_organizer_state_the_gap__225">
            <a:extLst>
              <a:ext uri="{FF2B5EF4-FFF2-40B4-BE49-F238E27FC236}">
                <a16:creationId xmlns:a16="http://schemas.microsoft.com/office/drawing/2014/main" id="{FEBBC3E5-F9B7-4784-A52B-9FC1763E9B6F}"/>
              </a:ext>
            </a:extLst>
          </p:cNvPr>
          <p:cNvSpPr>
            <a:spLocks noGrp="1"/>
          </p:cNvSpPr>
          <p:nvPr/>
        </p:nvSpPr>
        <p:spPr>
          <a:xfrm>
            <a:off x="5715000" y="6429375"/>
            <a:ext cx="5810250" cy="952500"/>
          </a:xfrm>
          <a:prstGeom prst="roundRect">
            <a:avLst>
              <a:gd name="adj" fmla="val 8000"/>
            </a:avLst>
          </a:prstGeom>
          <a:solidFill>
            <a:srgbClr val="FFFFF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No update found?</a:t>
            </a:r>
          </a:p>
          <a:p>
            <a:pPr algn="ctr">
              <a:defRPr sz="2175">
                <a:solidFill>
                  <a:srgbClr val="10233F"/>
                </a:solidFill>
                <a:latin typeface="Arial"/>
                <a:ea typeface="Arial"/>
                <a:cs typeface="Arial"/>
              </a:defRPr>
            </a:pPr>
            <a:r>
              <a:rPr sz="2175">
                <a:solidFill>
                  <a:srgbClr val="10233F"/>
                </a:solidFill>
                <a:latin typeface="Arial"/>
                <a:ea typeface="Arial"/>
                <a:cs typeface="Arial"/>
              </a:rPr>
              <a:t>Ask the organizer; state the gap.</a:t>
            </a:r>
          </a:p>
        </p:txBody>
      </p:sp>
      <p:sp>
        <p:nvSpPr>
          <p:cNvPr id="12" name="text_226">
            <a:extLst>
              <a:ext uri="{FF2B5EF4-FFF2-40B4-BE49-F238E27FC236}">
                <a16:creationId xmlns:a16="http://schemas.microsoft.com/office/drawing/2014/main" id="{B12CB1EF-FC21-4F30-BAFF-FA6C62D054F5}"/>
              </a:ext>
            </a:extLst>
          </p:cNvPr>
          <p:cNvSpPr>
            <a:spLocks noGrp="1"/>
          </p:cNvSpPr>
          <p:nvPr/>
        </p:nvSpPr>
        <p:spPr>
          <a:xfrm>
            <a:off x="762000" y="5762625"/>
            <a:ext cx="4857750" cy="1000125"/>
          </a:xfrm>
          <a:prstGeom prst="rect">
            <a:avLst/>
          </a:prstGeom>
          <a:noFill/>
          <a:ln w="0">
            <a:noFill/>
          </a:ln>
        </p:spPr>
        <p:txBody>
          <a:bodyPr anchor="t">
            <a:noAutofit/>
          </a:bodyPr>
          <a:lstStyle/>
          <a:p>
            <a:pPr>
              <a:defRPr sz="2400" b="1">
                <a:solidFill>
                  <a:srgbClr val="2563EB"/>
                </a:solidFill>
                <a:latin typeface="Arial"/>
                <a:ea typeface="Arial"/>
                <a:cs typeface="Arial"/>
              </a:defRPr>
            </a:pPr>
            <a:r>
              <a:rPr sz="2400" b="1">
                <a:solidFill>
                  <a:srgbClr val="2563EB"/>
                </a:solidFill>
                <a:latin typeface="Arial"/>
                <a:ea typeface="Arial"/>
                <a:cs typeface="Arial"/>
              </a:rPr>
              <a:t>What should the agent do if the lookup fails?</a:t>
            </a:r>
          </a:p>
        </p:txBody>
      </p:sp>
      <p:sp>
        <p:nvSpPr>
          <p:cNvPr id="13" name="text_227">
            <a:extLst>
              <a:ext uri="{FF2B5EF4-FFF2-40B4-BE49-F238E27FC236}">
                <a16:creationId xmlns:a16="http://schemas.microsoft.com/office/drawing/2014/main" id="{9975B852-AE73-4FC7-8239-5208050B5633}"/>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A useful agent responds to results. It does not blindly continue a prewritten plan.</a:t>
            </a:r>
          </a:p>
        </p:txBody>
      </p:sp>
    </p:spTree>
    <p:extLst>
      <p:ext uri="{BB962C8B-B14F-4D97-AF65-F5344CB8AC3E}">
        <p14:creationId xmlns:p14="http://schemas.microsoft.com/office/powerpoint/2010/main" val="774520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2" name="Straight Arrow Connector 11"/>
          <p:cNvCxnSpPr>
            <a:stCxn id="7" idx="3"/>
            <a:endCxn id="8" idx="1"/>
          </p:cNvCxnSpPr>
          <p:nvPr/>
        </p:nvCxnSpPr>
        <p:spPr>
          <a:xfrm>
            <a:off x="9191625" y="6810375"/>
            <a:ext cx="1714500" cy="0"/>
          </a:xfrm>
          <a:prstGeom prst="straightConnector1">
            <a:avLst/>
          </a:prstGeom>
          <a:ln w="28575">
            <a:solidFill>
              <a:srgbClr val="0D9488"/>
            </a:solidFill>
            <a:tailEnd type="triangle" w="med" len="med"/>
          </a:ln>
        </p:spPr>
      </p:cxnSp>
      <p:cxnSp>
        <p:nvCxnSpPr>
          <p:cNvPr id="13" name="Straight Arrow Connector 12"/>
          <p:cNvCxnSpPr>
            <a:stCxn id="6" idx="3"/>
            <a:endCxn id="7" idx="1"/>
          </p:cNvCxnSpPr>
          <p:nvPr/>
        </p:nvCxnSpPr>
        <p:spPr>
          <a:xfrm>
            <a:off x="4143375" y="6810375"/>
            <a:ext cx="1714500" cy="0"/>
          </a:xfrm>
          <a:prstGeom prst="straightConnector1">
            <a:avLst/>
          </a:prstGeom>
          <a:ln w="28575">
            <a:solidFill>
              <a:srgbClr val="2563EB"/>
            </a:solidFill>
            <a:tailEnd type="triangle" w="med" len="med"/>
          </a:ln>
        </p:spPr>
      </p:cxnSp>
      <p:sp>
        <p:nvSpPr>
          <p:cNvPr id="14" name="text_228">
            <a:extLst>
              <a:ext uri="{FF2B5EF4-FFF2-40B4-BE49-F238E27FC236}">
                <a16:creationId xmlns:a16="http://schemas.microsoft.com/office/drawing/2014/main" id="{ABBDA5FE-509C-4F42-A322-A87E9C7F382A}"/>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04 • GOOGLE AGENT DEVELOPMENT KIT</a:t>
            </a:r>
          </a:p>
        </p:txBody>
      </p:sp>
      <p:sp>
        <p:nvSpPr>
          <p:cNvPr id="2" name="text_229">
            <a:extLst>
              <a:ext uri="{FF2B5EF4-FFF2-40B4-BE49-F238E27FC236}">
                <a16:creationId xmlns:a16="http://schemas.microsoft.com/office/drawing/2014/main" id="{F13B6880-DACF-4C44-AE01-518F07521EB3}"/>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ADK wires these pieces together</a:t>
            </a:r>
          </a:p>
        </p:txBody>
      </p:sp>
      <p:sp>
        <p:nvSpPr>
          <p:cNvPr id="3" name="text_230">
            <a:extLst>
              <a:ext uri="{FF2B5EF4-FFF2-40B4-BE49-F238E27FC236}">
                <a16:creationId xmlns:a16="http://schemas.microsoft.com/office/drawing/2014/main" id="{023DDFC6-1E38-4CAD-953D-1F1870A4ACB3}"/>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18 / 22</a:t>
            </a:r>
          </a:p>
        </p:txBody>
      </p:sp>
      <p:pic>
        <p:nvPicPr>
          <p:cNvPr id="17" name="Picture 16"/>
          <p:cNvPicPr>
            <a:picLocks noChangeAspect="1"/>
          </p:cNvPicPr>
          <p:nvPr/>
        </p:nvPicPr>
        <p:blipFill>
          <a:blip r:embed="rId3"/>
          <a:stretch/>
        </p:blipFill>
        <p:spPr>
          <a:xfrm>
            <a:off x="12692063" y="285750"/>
            <a:ext cx="1476375" cy="1476375"/>
          </a:xfrm>
          <a:prstGeom prst="rect">
            <a:avLst/>
          </a:prstGeom>
        </p:spPr>
      </p:pic>
      <p:sp>
        <p:nvSpPr>
          <p:cNvPr id="5" name="text_231">
            <a:extLst>
              <a:ext uri="{FF2B5EF4-FFF2-40B4-BE49-F238E27FC236}">
                <a16:creationId xmlns:a16="http://schemas.microsoft.com/office/drawing/2014/main" id="{F928B140-E7AF-48B9-B0C9-B10C7BF3A1A5}"/>
              </a:ext>
            </a:extLst>
          </p:cNvPr>
          <p:cNvSpPr>
            <a:spLocks noGrp="1"/>
          </p:cNvSpPr>
          <p:nvPr/>
        </p:nvSpPr>
        <p:spPr>
          <a:xfrm>
            <a:off x="809625" y="2428875"/>
            <a:ext cx="13620750" cy="3381375"/>
          </a:xfrm>
          <a:prstGeom prst="rect">
            <a:avLst/>
          </a:prstGeom>
          <a:noFill/>
          <a:ln w="0">
            <a:noFill/>
          </a:ln>
        </p:spPr>
        <p:txBody>
          <a:bodyPr anchor="t">
            <a:noAutofit/>
          </a:bodyPr>
          <a:lstStyle/>
          <a:p>
            <a:pPr>
              <a:defRPr sz="2175" b="0">
                <a:solidFill>
                  <a:srgbClr val="10233F"/>
                </a:solidFill>
                <a:latin typeface="Menlo"/>
                <a:ea typeface="Menlo"/>
                <a:cs typeface="Menlo"/>
              </a:defRPr>
            </a:pPr>
            <a:r>
              <a:rPr sz="2175" b="0">
                <a:solidFill>
                  <a:srgbClr val="10233F"/>
                </a:solidFill>
                <a:latin typeface="Menlo"/>
                <a:ea typeface="Menlo"/>
                <a:cs typeface="Menlo"/>
              </a:rPr>
              <a:t>from google.adk.agents import Agent</a:t>
            </a:r>
          </a:p>
          <a:p>
            <a:endParaRPr sz="2175" b="0">
              <a:solidFill>
                <a:srgbClr val="10233F"/>
              </a:solidFill>
              <a:latin typeface="Menlo"/>
              <a:ea typeface="Menlo"/>
              <a:cs typeface="Menlo"/>
            </a:endParaRPr>
          </a:p>
          <a:p>
            <a:pPr>
              <a:defRPr sz="2175" b="0">
                <a:solidFill>
                  <a:srgbClr val="10233F"/>
                </a:solidFill>
                <a:latin typeface="Menlo"/>
                <a:ea typeface="Menlo"/>
                <a:cs typeface="Menlo"/>
              </a:defRPr>
            </a:pPr>
            <a:r>
              <a:rPr sz="2175" b="0">
                <a:solidFill>
                  <a:srgbClr val="10233F"/>
                </a:solidFill>
                <a:latin typeface="Menlo"/>
                <a:ea typeface="Menlo"/>
                <a:cs typeface="Menlo"/>
              </a:rPr>
              <a:t>root_agent = Agent(</a:t>
            </a:r>
          </a:p>
          <a:p>
            <a:pPr>
              <a:defRPr sz="2175" b="0">
                <a:solidFill>
                  <a:srgbClr val="10233F"/>
                </a:solidFill>
                <a:latin typeface="Menlo"/>
                <a:ea typeface="Menlo"/>
                <a:cs typeface="Menlo"/>
              </a:defRPr>
            </a:pPr>
            <a:r>
              <a:rPr sz="2175" b="0">
                <a:solidFill>
                  <a:srgbClr val="10233F"/>
                </a:solidFill>
                <a:latin typeface="Menlo"/>
                <a:ea typeface="Menlo"/>
                <a:cs typeface="Menlo"/>
              </a:rPr>
              <a:t>    name="campus_guide",</a:t>
            </a:r>
          </a:p>
          <a:p>
            <a:pPr>
              <a:defRPr sz="2175" b="0">
                <a:solidFill>
                  <a:srgbClr val="10233F"/>
                </a:solidFill>
                <a:latin typeface="Menlo"/>
                <a:ea typeface="Menlo"/>
                <a:cs typeface="Menlo"/>
              </a:defRPr>
            </a:pPr>
            <a:r>
              <a:rPr sz="2175" b="0">
                <a:solidFill>
                  <a:srgbClr val="10233F"/>
                </a:solidFill>
                <a:latin typeface="Menlo"/>
                <a:ea typeface="Menlo"/>
                <a:cs typeface="Menlo"/>
              </a:rPr>
              <a:t>    model="gemini-3.1-flash-lite",</a:t>
            </a:r>
          </a:p>
          <a:p>
            <a:pPr>
              <a:defRPr sz="2175" b="0">
                <a:solidFill>
                  <a:srgbClr val="10233F"/>
                </a:solidFill>
                <a:latin typeface="Menlo"/>
                <a:ea typeface="Menlo"/>
                <a:cs typeface="Menlo"/>
              </a:defRPr>
            </a:pPr>
            <a:r>
              <a:rPr sz="2175" b="0">
                <a:solidFill>
                  <a:srgbClr val="10233F"/>
                </a:solidFill>
                <a:latin typeface="Menlo"/>
                <a:ea typeface="Menlo"/>
                <a:cs typeface="Menlo"/>
              </a:rPr>
              <a:t>    instruction="Use the tool. Never invent updates.",</a:t>
            </a:r>
          </a:p>
          <a:p>
            <a:pPr>
              <a:defRPr sz="2175" b="0">
                <a:solidFill>
                  <a:srgbClr val="10233F"/>
                </a:solidFill>
                <a:latin typeface="Menlo"/>
                <a:ea typeface="Menlo"/>
                <a:cs typeface="Menlo"/>
              </a:defRPr>
            </a:pPr>
            <a:r>
              <a:rPr sz="2175" b="0">
                <a:solidFill>
                  <a:srgbClr val="10233F"/>
                </a:solidFill>
                <a:latin typeface="Menlo"/>
                <a:ea typeface="Menlo"/>
                <a:cs typeface="Menlo"/>
              </a:rPr>
              <a:t>    tools=[get_event_update],</a:t>
            </a:r>
          </a:p>
          <a:p>
            <a:pPr>
              <a:defRPr sz="2175" b="0">
                <a:solidFill>
                  <a:srgbClr val="10233F"/>
                </a:solidFill>
                <a:latin typeface="Menlo"/>
                <a:ea typeface="Menlo"/>
                <a:cs typeface="Menlo"/>
              </a:defRPr>
            </a:pPr>
            <a:r>
              <a:rPr sz="2175" b="0">
                <a:solidFill>
                  <a:srgbClr val="10233F"/>
                </a:solidFill>
                <a:latin typeface="Menlo"/>
                <a:ea typeface="Menlo"/>
                <a:cs typeface="Menlo"/>
              </a:rPr>
              <a:t>)</a:t>
            </a:r>
          </a:p>
        </p:txBody>
      </p:sp>
      <p:sp>
        <p:nvSpPr>
          <p:cNvPr id="6" name="Instructions_role_rules_232">
            <a:extLst>
              <a:ext uri="{FF2B5EF4-FFF2-40B4-BE49-F238E27FC236}">
                <a16:creationId xmlns:a16="http://schemas.microsoft.com/office/drawing/2014/main" id="{82380CF5-E790-4847-9536-1438FB3B8FA1}"/>
              </a:ext>
            </a:extLst>
          </p:cNvPr>
          <p:cNvSpPr>
            <a:spLocks noGrp="1"/>
          </p:cNvSpPr>
          <p:nvPr/>
        </p:nvSpPr>
        <p:spPr>
          <a:xfrm>
            <a:off x="809625" y="6286500"/>
            <a:ext cx="3333750" cy="1047750"/>
          </a:xfrm>
          <a:prstGeom prst="roundRect">
            <a:avLst>
              <a:gd name="adj" fmla="val 7273"/>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Instructions</a:t>
            </a:r>
          </a:p>
          <a:p>
            <a:pPr algn="ctr">
              <a:defRPr sz="2175">
                <a:solidFill>
                  <a:srgbClr val="10233F"/>
                </a:solidFill>
                <a:latin typeface="Arial"/>
                <a:ea typeface="Arial"/>
                <a:cs typeface="Arial"/>
              </a:defRPr>
            </a:pPr>
            <a:r>
              <a:rPr sz="2175">
                <a:solidFill>
                  <a:srgbClr val="10233F"/>
                </a:solidFill>
                <a:latin typeface="Arial"/>
                <a:ea typeface="Arial"/>
                <a:cs typeface="Arial"/>
              </a:rPr>
              <a:t>role + rules</a:t>
            </a:r>
          </a:p>
        </p:txBody>
      </p:sp>
      <p:sp>
        <p:nvSpPr>
          <p:cNvPr id="7" name="Model_chooses_answers_233">
            <a:extLst>
              <a:ext uri="{FF2B5EF4-FFF2-40B4-BE49-F238E27FC236}">
                <a16:creationId xmlns:a16="http://schemas.microsoft.com/office/drawing/2014/main" id="{A84B70AA-2689-4ABF-88E7-D95188D0FDAE}"/>
              </a:ext>
            </a:extLst>
          </p:cNvPr>
          <p:cNvSpPr>
            <a:spLocks noGrp="1"/>
          </p:cNvSpPr>
          <p:nvPr/>
        </p:nvSpPr>
        <p:spPr>
          <a:xfrm>
            <a:off x="5857875" y="6286500"/>
            <a:ext cx="3333750" cy="1047750"/>
          </a:xfrm>
          <a:prstGeom prst="roundRect">
            <a:avLst>
              <a:gd name="adj" fmla="val 7273"/>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Model</a:t>
            </a:r>
          </a:p>
          <a:p>
            <a:pPr algn="ctr">
              <a:defRPr sz="2175">
                <a:solidFill>
                  <a:srgbClr val="10233F"/>
                </a:solidFill>
                <a:latin typeface="Arial"/>
                <a:ea typeface="Arial"/>
                <a:cs typeface="Arial"/>
              </a:defRPr>
            </a:pPr>
            <a:r>
              <a:rPr sz="2175">
                <a:solidFill>
                  <a:srgbClr val="10233F"/>
                </a:solidFill>
                <a:latin typeface="Arial"/>
                <a:ea typeface="Arial"/>
                <a:cs typeface="Arial"/>
              </a:rPr>
              <a:t>chooses / answers</a:t>
            </a:r>
          </a:p>
        </p:txBody>
      </p:sp>
      <p:sp>
        <p:nvSpPr>
          <p:cNvPr id="8" name="Tools_execute_code_234">
            <a:extLst>
              <a:ext uri="{FF2B5EF4-FFF2-40B4-BE49-F238E27FC236}">
                <a16:creationId xmlns:a16="http://schemas.microsoft.com/office/drawing/2014/main" id="{C4EB16A6-A6E7-4003-8178-62D302565DE9}"/>
              </a:ext>
            </a:extLst>
          </p:cNvPr>
          <p:cNvSpPr>
            <a:spLocks noGrp="1"/>
          </p:cNvSpPr>
          <p:nvPr/>
        </p:nvSpPr>
        <p:spPr>
          <a:xfrm>
            <a:off x="10906125" y="6286500"/>
            <a:ext cx="3333750" cy="1047750"/>
          </a:xfrm>
          <a:prstGeom prst="roundRect">
            <a:avLst>
              <a:gd name="adj" fmla="val 7273"/>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Tools</a:t>
            </a:r>
          </a:p>
          <a:p>
            <a:pPr algn="ctr">
              <a:defRPr sz="2175">
                <a:solidFill>
                  <a:srgbClr val="10233F"/>
                </a:solidFill>
                <a:latin typeface="Arial"/>
                <a:ea typeface="Arial"/>
                <a:cs typeface="Arial"/>
              </a:defRPr>
            </a:pPr>
            <a:r>
              <a:rPr sz="2175">
                <a:solidFill>
                  <a:srgbClr val="10233F"/>
                </a:solidFill>
                <a:latin typeface="Arial"/>
                <a:ea typeface="Arial"/>
                <a:cs typeface="Arial"/>
              </a:rPr>
              <a:t>execute code</a:t>
            </a:r>
          </a:p>
        </p:txBody>
      </p:sp>
      <p:sp>
        <p:nvSpPr>
          <p:cNvPr id="11" name="text_235">
            <a:extLst>
              <a:ext uri="{FF2B5EF4-FFF2-40B4-BE49-F238E27FC236}">
                <a16:creationId xmlns:a16="http://schemas.microsoft.com/office/drawing/2014/main" id="{D865D370-8CB0-456C-9AAC-FA6AE4A92967}"/>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ADK’s runtime manages the tool loop and session events around your model.</a:t>
            </a:r>
          </a:p>
        </p:txBody>
      </p:sp>
    </p:spTree>
    <p:extLst>
      <p:ext uri="{BB962C8B-B14F-4D97-AF65-F5344CB8AC3E}">
        <p14:creationId xmlns:p14="http://schemas.microsoft.com/office/powerpoint/2010/main" val="410003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2" name="text_236">
            <a:extLst>
              <a:ext uri="{FF2B5EF4-FFF2-40B4-BE49-F238E27FC236}">
                <a16:creationId xmlns:a16="http://schemas.microsoft.com/office/drawing/2014/main" id="{64B9FC00-C332-426D-8987-9BC71B1761DA}"/>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04 • NINE-MINUTE LIVE DEMO</a:t>
            </a:r>
          </a:p>
        </p:txBody>
      </p:sp>
      <p:sp>
        <p:nvSpPr>
          <p:cNvPr id="2" name="text_237">
            <a:extLst>
              <a:ext uri="{FF2B5EF4-FFF2-40B4-BE49-F238E27FC236}">
                <a16:creationId xmlns:a16="http://schemas.microsoft.com/office/drawing/2014/main" id="{0FCE132A-F1F8-43C8-B1FE-F04B6C82B547}"/>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Demo: build a campus guide</a:t>
            </a:r>
          </a:p>
        </p:txBody>
      </p:sp>
      <p:sp>
        <p:nvSpPr>
          <p:cNvPr id="3" name="text_238">
            <a:extLst>
              <a:ext uri="{FF2B5EF4-FFF2-40B4-BE49-F238E27FC236}">
                <a16:creationId xmlns:a16="http://schemas.microsoft.com/office/drawing/2014/main" id="{E07B0FD1-5CFE-47C4-8CF5-6694823AC918}"/>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19 / 22</a:t>
            </a:r>
          </a:p>
        </p:txBody>
      </p:sp>
      <p:sp>
        <p:nvSpPr>
          <p:cNvPr id="4" name="text_239">
            <a:extLst>
              <a:ext uri="{FF2B5EF4-FFF2-40B4-BE49-F238E27FC236}">
                <a16:creationId xmlns:a16="http://schemas.microsoft.com/office/drawing/2014/main" id="{E22A452A-001A-456A-80A2-4BB02CF39533}"/>
              </a:ext>
            </a:extLst>
          </p:cNvPr>
          <p:cNvSpPr>
            <a:spLocks noGrp="1"/>
          </p:cNvSpPr>
          <p:nvPr/>
        </p:nvSpPr>
        <p:spPr>
          <a:xfrm>
            <a:off x="809625" y="2114550"/>
            <a:ext cx="7239000" cy="428625"/>
          </a:xfrm>
          <a:prstGeom prst="rect">
            <a:avLst/>
          </a:prstGeom>
          <a:noFill/>
          <a:ln w="0">
            <a:noFill/>
          </a:ln>
        </p:spPr>
        <p:txBody>
          <a:bodyPr anchor="t">
            <a:noAutofit/>
          </a:bodyPr>
          <a:lstStyle/>
          <a:p>
            <a:pPr>
              <a:defRPr sz="1875" b="1">
                <a:solidFill>
                  <a:srgbClr val="0D9488"/>
                </a:solidFill>
                <a:latin typeface="Arial"/>
                <a:ea typeface="Arial"/>
                <a:cs typeface="Arial"/>
              </a:defRPr>
            </a:pPr>
            <a:r>
              <a:rPr sz="1875" b="1">
                <a:solidFill>
                  <a:srgbClr val="0D9488"/>
                </a:solidFill>
                <a:latin typeface="Arial"/>
                <a:ea typeface="Arial"/>
                <a:cs typeface="Arial"/>
              </a:rPr>
              <a:t>ONE PYTHON TOOL</a:t>
            </a:r>
          </a:p>
        </p:txBody>
      </p:sp>
      <p:sp>
        <p:nvSpPr>
          <p:cNvPr id="5" name="text_240">
            <a:extLst>
              <a:ext uri="{FF2B5EF4-FFF2-40B4-BE49-F238E27FC236}">
                <a16:creationId xmlns:a16="http://schemas.microsoft.com/office/drawing/2014/main" id="{B878F101-6B27-4219-A73F-406653B03CEE}"/>
              </a:ext>
            </a:extLst>
          </p:cNvPr>
          <p:cNvSpPr>
            <a:spLocks noGrp="1"/>
          </p:cNvSpPr>
          <p:nvPr/>
        </p:nvSpPr>
        <p:spPr>
          <a:xfrm>
            <a:off x="809625" y="2857500"/>
            <a:ext cx="9191625" cy="3381375"/>
          </a:xfrm>
          <a:prstGeom prst="rect">
            <a:avLst/>
          </a:prstGeom>
          <a:noFill/>
          <a:ln w="0">
            <a:noFill/>
          </a:ln>
        </p:spPr>
        <p:txBody>
          <a:bodyPr anchor="t">
            <a:noAutofit/>
          </a:bodyPr>
          <a:lstStyle/>
          <a:p>
            <a:pPr>
              <a:defRPr sz="2025" b="0">
                <a:solidFill>
                  <a:srgbClr val="10233F"/>
                </a:solidFill>
                <a:latin typeface="Menlo"/>
                <a:ea typeface="Menlo"/>
                <a:cs typeface="Menlo"/>
              </a:defRPr>
            </a:pPr>
            <a:r>
              <a:rPr sz="2025" b="0">
                <a:solidFill>
                  <a:srgbClr val="10233F"/>
                </a:solidFill>
                <a:latin typeface="Menlo"/>
                <a:ea typeface="Menlo"/>
                <a:cs typeface="Menlo"/>
              </a:rPr>
              <a:t>def get_event_update(event: str) -&gt; dict:</a:t>
            </a:r>
          </a:p>
          <a:p>
            <a:pPr>
              <a:defRPr sz="2025" b="0">
                <a:solidFill>
                  <a:srgbClr val="10233F"/>
                </a:solidFill>
                <a:latin typeface="Menlo"/>
                <a:ea typeface="Menlo"/>
                <a:cs typeface="Menlo"/>
              </a:defRPr>
            </a:pPr>
            <a:r>
              <a:rPr sz="2025" b="0">
                <a:solidFill>
                  <a:srgbClr val="10233F"/>
                </a:solidFill>
                <a:latin typeface="Menlo"/>
                <a:ea typeface="Menlo"/>
                <a:cs typeface="Menlo"/>
              </a:rPr>
              <a:t>    """Read the latest campus event update."""</a:t>
            </a:r>
          </a:p>
          <a:p>
            <a:pPr>
              <a:defRPr sz="2025" b="0">
                <a:solidFill>
                  <a:srgbClr val="10233F"/>
                </a:solidFill>
                <a:latin typeface="Menlo"/>
                <a:ea typeface="Menlo"/>
                <a:cs typeface="Menlo"/>
              </a:defRPr>
            </a:pPr>
            <a:r>
              <a:rPr sz="2025" b="0">
                <a:solidFill>
                  <a:srgbClr val="10233F"/>
                </a:solidFill>
                <a:latin typeface="Menlo"/>
                <a:ea typeface="Menlo"/>
                <a:cs typeface="Menlo"/>
              </a:rPr>
              <a:t>    events = load_events()</a:t>
            </a:r>
          </a:p>
          <a:p>
            <a:pPr>
              <a:defRPr sz="2025" b="0">
                <a:solidFill>
                  <a:srgbClr val="10233F"/>
                </a:solidFill>
                <a:latin typeface="Menlo"/>
                <a:ea typeface="Menlo"/>
                <a:cs typeface="Menlo"/>
              </a:defRPr>
            </a:pPr>
            <a:r>
              <a:rPr sz="2025" b="0">
                <a:solidFill>
                  <a:srgbClr val="10233F"/>
                </a:solidFill>
                <a:latin typeface="Menlo"/>
                <a:ea typeface="Menlo"/>
                <a:cs typeface="Menlo"/>
              </a:rPr>
              <a:t>    return events.get(</a:t>
            </a:r>
          </a:p>
          <a:p>
            <a:pPr>
              <a:defRPr sz="2025" b="0">
                <a:solidFill>
                  <a:srgbClr val="10233F"/>
                </a:solidFill>
                <a:latin typeface="Menlo"/>
                <a:ea typeface="Menlo"/>
                <a:cs typeface="Menlo"/>
              </a:defRPr>
            </a:pPr>
            <a:r>
              <a:rPr sz="2025" b="0">
                <a:solidFill>
                  <a:srgbClr val="10233F"/>
                </a:solidFill>
                <a:latin typeface="Menlo"/>
                <a:ea typeface="Menlo"/>
                <a:cs typeface="Menlo"/>
              </a:rPr>
              <a:t>        event.strip().lower(),</a:t>
            </a:r>
          </a:p>
          <a:p>
            <a:pPr>
              <a:defRPr sz="2025" b="0">
                <a:solidFill>
                  <a:srgbClr val="10233F"/>
                </a:solidFill>
                <a:latin typeface="Menlo"/>
                <a:ea typeface="Menlo"/>
                <a:cs typeface="Menlo"/>
              </a:defRPr>
            </a:pPr>
            <a:r>
              <a:rPr sz="2025" b="0">
                <a:solidFill>
                  <a:srgbClr val="10233F"/>
                </a:solidFill>
                <a:latin typeface="Menlo"/>
                <a:ea typeface="Menlo"/>
                <a:cs typeface="Menlo"/>
              </a:rPr>
              <a:t>        {"status": "not_found"}</a:t>
            </a:r>
          </a:p>
          <a:p>
            <a:pPr>
              <a:defRPr sz="2025" b="0">
                <a:solidFill>
                  <a:srgbClr val="10233F"/>
                </a:solidFill>
                <a:latin typeface="Menlo"/>
                <a:ea typeface="Menlo"/>
                <a:cs typeface="Menlo"/>
              </a:defRPr>
            </a:pPr>
            <a:r>
              <a:rPr sz="2025" b="0">
                <a:solidFill>
                  <a:srgbClr val="10233F"/>
                </a:solidFill>
                <a:latin typeface="Menlo"/>
                <a:ea typeface="Menlo"/>
                <a:cs typeface="Menlo"/>
              </a:rPr>
              <a:t>    )</a:t>
            </a:r>
          </a:p>
        </p:txBody>
      </p:sp>
      <p:sp>
        <p:nvSpPr>
          <p:cNvPr id="6" name="text_241">
            <a:extLst>
              <a:ext uri="{FF2B5EF4-FFF2-40B4-BE49-F238E27FC236}">
                <a16:creationId xmlns:a16="http://schemas.microsoft.com/office/drawing/2014/main" id="{6CC59460-ED5D-41C3-9901-BC7555F8D9E6}"/>
              </a:ext>
            </a:extLst>
          </p:cNvPr>
          <p:cNvSpPr>
            <a:spLocks noGrp="1"/>
          </p:cNvSpPr>
          <p:nvPr/>
        </p:nvSpPr>
        <p:spPr>
          <a:xfrm>
            <a:off x="10668000" y="2143125"/>
            <a:ext cx="40005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TRY THESE IN ORDER</a:t>
            </a:r>
          </a:p>
        </p:txBody>
      </p:sp>
      <p:sp>
        <p:nvSpPr>
          <p:cNvPr id="7" name="text_242">
            <a:extLst>
              <a:ext uri="{FF2B5EF4-FFF2-40B4-BE49-F238E27FC236}">
                <a16:creationId xmlns:a16="http://schemas.microsoft.com/office/drawing/2014/main" id="{F8DBF2E2-143D-4C0A-BAF4-6CBB15ACCE57}"/>
              </a:ext>
            </a:extLst>
          </p:cNvPr>
          <p:cNvSpPr>
            <a:spLocks noGrp="1"/>
          </p:cNvSpPr>
          <p:nvPr/>
        </p:nvSpPr>
        <p:spPr>
          <a:xfrm>
            <a:off x="10668000" y="2828925"/>
            <a:ext cx="3762375" cy="1000125"/>
          </a:xfrm>
          <a:prstGeom prst="rect">
            <a:avLst/>
          </a:prstGeom>
          <a:noFill/>
          <a:ln w="0">
            <a:noFill/>
          </a:ln>
        </p:spPr>
        <p:txBody>
          <a:bodyPr anchor="t">
            <a:noAutofit/>
          </a:bodyPr>
          <a:lstStyle/>
          <a:p>
            <a:pPr>
              <a:defRPr sz="2175" b="1">
                <a:solidFill>
                  <a:srgbClr val="2563EB"/>
                </a:solidFill>
                <a:latin typeface="Arial"/>
                <a:ea typeface="Arial"/>
                <a:cs typeface="Arial"/>
              </a:defRPr>
            </a:pPr>
            <a:r>
              <a:rPr sz="2175" b="1">
                <a:solidFill>
                  <a:srgbClr val="2563EB"/>
                </a:solidFill>
                <a:latin typeface="Arial"/>
                <a:ea typeface="Arial"/>
                <a:cs typeface="Arial"/>
              </a:rPr>
              <a:t>1</a:t>
            </a:r>
          </a:p>
          <a:p>
            <a:pPr>
              <a:defRPr sz="2175" b="1">
                <a:solidFill>
                  <a:srgbClr val="2563EB"/>
                </a:solidFill>
                <a:latin typeface="Arial"/>
                <a:ea typeface="Arial"/>
                <a:cs typeface="Arial"/>
              </a:defRPr>
            </a:pPr>
            <a:r>
              <a:rPr sz="2175" b="1">
                <a:solidFill>
                  <a:srgbClr val="2563EB"/>
                </a:solidFill>
                <a:latin typeface="Arial"/>
                <a:ea typeface="Arial"/>
                <a:cs typeface="Arial"/>
              </a:rPr>
              <a:t>Where is the hackathon?</a:t>
            </a:r>
          </a:p>
        </p:txBody>
      </p:sp>
      <p:sp>
        <p:nvSpPr>
          <p:cNvPr id="8" name="text_243">
            <a:extLst>
              <a:ext uri="{FF2B5EF4-FFF2-40B4-BE49-F238E27FC236}">
                <a16:creationId xmlns:a16="http://schemas.microsoft.com/office/drawing/2014/main" id="{1F238DAB-2CBF-4EA5-8470-6DBB2C29C804}"/>
              </a:ext>
            </a:extLst>
          </p:cNvPr>
          <p:cNvSpPr>
            <a:spLocks noGrp="1"/>
          </p:cNvSpPr>
          <p:nvPr/>
        </p:nvSpPr>
        <p:spPr>
          <a:xfrm>
            <a:off x="10668000" y="4333875"/>
            <a:ext cx="3762375" cy="1190625"/>
          </a:xfrm>
          <a:prstGeom prst="rect">
            <a:avLst/>
          </a:prstGeom>
          <a:noFill/>
          <a:ln w="0">
            <a:noFill/>
          </a:ln>
        </p:spPr>
        <p:txBody>
          <a:bodyPr anchor="t">
            <a:noAutofit/>
          </a:bodyPr>
          <a:lstStyle/>
          <a:p>
            <a:pPr>
              <a:defRPr sz="2175" b="1">
                <a:solidFill>
                  <a:srgbClr val="0D9488"/>
                </a:solidFill>
                <a:latin typeface="Arial"/>
                <a:ea typeface="Arial"/>
                <a:cs typeface="Arial"/>
              </a:defRPr>
            </a:pPr>
            <a:r>
              <a:rPr sz="2175" b="1">
                <a:solidFill>
                  <a:srgbClr val="0D9488"/>
                </a:solidFill>
                <a:latin typeface="Arial"/>
                <a:ea typeface="Arial"/>
                <a:cs typeface="Arial"/>
              </a:rPr>
              <a:t>2</a:t>
            </a:r>
          </a:p>
          <a:p>
            <a:pPr>
              <a:defRPr sz="2175" b="1">
                <a:solidFill>
                  <a:srgbClr val="0D9488"/>
                </a:solidFill>
                <a:latin typeface="Arial"/>
                <a:ea typeface="Arial"/>
                <a:cs typeface="Arial"/>
              </a:defRPr>
            </a:pPr>
            <a:r>
              <a:rPr sz="2175" b="1">
                <a:solidFill>
                  <a:srgbClr val="0D9488"/>
                </a:solidFill>
                <a:latin typeface="Arial"/>
                <a:ea typeface="Arial"/>
                <a:cs typeface="Arial"/>
              </a:rPr>
              <a:t>Change the venue. Ask again.</a:t>
            </a:r>
          </a:p>
        </p:txBody>
      </p:sp>
      <p:sp>
        <p:nvSpPr>
          <p:cNvPr id="9" name="text_244">
            <a:extLst>
              <a:ext uri="{FF2B5EF4-FFF2-40B4-BE49-F238E27FC236}">
                <a16:creationId xmlns:a16="http://schemas.microsoft.com/office/drawing/2014/main" id="{0A7692A9-6AD3-4195-8D90-1EA52E05D7DE}"/>
              </a:ext>
            </a:extLst>
          </p:cNvPr>
          <p:cNvSpPr>
            <a:spLocks noGrp="1"/>
          </p:cNvSpPr>
          <p:nvPr/>
        </p:nvSpPr>
        <p:spPr>
          <a:xfrm>
            <a:off x="10668000" y="5953125"/>
            <a:ext cx="3762375" cy="1190625"/>
          </a:xfrm>
          <a:prstGeom prst="rect">
            <a:avLst/>
          </a:prstGeom>
          <a:noFill/>
          <a:ln w="0">
            <a:noFill/>
          </a:ln>
        </p:spPr>
        <p:txBody>
          <a:bodyPr anchor="t">
            <a:noAutofit/>
          </a:bodyPr>
          <a:lstStyle/>
          <a:p>
            <a:pPr>
              <a:defRPr sz="2175" b="1">
                <a:solidFill>
                  <a:srgbClr val="2563EB"/>
                </a:solidFill>
                <a:latin typeface="Arial"/>
                <a:ea typeface="Arial"/>
                <a:cs typeface="Arial"/>
              </a:defRPr>
            </a:pPr>
            <a:r>
              <a:rPr sz="2175" b="1">
                <a:solidFill>
                  <a:srgbClr val="2563EB"/>
                </a:solidFill>
                <a:latin typeface="Arial"/>
                <a:ea typeface="Arial"/>
                <a:cs typeface="Arial"/>
              </a:rPr>
              <a:t>3</a:t>
            </a:r>
          </a:p>
          <a:p>
            <a:pPr>
              <a:defRPr sz="2175" b="1">
                <a:solidFill>
                  <a:srgbClr val="2563EB"/>
                </a:solidFill>
                <a:latin typeface="Arial"/>
                <a:ea typeface="Arial"/>
                <a:cs typeface="Arial"/>
              </a:defRPr>
            </a:pPr>
            <a:r>
              <a:rPr sz="2175" b="1">
                <a:solidFill>
                  <a:srgbClr val="2563EB"/>
                </a:solidFill>
                <a:latin typeface="Arial"/>
                <a:ea typeface="Arial"/>
                <a:cs typeface="Arial"/>
              </a:rPr>
              <a:t>Ask about an unknown event.</a:t>
            </a:r>
          </a:p>
        </p:txBody>
      </p:sp>
      <p:sp>
        <p:nvSpPr>
          <p:cNvPr id="10" name="adk_web_port_8000_245">
            <a:extLst>
              <a:ext uri="{FF2B5EF4-FFF2-40B4-BE49-F238E27FC236}">
                <a16:creationId xmlns:a16="http://schemas.microsoft.com/office/drawing/2014/main" id="{AE1B5752-D516-4108-973B-F8C59D8D24B4}"/>
              </a:ext>
            </a:extLst>
          </p:cNvPr>
          <p:cNvSpPr>
            <a:spLocks noGrp="1"/>
          </p:cNvSpPr>
          <p:nvPr/>
        </p:nvSpPr>
        <p:spPr>
          <a:xfrm>
            <a:off x="809625" y="6762750"/>
            <a:ext cx="8763000" cy="638175"/>
          </a:xfrm>
          <a:prstGeom prst="roundRect">
            <a:avLst>
              <a:gd name="adj" fmla="val 11940"/>
            </a:avLst>
          </a:prstGeom>
          <a:solidFill>
            <a:srgbClr val="E8EFFD"/>
          </a:solidFill>
          <a:ln w="19050">
            <a:solidFill>
              <a:srgbClr val="2563EB"/>
            </a:solidFill>
          </a:ln>
        </p:spPr>
        <p:txBody>
          <a:bodyPr anchor="ctr">
            <a:noAutofit/>
          </a:bodyPr>
          <a:lstStyle/>
          <a:p>
            <a:pPr algn="ctr">
              <a:defRPr sz="2325">
                <a:solidFill>
                  <a:srgbClr val="10233F"/>
                </a:solidFill>
                <a:latin typeface="Arial"/>
                <a:ea typeface="Arial"/>
                <a:cs typeface="Arial"/>
              </a:defRPr>
            </a:pPr>
            <a:r>
              <a:rPr sz="2325">
                <a:solidFill>
                  <a:srgbClr val="10233F"/>
                </a:solidFill>
                <a:latin typeface="Arial"/>
                <a:ea typeface="Arial"/>
                <a:cs typeface="Arial"/>
              </a:rPr>
              <a:t>adk web --port 8000</a:t>
            </a:r>
          </a:p>
        </p:txBody>
      </p:sp>
      <p:sp>
        <p:nvSpPr>
          <p:cNvPr id="11" name="text_246">
            <a:extLst>
              <a:ext uri="{FF2B5EF4-FFF2-40B4-BE49-F238E27FC236}">
                <a16:creationId xmlns:a16="http://schemas.microsoft.com/office/drawing/2014/main" id="{3D7FBC8D-A55B-4512-BD92-3E89552DAE00}"/>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Local UI + model API + one read-only tool. The small demo does not include a RAG pipeline.</a:t>
            </a:r>
          </a:p>
        </p:txBody>
      </p:sp>
    </p:spTree>
    <p:extLst>
      <p:ext uri="{BB962C8B-B14F-4D97-AF65-F5344CB8AC3E}">
        <p14:creationId xmlns:p14="http://schemas.microsoft.com/office/powerpoint/2010/main" val="487483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3" name="Straight Arrow Connector 12"/>
          <p:cNvCxnSpPr>
            <a:stCxn id="5" idx="3"/>
            <a:endCxn id="6" idx="1"/>
          </p:cNvCxnSpPr>
          <p:nvPr/>
        </p:nvCxnSpPr>
        <p:spPr>
          <a:xfrm flipV="1">
            <a:off x="9477375" y="2738438"/>
            <a:ext cx="1714500" cy="23813"/>
          </a:xfrm>
          <a:prstGeom prst="straightConnector1">
            <a:avLst/>
          </a:prstGeom>
          <a:ln w="28575">
            <a:solidFill>
              <a:srgbClr val="0D9488"/>
            </a:solidFill>
            <a:tailEnd type="triangle" w="med" len="med"/>
          </a:ln>
        </p:spPr>
      </p:cxnSp>
      <p:cxnSp>
        <p:nvCxnSpPr>
          <p:cNvPr id="14" name="Straight Arrow Connector 13"/>
          <p:cNvCxnSpPr>
            <a:stCxn id="4" idx="3"/>
            <a:endCxn id="5" idx="1"/>
          </p:cNvCxnSpPr>
          <p:nvPr/>
        </p:nvCxnSpPr>
        <p:spPr>
          <a:xfrm>
            <a:off x="3857625" y="2738438"/>
            <a:ext cx="1809750" cy="23813"/>
          </a:xfrm>
          <a:prstGeom prst="straightConnector1">
            <a:avLst/>
          </a:prstGeom>
          <a:ln w="28575">
            <a:solidFill>
              <a:srgbClr val="2563EB"/>
            </a:solidFill>
            <a:tailEnd type="triangle" w="med" len="med"/>
          </a:ln>
        </p:spPr>
      </p:cxnSp>
      <p:sp>
        <p:nvSpPr>
          <p:cNvPr id="15" name="text_247">
            <a:extLst>
              <a:ext uri="{FF2B5EF4-FFF2-40B4-BE49-F238E27FC236}">
                <a16:creationId xmlns:a16="http://schemas.microsoft.com/office/drawing/2014/main" id="{4733D866-BC2F-4365-B43C-870A8054DE43}"/>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04 • HOSTING AND COST</a:t>
            </a:r>
          </a:p>
        </p:txBody>
      </p:sp>
      <p:sp>
        <p:nvSpPr>
          <p:cNvPr id="2" name="text_248">
            <a:extLst>
              <a:ext uri="{FF2B5EF4-FFF2-40B4-BE49-F238E27FC236}">
                <a16:creationId xmlns:a16="http://schemas.microsoft.com/office/drawing/2014/main" id="{F08F00EB-2F06-47E8-A3D1-8835C06B6952}"/>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Run locally first. Share when ready.</a:t>
            </a:r>
          </a:p>
        </p:txBody>
      </p:sp>
      <p:sp>
        <p:nvSpPr>
          <p:cNvPr id="3" name="text_249">
            <a:extLst>
              <a:ext uri="{FF2B5EF4-FFF2-40B4-BE49-F238E27FC236}">
                <a16:creationId xmlns:a16="http://schemas.microsoft.com/office/drawing/2014/main" id="{8A316849-74E4-402B-861F-D39317B39833}"/>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20 / 22</a:t>
            </a:r>
          </a:p>
        </p:txBody>
      </p:sp>
      <p:sp>
        <p:nvSpPr>
          <p:cNvPr id="4" name="Browser_250">
            <a:extLst>
              <a:ext uri="{FF2B5EF4-FFF2-40B4-BE49-F238E27FC236}">
                <a16:creationId xmlns:a16="http://schemas.microsoft.com/office/drawing/2014/main" id="{0E30689B-552C-48C6-A3BB-A7807C6E9364}"/>
              </a:ext>
            </a:extLst>
          </p:cNvPr>
          <p:cNvSpPr>
            <a:spLocks noGrp="1"/>
          </p:cNvSpPr>
          <p:nvPr/>
        </p:nvSpPr>
        <p:spPr>
          <a:xfrm>
            <a:off x="809625" y="2286000"/>
            <a:ext cx="3048000" cy="904875"/>
          </a:xfrm>
          <a:prstGeom prst="roundRect">
            <a:avLst>
              <a:gd name="adj" fmla="val 8421"/>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Browser</a:t>
            </a:r>
          </a:p>
        </p:txBody>
      </p:sp>
      <p:sp>
        <p:nvSpPr>
          <p:cNvPr id="5" name="Hosted_app_Cloud_Run_251">
            <a:extLst>
              <a:ext uri="{FF2B5EF4-FFF2-40B4-BE49-F238E27FC236}">
                <a16:creationId xmlns:a16="http://schemas.microsoft.com/office/drawing/2014/main" id="{8E9F17F9-5690-4EB9-92D1-24A165A56218}"/>
              </a:ext>
            </a:extLst>
          </p:cNvPr>
          <p:cNvSpPr>
            <a:spLocks noGrp="1"/>
          </p:cNvSpPr>
          <p:nvPr/>
        </p:nvSpPr>
        <p:spPr>
          <a:xfrm>
            <a:off x="5667375" y="2190750"/>
            <a:ext cx="3810000" cy="1143000"/>
          </a:xfrm>
          <a:prstGeom prst="roundRect">
            <a:avLst>
              <a:gd name="adj" fmla="val 6667"/>
            </a:avLst>
          </a:prstGeom>
          <a:solidFill>
            <a:srgbClr val="E8EFFD"/>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Hosted app</a:t>
            </a:r>
          </a:p>
          <a:p>
            <a:pPr algn="ctr">
              <a:defRPr sz="2175">
                <a:solidFill>
                  <a:srgbClr val="10233F"/>
                </a:solidFill>
                <a:latin typeface="Arial"/>
                <a:ea typeface="Arial"/>
                <a:cs typeface="Arial"/>
              </a:defRPr>
            </a:pPr>
            <a:r>
              <a:rPr sz="2175">
                <a:solidFill>
                  <a:srgbClr val="10233F"/>
                </a:solidFill>
                <a:latin typeface="Arial"/>
                <a:ea typeface="Arial"/>
                <a:cs typeface="Arial"/>
              </a:rPr>
              <a:t>Cloud Run</a:t>
            </a:r>
          </a:p>
        </p:txBody>
      </p:sp>
      <p:sp>
        <p:nvSpPr>
          <p:cNvPr id="6" name="Model_API_252">
            <a:extLst>
              <a:ext uri="{FF2B5EF4-FFF2-40B4-BE49-F238E27FC236}">
                <a16:creationId xmlns:a16="http://schemas.microsoft.com/office/drawing/2014/main" id="{B045BC7B-B145-4DFF-A63F-5D1B9671FAD8}"/>
              </a:ext>
            </a:extLst>
          </p:cNvPr>
          <p:cNvSpPr>
            <a:spLocks noGrp="1"/>
          </p:cNvSpPr>
          <p:nvPr/>
        </p:nvSpPr>
        <p:spPr>
          <a:xfrm>
            <a:off x="11191875" y="2286000"/>
            <a:ext cx="3143250" cy="904875"/>
          </a:xfrm>
          <a:prstGeom prst="roundRect">
            <a:avLst>
              <a:gd name="adj" fmla="val 8421"/>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Model API</a:t>
            </a:r>
          </a:p>
        </p:txBody>
      </p:sp>
      <p:sp>
        <p:nvSpPr>
          <p:cNvPr id="9" name="text_253">
            <a:extLst>
              <a:ext uri="{FF2B5EF4-FFF2-40B4-BE49-F238E27FC236}">
                <a16:creationId xmlns:a16="http://schemas.microsoft.com/office/drawing/2014/main" id="{C23E9231-278C-4789-8D00-194DF8ED8D0E}"/>
              </a:ext>
            </a:extLst>
          </p:cNvPr>
          <p:cNvSpPr>
            <a:spLocks noGrp="1"/>
          </p:cNvSpPr>
          <p:nvPr/>
        </p:nvSpPr>
        <p:spPr>
          <a:xfrm>
            <a:off x="6096000" y="3571875"/>
            <a:ext cx="3143250" cy="428625"/>
          </a:xfrm>
          <a:prstGeom prst="rect">
            <a:avLst/>
          </a:prstGeom>
          <a:noFill/>
          <a:ln w="0">
            <a:noFill/>
          </a:ln>
        </p:spPr>
        <p:txBody>
          <a:bodyPr anchor="t">
            <a:noAutofit/>
          </a:bodyPr>
          <a:lstStyle/>
          <a:p>
            <a:pPr>
              <a:defRPr sz="1950" b="1">
                <a:solidFill>
                  <a:srgbClr val="2563EB"/>
                </a:solidFill>
                <a:latin typeface="Arial"/>
                <a:ea typeface="Arial"/>
                <a:cs typeface="Arial"/>
              </a:defRPr>
            </a:pPr>
            <a:r>
              <a:rPr sz="1950" b="1">
                <a:solidFill>
                  <a:srgbClr val="2563EB"/>
                </a:solidFill>
                <a:latin typeface="Arial"/>
                <a:ea typeface="Arial"/>
                <a:cs typeface="Arial"/>
              </a:rPr>
              <a:t>Hosting cost</a:t>
            </a:r>
          </a:p>
        </p:txBody>
      </p:sp>
      <p:sp>
        <p:nvSpPr>
          <p:cNvPr id="10" name="text_254">
            <a:extLst>
              <a:ext uri="{FF2B5EF4-FFF2-40B4-BE49-F238E27FC236}">
                <a16:creationId xmlns:a16="http://schemas.microsoft.com/office/drawing/2014/main" id="{DB3B466C-9790-4FF3-9349-327D999CBD3D}"/>
              </a:ext>
            </a:extLst>
          </p:cNvPr>
          <p:cNvSpPr>
            <a:spLocks noGrp="1"/>
          </p:cNvSpPr>
          <p:nvPr/>
        </p:nvSpPr>
        <p:spPr>
          <a:xfrm>
            <a:off x="11430000" y="3571875"/>
            <a:ext cx="3190875" cy="428625"/>
          </a:xfrm>
          <a:prstGeom prst="rect">
            <a:avLst/>
          </a:prstGeom>
          <a:noFill/>
          <a:ln w="0">
            <a:noFill/>
          </a:ln>
        </p:spPr>
        <p:txBody>
          <a:bodyPr anchor="t">
            <a:noAutofit/>
          </a:bodyPr>
          <a:lstStyle/>
          <a:p>
            <a:pPr>
              <a:defRPr sz="1950" b="1">
                <a:solidFill>
                  <a:srgbClr val="0D9488"/>
                </a:solidFill>
                <a:latin typeface="Arial"/>
                <a:ea typeface="Arial"/>
                <a:cs typeface="Arial"/>
              </a:defRPr>
            </a:pPr>
            <a:r>
              <a:rPr sz="1950" b="1">
                <a:solidFill>
                  <a:srgbClr val="0D9488"/>
                </a:solidFill>
                <a:latin typeface="Arial"/>
                <a:ea typeface="Arial"/>
                <a:cs typeface="Arial"/>
              </a:rPr>
              <a:t>Inference cost</a:t>
            </a:r>
          </a:p>
        </p:txBody>
      </p:sp>
      <p:graphicFrame>
        <p:nvGraphicFramePr>
          <p:cNvPr id="23" name="Table 22"/>
          <p:cNvGraphicFramePr/>
          <p:nvPr/>
        </p:nvGraphicFramePr>
        <p:xfrm>
          <a:off x="762000" y="4429125"/>
          <a:ext cx="13716000" cy="2751774"/>
        </p:xfrm>
        <a:graphic>
          <a:graphicData uri="http://schemas.openxmlformats.org/drawingml/2006/table">
            <a:tbl>
              <a:tblPr/>
              <a:tblGrid>
                <a:gridCol w="3143250">
                  <a:extLst>
                    <a:ext uri="{9D8B030D-6E8A-4147-A177-3AD203B41FA5}">
                      <a16:colId xmlns:a16="http://schemas.microsoft.com/office/drawing/2014/main" val="20000"/>
                    </a:ext>
                  </a:extLst>
                </a:gridCol>
                <a:gridCol w="48577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681038">
                <a:tc>
                  <a:txBody>
                    <a:bodyPr/>
                    <a:lstStyle/>
                    <a:p>
                      <a:r>
                        <a:rPr sz="2025" b="1">
                          <a:solidFill>
                            <a:srgbClr val="FFFFFF"/>
                          </a:solidFill>
                          <a:latin typeface="Arial"/>
                          <a:ea typeface="Arial"/>
                          <a:cs typeface="Arial"/>
                        </a:rPr>
                        <a:t>Route</a:t>
                      </a:r>
                    </a:p>
                  </a:txBody>
                  <a:tcPr>
                    <a:solidFill>
                      <a:srgbClr val="10233F"/>
                    </a:solidFill>
                  </a:tcPr>
                </a:tc>
                <a:tc>
                  <a:txBody>
                    <a:bodyPr/>
                    <a:lstStyle/>
                    <a:p>
                      <a:r>
                        <a:rPr sz="2025" b="1">
                          <a:solidFill>
                            <a:srgbClr val="FFFFFF"/>
                          </a:solidFill>
                          <a:latin typeface="Arial"/>
                          <a:ea typeface="Arial"/>
                          <a:cs typeface="Arial"/>
                        </a:rPr>
                        <a:t>What students need</a:t>
                      </a:r>
                    </a:p>
                  </a:txBody>
                  <a:tcPr>
                    <a:solidFill>
                      <a:srgbClr val="10233F"/>
                    </a:solidFill>
                  </a:tcPr>
                </a:tc>
                <a:tc>
                  <a:txBody>
                    <a:bodyPr/>
                    <a:lstStyle/>
                    <a:p>
                      <a:r>
                        <a:rPr sz="2025" b="1">
                          <a:solidFill>
                            <a:srgbClr val="FFFFFF"/>
                          </a:solidFill>
                          <a:latin typeface="Arial"/>
                          <a:ea typeface="Arial"/>
                          <a:cs typeface="Arial"/>
                        </a:rPr>
                        <a:t>Cost boundary</a:t>
                      </a:r>
                    </a:p>
                  </a:txBody>
                  <a:tcPr>
                    <a:solidFill>
                      <a:srgbClr val="10233F"/>
                    </a:solidFill>
                  </a:tcPr>
                </a:tc>
                <a:extLst>
                  <a:ext uri="{0D108BD9-81ED-4DB2-BD59-A6C34878D82A}">
                    <a16:rowId xmlns:a16="http://schemas.microsoft.com/office/drawing/2014/main" val="10000"/>
                  </a:ext>
                </a:extLst>
              </a:tr>
              <a:tr h="681038">
                <a:tc>
                  <a:txBody>
                    <a:bodyPr/>
                    <a:lstStyle/>
                    <a:p>
                      <a:r>
                        <a:rPr sz="2025" b="0">
                          <a:solidFill>
                            <a:srgbClr val="10233F"/>
                          </a:solidFill>
                          <a:latin typeface="Arial"/>
                          <a:ea typeface="Arial"/>
                          <a:cs typeface="Arial"/>
                        </a:rPr>
                        <a:t>Local ADK web</a:t>
                      </a:r>
                    </a:p>
                  </a:txBody>
                  <a:tcPr>
                    <a:solidFill>
                      <a:srgbClr val="FFFFFF"/>
                    </a:solidFill>
                  </a:tcPr>
                </a:tc>
                <a:tc>
                  <a:txBody>
                    <a:bodyPr/>
                    <a:lstStyle/>
                    <a:p>
                      <a:r>
                        <a:rPr sz="2025" b="0">
                          <a:solidFill>
                            <a:srgbClr val="10233F"/>
                          </a:solidFill>
                          <a:latin typeface="Arial"/>
                          <a:ea typeface="Arial"/>
                          <a:cs typeface="Arial"/>
                        </a:rPr>
                        <a:t>Python + API key</a:t>
                      </a:r>
                    </a:p>
                  </a:txBody>
                  <a:tcPr>
                    <a:solidFill>
                      <a:srgbClr val="FFFFFF"/>
                    </a:solidFill>
                  </a:tcPr>
                </a:tc>
                <a:tc>
                  <a:txBody>
                    <a:bodyPr/>
                    <a:lstStyle/>
                    <a:p>
                      <a:r>
                        <a:rPr sz="2025" b="0">
                          <a:solidFill>
                            <a:srgbClr val="10233F"/>
                          </a:solidFill>
                          <a:latin typeface="Arial"/>
                          <a:ea typeface="Arial"/>
                          <a:cs typeface="Arial"/>
                        </a:rPr>
                        <a:t>No hosting bill; API quota / usage</a:t>
                      </a:r>
                    </a:p>
                  </a:txBody>
                  <a:tcPr>
                    <a:solidFill>
                      <a:srgbClr val="FFFFFF"/>
                    </a:solidFill>
                  </a:tcPr>
                </a:tc>
                <a:extLst>
                  <a:ext uri="{0D108BD9-81ED-4DB2-BD59-A6C34878D82A}">
                    <a16:rowId xmlns:a16="http://schemas.microsoft.com/office/drawing/2014/main" val="10001"/>
                  </a:ext>
                </a:extLst>
              </a:tr>
              <a:tr h="681038">
                <a:tc>
                  <a:txBody>
                    <a:bodyPr/>
                    <a:lstStyle/>
                    <a:p>
                      <a:r>
                        <a:rPr sz="2025" b="0">
                          <a:solidFill>
                            <a:srgbClr val="10233F"/>
                          </a:solidFill>
                          <a:latin typeface="Arial"/>
                          <a:ea typeface="Arial"/>
                          <a:cs typeface="Arial"/>
                        </a:rPr>
                        <a:t>Cloud Run</a:t>
                      </a:r>
                    </a:p>
                  </a:txBody>
                  <a:tcPr>
                    <a:solidFill>
                      <a:srgbClr val="E8EFFD"/>
                    </a:solidFill>
                  </a:tcPr>
                </a:tc>
                <a:tc>
                  <a:txBody>
                    <a:bodyPr/>
                    <a:lstStyle/>
                    <a:p>
                      <a:r>
                        <a:rPr sz="2025" b="0">
                          <a:solidFill>
                            <a:srgbClr val="10233F"/>
                          </a:solidFill>
                          <a:latin typeface="Arial"/>
                          <a:ea typeface="Arial"/>
                          <a:cs typeface="Arial"/>
                        </a:rPr>
                        <a:t>Cloud project + billing</a:t>
                      </a:r>
                    </a:p>
                  </a:txBody>
                  <a:tcPr>
                    <a:solidFill>
                      <a:srgbClr val="E8EFFD"/>
                    </a:solidFill>
                  </a:tcPr>
                </a:tc>
                <a:tc>
                  <a:txBody>
                    <a:bodyPr/>
                    <a:lstStyle/>
                    <a:p>
                      <a:r>
                        <a:rPr sz="2025" b="0">
                          <a:solidFill>
                            <a:srgbClr val="10233F"/>
                          </a:solidFill>
                          <a:latin typeface="Arial"/>
                          <a:ea typeface="Arial"/>
                          <a:cs typeface="Arial"/>
                        </a:rPr>
                        <a:t>Free allowances, then usage</a:t>
                      </a:r>
                    </a:p>
                  </a:txBody>
                  <a:tcPr>
                    <a:solidFill>
                      <a:srgbClr val="E8EFFD"/>
                    </a:solidFill>
                  </a:tcPr>
                </a:tc>
                <a:extLst>
                  <a:ext uri="{0D108BD9-81ED-4DB2-BD59-A6C34878D82A}">
                    <a16:rowId xmlns:a16="http://schemas.microsoft.com/office/drawing/2014/main" val="10002"/>
                  </a:ext>
                </a:extLst>
              </a:tr>
              <a:tr h="681038">
                <a:tc>
                  <a:txBody>
                    <a:bodyPr/>
                    <a:lstStyle/>
                    <a:p>
                      <a:r>
                        <a:rPr sz="2025" b="0">
                          <a:solidFill>
                            <a:srgbClr val="10233F"/>
                          </a:solidFill>
                          <a:latin typeface="Arial"/>
                          <a:ea typeface="Arial"/>
                          <a:cs typeface="Arial"/>
                        </a:rPr>
                        <a:t>Streamlit Community Cloud</a:t>
                      </a:r>
                    </a:p>
                  </a:txBody>
                  <a:tcPr>
                    <a:solidFill>
                      <a:srgbClr val="FFFFFF"/>
                    </a:solidFill>
                  </a:tcPr>
                </a:tc>
                <a:tc>
                  <a:txBody>
                    <a:bodyPr/>
                    <a:lstStyle/>
                    <a:p>
                      <a:r>
                        <a:rPr sz="2025" b="0">
                          <a:solidFill>
                            <a:srgbClr val="10233F"/>
                          </a:solidFill>
                          <a:latin typeface="Arial"/>
                          <a:ea typeface="Arial"/>
                          <a:cs typeface="Arial"/>
                        </a:rPr>
                        <a:t>GitHub + Streamlit UI</a:t>
                      </a:r>
                    </a:p>
                  </a:txBody>
                  <a:tcPr>
                    <a:solidFill>
                      <a:srgbClr val="FFFFFF"/>
                    </a:solidFill>
                  </a:tcPr>
                </a:tc>
                <a:tc>
                  <a:txBody>
                    <a:bodyPr/>
                    <a:lstStyle/>
                    <a:p>
                      <a:r>
                        <a:rPr sz="2025" b="0">
                          <a:solidFill>
                            <a:srgbClr val="10233F"/>
                          </a:solidFill>
                          <a:latin typeface="Arial"/>
                          <a:ea typeface="Arial"/>
                          <a:cs typeface="Arial"/>
                        </a:rPr>
                        <a:t>Free hosting; API cost separate</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text_255">
            <a:extLst>
              <a:ext uri="{FF2B5EF4-FFF2-40B4-BE49-F238E27FC236}">
                <a16:creationId xmlns:a16="http://schemas.microsoft.com/office/drawing/2014/main" id="{2096AD19-4099-4D16-A098-24FC6CF25D4D}"/>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Eligible Google Cloud trial: $300 / 90 days, payment verification required. Terms checked 30 Sep 2026.</a:t>
            </a:r>
          </a:p>
        </p:txBody>
      </p:sp>
    </p:spTree>
    <p:extLst>
      <p:ext uri="{BB962C8B-B14F-4D97-AF65-F5344CB8AC3E}">
        <p14:creationId xmlns:p14="http://schemas.microsoft.com/office/powerpoint/2010/main" val="1088305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cxnSp>
        <p:nvCxnSpPr>
          <p:cNvPr id="16" name="Straight Arrow Connector 15"/>
          <p:cNvCxnSpPr>
            <a:stCxn id="5" idx="2"/>
            <a:endCxn id="8" idx="0"/>
          </p:cNvCxnSpPr>
          <p:nvPr/>
        </p:nvCxnSpPr>
        <p:spPr>
          <a:xfrm>
            <a:off x="6572250" y="5381625"/>
            <a:ext cx="0" cy="1381125"/>
          </a:xfrm>
          <a:prstGeom prst="straightConnector1">
            <a:avLst/>
          </a:prstGeom>
          <a:ln w="28575">
            <a:solidFill>
              <a:srgbClr val="2563EB"/>
            </a:solidFill>
            <a:tailEnd type="triangle" w="med" len="med"/>
          </a:ln>
        </p:spPr>
      </p:cxnSp>
      <p:cxnSp>
        <p:nvCxnSpPr>
          <p:cNvPr id="17" name="Straight Arrow Connector 16"/>
          <p:cNvCxnSpPr>
            <a:stCxn id="5" idx="3"/>
            <a:endCxn id="7" idx="1"/>
          </p:cNvCxnSpPr>
          <p:nvPr/>
        </p:nvCxnSpPr>
        <p:spPr>
          <a:xfrm>
            <a:off x="8810625" y="4310063"/>
            <a:ext cx="1476375" cy="881063"/>
          </a:xfrm>
          <a:prstGeom prst="straightConnector1">
            <a:avLst/>
          </a:prstGeom>
          <a:ln w="28575">
            <a:solidFill>
              <a:srgbClr val="0D9488"/>
            </a:solidFill>
            <a:headEnd type="triangle" w="med" len="med"/>
            <a:tailEnd type="triangle" w="med" len="med"/>
          </a:ln>
        </p:spPr>
      </p:cxnSp>
      <p:cxnSp>
        <p:nvCxnSpPr>
          <p:cNvPr id="18" name="Straight Arrow Connector 17"/>
          <p:cNvCxnSpPr>
            <a:stCxn id="5" idx="3"/>
            <a:endCxn id="6" idx="1"/>
          </p:cNvCxnSpPr>
          <p:nvPr/>
        </p:nvCxnSpPr>
        <p:spPr>
          <a:xfrm flipV="1">
            <a:off x="8810625" y="2857500"/>
            <a:ext cx="1476375" cy="1452563"/>
          </a:xfrm>
          <a:prstGeom prst="straightConnector1">
            <a:avLst/>
          </a:prstGeom>
          <a:ln w="28575">
            <a:solidFill>
              <a:srgbClr val="0D9488"/>
            </a:solidFill>
            <a:headEnd type="triangle" w="med" len="med"/>
            <a:tailEnd type="triangle" w="med" len="med"/>
          </a:ln>
        </p:spPr>
      </p:cxnSp>
      <p:cxnSp>
        <p:nvCxnSpPr>
          <p:cNvPr id="19" name="Straight Arrow Connector 18"/>
          <p:cNvCxnSpPr>
            <a:stCxn id="4" idx="3"/>
            <a:endCxn id="5" idx="1"/>
          </p:cNvCxnSpPr>
          <p:nvPr/>
        </p:nvCxnSpPr>
        <p:spPr>
          <a:xfrm>
            <a:off x="3238500" y="4286250"/>
            <a:ext cx="1095375" cy="23813"/>
          </a:xfrm>
          <a:prstGeom prst="straightConnector1">
            <a:avLst/>
          </a:prstGeom>
          <a:ln w="28575">
            <a:solidFill>
              <a:srgbClr val="2563EB"/>
            </a:solidFill>
            <a:tailEnd type="triangle" w="med" len="med"/>
          </a:ln>
        </p:spPr>
      </p:cxnSp>
      <p:sp>
        <p:nvSpPr>
          <p:cNvPr id="20" name="text_256">
            <a:extLst>
              <a:ext uri="{FF2B5EF4-FFF2-40B4-BE49-F238E27FC236}">
                <a16:creationId xmlns:a16="http://schemas.microsoft.com/office/drawing/2014/main" id="{B45723AE-C5A5-4DC7-AE2E-1133D7B393FD}"/>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05 • CONNECT THE IDEAS</a:t>
            </a:r>
          </a:p>
        </p:txBody>
      </p:sp>
      <p:sp>
        <p:nvSpPr>
          <p:cNvPr id="2" name="text_257">
            <a:extLst>
              <a:ext uri="{FF2B5EF4-FFF2-40B4-BE49-F238E27FC236}">
                <a16:creationId xmlns:a16="http://schemas.microsoft.com/office/drawing/2014/main" id="{84D6ACDC-F3A6-4AA1-9CDF-DFB5DED51BB2}"/>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The whole system in one picture</a:t>
            </a:r>
          </a:p>
        </p:txBody>
      </p:sp>
      <p:sp>
        <p:nvSpPr>
          <p:cNvPr id="3" name="text_258">
            <a:extLst>
              <a:ext uri="{FF2B5EF4-FFF2-40B4-BE49-F238E27FC236}">
                <a16:creationId xmlns:a16="http://schemas.microsoft.com/office/drawing/2014/main" id="{A3B4E18A-C2F9-45C7-AAC8-A76DA62BF46E}"/>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21 / 22</a:t>
            </a:r>
          </a:p>
        </p:txBody>
      </p:sp>
      <p:sp>
        <p:nvSpPr>
          <p:cNvPr id="4" name="Student_goal_259">
            <a:extLst>
              <a:ext uri="{FF2B5EF4-FFF2-40B4-BE49-F238E27FC236}">
                <a16:creationId xmlns:a16="http://schemas.microsoft.com/office/drawing/2014/main" id="{59E5B53C-A25A-4A00-9F1F-90788D96F7D0}"/>
              </a:ext>
            </a:extLst>
          </p:cNvPr>
          <p:cNvSpPr>
            <a:spLocks noGrp="1"/>
          </p:cNvSpPr>
          <p:nvPr/>
        </p:nvSpPr>
        <p:spPr>
          <a:xfrm>
            <a:off x="762000" y="3714750"/>
            <a:ext cx="2476500" cy="1143000"/>
          </a:xfrm>
          <a:prstGeom prst="roundRect">
            <a:avLst>
              <a:gd name="adj" fmla="val 6667"/>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Student goal</a:t>
            </a:r>
          </a:p>
        </p:txBody>
      </p:sp>
      <p:sp>
        <p:nvSpPr>
          <p:cNvPr id="5" name="AGENT_RUNTIME_Model_instructions_state_decision_loop_260">
            <a:extLst>
              <a:ext uri="{FF2B5EF4-FFF2-40B4-BE49-F238E27FC236}">
                <a16:creationId xmlns:a16="http://schemas.microsoft.com/office/drawing/2014/main" id="{A6B03330-4903-437B-BA66-90D9490B941D}"/>
              </a:ext>
            </a:extLst>
          </p:cNvPr>
          <p:cNvSpPr>
            <a:spLocks noGrp="1"/>
          </p:cNvSpPr>
          <p:nvPr/>
        </p:nvSpPr>
        <p:spPr>
          <a:xfrm>
            <a:off x="4333875" y="3238500"/>
            <a:ext cx="4476750" cy="2143125"/>
          </a:xfrm>
          <a:prstGeom prst="roundRect">
            <a:avLst>
              <a:gd name="adj" fmla="val 3556"/>
            </a:avLst>
          </a:prstGeom>
          <a:solidFill>
            <a:srgbClr val="E8EFFD"/>
          </a:solidFill>
          <a:ln w="19050">
            <a:solidFill>
              <a:srgbClr val="2563EB"/>
            </a:solidFill>
          </a:ln>
        </p:spPr>
        <p:txBody>
          <a:bodyPr anchor="ctr">
            <a:noAutofit/>
          </a:bodyPr>
          <a:lstStyle/>
          <a:p>
            <a:pPr algn="ctr">
              <a:defRPr sz="2550">
                <a:solidFill>
                  <a:srgbClr val="10233F"/>
                </a:solidFill>
                <a:latin typeface="Arial"/>
                <a:ea typeface="Arial"/>
                <a:cs typeface="Arial"/>
              </a:defRPr>
            </a:pPr>
            <a:r>
              <a:rPr sz="2550">
                <a:solidFill>
                  <a:srgbClr val="10233F"/>
                </a:solidFill>
                <a:latin typeface="Arial"/>
                <a:ea typeface="Arial"/>
                <a:cs typeface="Arial"/>
              </a:rPr>
              <a:t>AGENT RUNTIME</a:t>
            </a:r>
          </a:p>
          <a:p>
            <a:pPr algn="ctr">
              <a:defRPr sz="2550">
                <a:solidFill>
                  <a:srgbClr val="10233F"/>
                </a:solidFill>
                <a:latin typeface="Arial"/>
                <a:ea typeface="Arial"/>
                <a:cs typeface="Arial"/>
              </a:defRPr>
            </a:pPr>
            <a:r>
              <a:rPr sz="2550">
                <a:solidFill>
                  <a:srgbClr val="10233F"/>
                </a:solidFill>
                <a:latin typeface="Arial"/>
                <a:ea typeface="Arial"/>
                <a:cs typeface="Arial"/>
              </a:rPr>
              <a:t>Model + instructions</a:t>
            </a:r>
          </a:p>
          <a:p>
            <a:pPr algn="ctr">
              <a:defRPr sz="2550">
                <a:solidFill>
                  <a:srgbClr val="10233F"/>
                </a:solidFill>
                <a:latin typeface="Arial"/>
                <a:ea typeface="Arial"/>
                <a:cs typeface="Arial"/>
              </a:defRPr>
            </a:pPr>
            <a:r>
              <a:rPr sz="2550">
                <a:solidFill>
                  <a:srgbClr val="10233F"/>
                </a:solidFill>
                <a:latin typeface="Arial"/>
                <a:ea typeface="Arial"/>
                <a:cs typeface="Arial"/>
              </a:rPr>
              <a:t>state + decision loop</a:t>
            </a:r>
          </a:p>
        </p:txBody>
      </p:sp>
      <p:sp>
        <p:nvSpPr>
          <p:cNvPr id="6" name="RAG_tool_retrieve_handbook_261">
            <a:extLst>
              <a:ext uri="{FF2B5EF4-FFF2-40B4-BE49-F238E27FC236}">
                <a16:creationId xmlns:a16="http://schemas.microsoft.com/office/drawing/2014/main" id="{28F1DFFE-29C2-459E-9E44-79FD1FEA22EF}"/>
              </a:ext>
            </a:extLst>
          </p:cNvPr>
          <p:cNvSpPr>
            <a:spLocks noGrp="1"/>
          </p:cNvSpPr>
          <p:nvPr/>
        </p:nvSpPr>
        <p:spPr>
          <a:xfrm>
            <a:off x="10287000" y="2333625"/>
            <a:ext cx="4000500" cy="1047750"/>
          </a:xfrm>
          <a:prstGeom prst="roundRect">
            <a:avLst>
              <a:gd name="adj" fmla="val 7273"/>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RAG tool</a:t>
            </a:r>
          </a:p>
          <a:p>
            <a:pPr algn="ctr">
              <a:defRPr sz="2175">
                <a:solidFill>
                  <a:srgbClr val="10233F"/>
                </a:solidFill>
                <a:latin typeface="Arial"/>
                <a:ea typeface="Arial"/>
                <a:cs typeface="Arial"/>
              </a:defRPr>
            </a:pPr>
            <a:r>
              <a:rPr sz="2175">
                <a:solidFill>
                  <a:srgbClr val="10233F"/>
                </a:solidFill>
                <a:latin typeface="Arial"/>
                <a:ea typeface="Arial"/>
                <a:cs typeface="Arial"/>
              </a:rPr>
              <a:t>retrieve handbook</a:t>
            </a:r>
          </a:p>
        </p:txBody>
      </p:sp>
      <p:sp>
        <p:nvSpPr>
          <p:cNvPr id="7" name="Event_tool_read_today_s_notice_262">
            <a:extLst>
              <a:ext uri="{FF2B5EF4-FFF2-40B4-BE49-F238E27FC236}">
                <a16:creationId xmlns:a16="http://schemas.microsoft.com/office/drawing/2014/main" id="{A700EE5E-E8F2-41D1-B006-D82327A655F6}"/>
              </a:ext>
            </a:extLst>
          </p:cNvPr>
          <p:cNvSpPr>
            <a:spLocks noGrp="1"/>
          </p:cNvSpPr>
          <p:nvPr/>
        </p:nvSpPr>
        <p:spPr>
          <a:xfrm>
            <a:off x="10287000" y="4667250"/>
            <a:ext cx="4000500" cy="1047750"/>
          </a:xfrm>
          <a:prstGeom prst="roundRect">
            <a:avLst>
              <a:gd name="adj" fmla="val 7273"/>
            </a:avLst>
          </a:prstGeom>
          <a:solidFill>
            <a:srgbClr val="E1F3EF"/>
          </a:solidFill>
          <a:ln w="19050">
            <a:solidFill>
              <a:srgbClr val="0D9488"/>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Event tool</a:t>
            </a:r>
          </a:p>
          <a:p>
            <a:pPr algn="ctr">
              <a:defRPr sz="2175">
                <a:solidFill>
                  <a:srgbClr val="10233F"/>
                </a:solidFill>
                <a:latin typeface="Arial"/>
                <a:ea typeface="Arial"/>
                <a:cs typeface="Arial"/>
              </a:defRPr>
            </a:pPr>
            <a:r>
              <a:rPr sz="2175">
                <a:solidFill>
                  <a:srgbClr val="10233F"/>
                </a:solidFill>
                <a:latin typeface="Arial"/>
                <a:ea typeface="Arial"/>
                <a:cs typeface="Arial"/>
              </a:rPr>
              <a:t>read today’s notice</a:t>
            </a:r>
          </a:p>
        </p:txBody>
      </p:sp>
      <p:sp>
        <p:nvSpPr>
          <p:cNvPr id="8" name="Answer_evidence_next_steps_263">
            <a:extLst>
              <a:ext uri="{FF2B5EF4-FFF2-40B4-BE49-F238E27FC236}">
                <a16:creationId xmlns:a16="http://schemas.microsoft.com/office/drawing/2014/main" id="{CC598523-E156-4AC7-8C9F-7266A270DB26}"/>
              </a:ext>
            </a:extLst>
          </p:cNvPr>
          <p:cNvSpPr>
            <a:spLocks noGrp="1"/>
          </p:cNvSpPr>
          <p:nvPr/>
        </p:nvSpPr>
        <p:spPr>
          <a:xfrm>
            <a:off x="4643438" y="6762750"/>
            <a:ext cx="3857625" cy="857250"/>
          </a:xfrm>
          <a:prstGeom prst="roundRect">
            <a:avLst>
              <a:gd name="adj" fmla="val 8889"/>
            </a:avLst>
          </a:prstGeom>
          <a:solidFill>
            <a:srgbClr val="FFFFFF"/>
          </a:solidFill>
          <a:ln w="19050">
            <a:solidFill>
              <a:srgbClr val="2563EB"/>
            </a:solidFill>
          </a:ln>
        </p:spPr>
        <p:txBody>
          <a:bodyPr anchor="ctr">
            <a:noAutofit/>
          </a:bodyPr>
          <a:lstStyle/>
          <a:p>
            <a:pPr algn="ctr">
              <a:defRPr sz="2175">
                <a:solidFill>
                  <a:srgbClr val="10233F"/>
                </a:solidFill>
                <a:latin typeface="Arial"/>
                <a:ea typeface="Arial"/>
                <a:cs typeface="Arial"/>
              </a:defRPr>
            </a:pPr>
            <a:r>
              <a:rPr sz="2175">
                <a:solidFill>
                  <a:srgbClr val="10233F"/>
                </a:solidFill>
                <a:latin typeface="Arial"/>
                <a:ea typeface="Arial"/>
                <a:cs typeface="Arial"/>
              </a:rPr>
              <a:t>Answer + evidence</a:t>
            </a:r>
          </a:p>
          <a:p>
            <a:pPr algn="ctr">
              <a:defRPr sz="2175">
                <a:solidFill>
                  <a:srgbClr val="10233F"/>
                </a:solidFill>
                <a:latin typeface="Arial"/>
                <a:ea typeface="Arial"/>
                <a:cs typeface="Arial"/>
              </a:defRPr>
            </a:pPr>
            <a:r>
              <a:rPr sz="2175">
                <a:solidFill>
                  <a:srgbClr val="10233F"/>
                </a:solidFill>
                <a:latin typeface="Arial"/>
                <a:ea typeface="Arial"/>
                <a:cs typeface="Arial"/>
              </a:rPr>
              <a:t>+ next steps</a:t>
            </a:r>
          </a:p>
        </p:txBody>
      </p:sp>
      <p:sp>
        <p:nvSpPr>
          <p:cNvPr id="13" name="text_264">
            <a:extLst>
              <a:ext uri="{FF2B5EF4-FFF2-40B4-BE49-F238E27FC236}">
                <a16:creationId xmlns:a16="http://schemas.microsoft.com/office/drawing/2014/main" id="{CC434106-96B3-4A1F-ADCF-144E6F55C920}"/>
              </a:ext>
            </a:extLst>
          </p:cNvPr>
          <p:cNvSpPr>
            <a:spLocks noGrp="1"/>
          </p:cNvSpPr>
          <p:nvPr/>
        </p:nvSpPr>
        <p:spPr>
          <a:xfrm>
            <a:off x="714375" y="2095500"/>
            <a:ext cx="8334375" cy="571500"/>
          </a:xfrm>
          <a:prstGeom prst="rect">
            <a:avLst/>
          </a:prstGeom>
          <a:noFill/>
          <a:ln w="0">
            <a:noFill/>
          </a:ln>
        </p:spPr>
        <p:txBody>
          <a:bodyPr anchor="t">
            <a:noAutofit/>
          </a:bodyPr>
          <a:lstStyle/>
          <a:p>
            <a:pPr>
              <a:defRPr sz="2325" b="1">
                <a:solidFill>
                  <a:srgbClr val="0D9488"/>
                </a:solidFill>
                <a:latin typeface="Arial"/>
                <a:ea typeface="Arial"/>
                <a:cs typeface="Arial"/>
              </a:defRPr>
            </a:pPr>
            <a:r>
              <a:rPr sz="2325" b="1">
                <a:solidFill>
                  <a:srgbClr val="0D9488"/>
                </a:solidFill>
                <a:latin typeface="Arial"/>
                <a:ea typeface="Arial"/>
                <a:cs typeface="Arial"/>
              </a:rPr>
              <a:t>Request tools; observe results; decide again.</a:t>
            </a:r>
          </a:p>
        </p:txBody>
      </p:sp>
      <p:sp>
        <p:nvSpPr>
          <p:cNvPr id="14" name="text_265">
            <a:extLst>
              <a:ext uri="{FF2B5EF4-FFF2-40B4-BE49-F238E27FC236}">
                <a16:creationId xmlns:a16="http://schemas.microsoft.com/office/drawing/2014/main" id="{4FD176D8-BFBB-4E1E-A62D-598FD18D12B3}"/>
              </a:ext>
            </a:extLst>
          </p:cNvPr>
          <p:cNvSpPr>
            <a:spLocks noGrp="1"/>
          </p:cNvSpPr>
          <p:nvPr/>
        </p:nvSpPr>
        <p:spPr>
          <a:xfrm>
            <a:off x="10477500" y="3829050"/>
            <a:ext cx="3810000" cy="400050"/>
          </a:xfrm>
          <a:prstGeom prst="rect">
            <a:avLst/>
          </a:prstGeom>
          <a:noFill/>
          <a:ln w="0">
            <a:noFill/>
          </a:ln>
        </p:spPr>
        <p:txBody>
          <a:bodyPr anchor="t">
            <a:noAutofit/>
          </a:bodyPr>
          <a:lstStyle/>
          <a:p>
            <a:pPr>
              <a:defRPr sz="1800" b="1">
                <a:solidFill>
                  <a:srgbClr val="0D9488"/>
                </a:solidFill>
                <a:latin typeface="Arial"/>
                <a:ea typeface="Arial"/>
                <a:cs typeface="Arial"/>
              </a:defRPr>
            </a:pPr>
            <a:r>
              <a:rPr sz="1800" b="1">
                <a:solidFill>
                  <a:srgbClr val="0D9488"/>
                </a:solidFill>
                <a:latin typeface="Arial"/>
                <a:ea typeface="Arial"/>
                <a:cs typeface="Arial"/>
              </a:rPr>
              <a:t>Calls + results</a:t>
            </a:r>
          </a:p>
        </p:txBody>
      </p:sp>
      <p:sp>
        <p:nvSpPr>
          <p:cNvPr id="15" name="text_266">
            <a:extLst>
              <a:ext uri="{FF2B5EF4-FFF2-40B4-BE49-F238E27FC236}">
                <a16:creationId xmlns:a16="http://schemas.microsoft.com/office/drawing/2014/main" id="{2859AD3A-6A20-4AC2-A765-BF05359DCBB3}"/>
              </a:ext>
            </a:extLst>
          </p:cNvPr>
          <p:cNvSpPr>
            <a:spLocks noGrp="1"/>
          </p:cNvSpPr>
          <p:nvPr/>
        </p:nvSpPr>
        <p:spPr>
          <a:xfrm>
            <a:off x="666750" y="7705725"/>
            <a:ext cx="13525500" cy="476250"/>
          </a:xfrm>
          <a:prstGeom prst="rect">
            <a:avLst/>
          </a:prstGeom>
          <a:noFill/>
          <a:ln w="0">
            <a:noFill/>
          </a:ln>
        </p:spPr>
        <p:txBody>
          <a:bodyPr anchor="t">
            <a:noAutofit/>
          </a:bodyPr>
          <a:lstStyle/>
          <a:p>
            <a:pPr>
              <a:defRPr sz="1800" b="0">
                <a:solidFill>
                  <a:srgbClr val="64748B"/>
                </a:solidFill>
                <a:latin typeface="Arial"/>
                <a:ea typeface="Arial"/>
                <a:cs typeface="Arial"/>
              </a:defRPr>
            </a:pPr>
            <a:r>
              <a:rPr sz="1800" b="0">
                <a:solidFill>
                  <a:srgbClr val="64748B"/>
                </a:solidFill>
                <a:latin typeface="Arial"/>
                <a:ea typeface="Arial"/>
                <a:cs typeface="Arial"/>
              </a:rPr>
              <a:t>LLMs generate. Retrieval supplies evidence. Tools supply capabilities. The agent coordinates the work.</a:t>
            </a:r>
          </a:p>
        </p:txBody>
      </p:sp>
    </p:spTree>
    <p:extLst>
      <p:ext uri="{BB962C8B-B14F-4D97-AF65-F5344CB8AC3E}">
        <p14:creationId xmlns:p14="http://schemas.microsoft.com/office/powerpoint/2010/main" val="475155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 name="text_267">
            <a:extLst>
              <a:ext uri="{FF2B5EF4-FFF2-40B4-BE49-F238E27FC236}">
                <a16:creationId xmlns:a16="http://schemas.microsoft.com/office/drawing/2014/main" id="{CABE0F75-92B4-4F83-AA4B-CA98BE385877}"/>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a:solidFill>
                  <a:srgbClr val="0D9488"/>
                </a:solidFill>
                <a:latin typeface="Arial"/>
                <a:ea typeface="Arial"/>
                <a:cs typeface="Arial"/>
              </a:rPr>
              <a:t>05 • YOUR NEXT STEP</a:t>
            </a:r>
          </a:p>
        </p:txBody>
      </p:sp>
      <p:sp>
        <p:nvSpPr>
          <p:cNvPr id="2" name="text_268">
            <a:extLst>
              <a:ext uri="{FF2B5EF4-FFF2-40B4-BE49-F238E27FC236}">
                <a16:creationId xmlns:a16="http://schemas.microsoft.com/office/drawing/2014/main" id="{0CE1C2D7-E2B4-47C1-A245-D6C5FF41FD49}"/>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sz="3975" b="1">
                <a:solidFill>
                  <a:srgbClr val="10233F"/>
                </a:solidFill>
                <a:latin typeface="Arial"/>
                <a:ea typeface="Arial"/>
                <a:cs typeface="Arial"/>
              </a:rPr>
              <a:t>Coding still matters</a:t>
            </a:r>
          </a:p>
        </p:txBody>
      </p:sp>
      <p:sp>
        <p:nvSpPr>
          <p:cNvPr id="3" name="text_269">
            <a:extLst>
              <a:ext uri="{FF2B5EF4-FFF2-40B4-BE49-F238E27FC236}">
                <a16:creationId xmlns:a16="http://schemas.microsoft.com/office/drawing/2014/main" id="{E4FB7364-CC53-4EB8-93B6-619D5DABD24E}"/>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22 / 22</a:t>
            </a:r>
          </a:p>
        </p:txBody>
      </p:sp>
      <p:sp>
        <p:nvSpPr>
          <p:cNvPr id="4" name="text_270">
            <a:extLst>
              <a:ext uri="{FF2B5EF4-FFF2-40B4-BE49-F238E27FC236}">
                <a16:creationId xmlns:a16="http://schemas.microsoft.com/office/drawing/2014/main" id="{F0B5B834-FB2F-49D4-86A7-5D7A4B5925FE}"/>
              </a:ext>
            </a:extLst>
          </p:cNvPr>
          <p:cNvSpPr>
            <a:spLocks noGrp="1"/>
          </p:cNvSpPr>
          <p:nvPr/>
        </p:nvSpPr>
        <p:spPr>
          <a:xfrm>
            <a:off x="762000" y="2476500"/>
            <a:ext cx="7524750" cy="2143125"/>
          </a:xfrm>
          <a:prstGeom prst="rect">
            <a:avLst/>
          </a:prstGeom>
          <a:noFill/>
          <a:ln w="0">
            <a:noFill/>
          </a:ln>
        </p:spPr>
        <p:txBody>
          <a:bodyPr anchor="t">
            <a:noAutofit/>
          </a:bodyPr>
          <a:lstStyle/>
          <a:p>
            <a:pPr>
              <a:defRPr sz="3675" b="1">
                <a:solidFill>
                  <a:srgbClr val="10233F"/>
                </a:solidFill>
                <a:latin typeface="Arial"/>
                <a:ea typeface="Arial"/>
                <a:cs typeface="Arial"/>
              </a:defRPr>
            </a:pPr>
            <a:r>
              <a:rPr sz="3675" b="1">
                <a:solidFill>
                  <a:srgbClr val="10233F"/>
                </a:solidFill>
                <a:latin typeface="Arial"/>
                <a:ea typeface="Arial"/>
                <a:cs typeface="Arial"/>
              </a:rPr>
              <a:t>AI can help you build.</a:t>
            </a:r>
          </a:p>
          <a:p>
            <a:pPr>
              <a:defRPr sz="3675" b="1">
                <a:solidFill>
                  <a:srgbClr val="10233F"/>
                </a:solidFill>
                <a:latin typeface="Arial"/>
                <a:ea typeface="Arial"/>
                <a:cs typeface="Arial"/>
              </a:defRPr>
            </a:pPr>
            <a:r>
              <a:rPr sz="3675" b="1">
                <a:solidFill>
                  <a:srgbClr val="10233F"/>
                </a:solidFill>
                <a:latin typeface="Arial"/>
                <a:ea typeface="Arial"/>
                <a:cs typeface="Arial"/>
              </a:rPr>
              <a:t>You still need to understand</a:t>
            </a:r>
          </a:p>
          <a:p>
            <a:pPr>
              <a:defRPr sz="3675" b="1">
                <a:solidFill>
                  <a:srgbClr val="10233F"/>
                </a:solidFill>
                <a:latin typeface="Arial"/>
                <a:ea typeface="Arial"/>
                <a:cs typeface="Arial"/>
              </a:defRPr>
            </a:pPr>
            <a:r>
              <a:rPr sz="3675" b="1">
                <a:solidFill>
                  <a:srgbClr val="10233F"/>
                </a:solidFill>
                <a:latin typeface="Arial"/>
                <a:ea typeface="Arial"/>
                <a:cs typeface="Arial"/>
              </a:rPr>
              <a:t>what you build.</a:t>
            </a:r>
          </a:p>
        </p:txBody>
      </p:sp>
      <p:sp>
        <p:nvSpPr>
          <p:cNvPr id="5" name="text_271">
            <a:extLst>
              <a:ext uri="{FF2B5EF4-FFF2-40B4-BE49-F238E27FC236}">
                <a16:creationId xmlns:a16="http://schemas.microsoft.com/office/drawing/2014/main" id="{3D6168FF-9617-48C9-AA38-A142778AF518}"/>
              </a:ext>
            </a:extLst>
          </p:cNvPr>
          <p:cNvSpPr>
            <a:spLocks noGrp="1"/>
          </p:cNvSpPr>
          <p:nvPr/>
        </p:nvSpPr>
        <p:spPr>
          <a:xfrm>
            <a:off x="809625" y="5429250"/>
            <a:ext cx="7096125" cy="1000125"/>
          </a:xfrm>
          <a:prstGeom prst="rect">
            <a:avLst/>
          </a:prstGeom>
          <a:noFill/>
          <a:ln w="0">
            <a:noFill/>
          </a:ln>
        </p:spPr>
        <p:txBody>
          <a:bodyPr anchor="t">
            <a:noAutofit/>
          </a:bodyPr>
          <a:lstStyle/>
          <a:p>
            <a:pPr>
              <a:defRPr sz="2475" b="1">
                <a:solidFill>
                  <a:srgbClr val="0D9488"/>
                </a:solidFill>
                <a:latin typeface="Arial"/>
                <a:ea typeface="Arial"/>
                <a:cs typeface="Arial"/>
              </a:defRPr>
            </a:pPr>
            <a:r>
              <a:rPr sz="2475" b="1">
                <a:solidFill>
                  <a:srgbClr val="0D9488"/>
                </a:solidFill>
                <a:latin typeface="Arial"/>
                <a:ea typeface="Arial"/>
                <a:cs typeface="Arial"/>
              </a:rPr>
              <a:t>Functions • data • APIs</a:t>
            </a:r>
          </a:p>
          <a:p>
            <a:pPr>
              <a:defRPr sz="2475" b="1">
                <a:solidFill>
                  <a:srgbClr val="0D9488"/>
                </a:solidFill>
                <a:latin typeface="Arial"/>
                <a:ea typeface="Arial"/>
                <a:cs typeface="Arial"/>
              </a:defRPr>
            </a:pPr>
            <a:r>
              <a:rPr sz="2475" b="1">
                <a:solidFill>
                  <a:srgbClr val="0D9488"/>
                </a:solidFill>
                <a:latin typeface="Arial"/>
                <a:ea typeface="Arial"/>
                <a:cs typeface="Arial"/>
              </a:rPr>
              <a:t>Debugging • testing</a:t>
            </a:r>
          </a:p>
        </p:txBody>
      </p:sp>
      <p:sp>
        <p:nvSpPr>
          <p:cNvPr id="6" name="text_272">
            <a:extLst>
              <a:ext uri="{FF2B5EF4-FFF2-40B4-BE49-F238E27FC236}">
                <a16:creationId xmlns:a16="http://schemas.microsoft.com/office/drawing/2014/main" id="{E07A2F6D-C66E-4C9E-B3F0-55DA5696C579}"/>
              </a:ext>
            </a:extLst>
          </p:cNvPr>
          <p:cNvSpPr>
            <a:spLocks noGrp="1"/>
          </p:cNvSpPr>
          <p:nvPr/>
        </p:nvSpPr>
        <p:spPr>
          <a:xfrm>
            <a:off x="809625" y="7077075"/>
            <a:ext cx="8143875" cy="952500"/>
          </a:xfrm>
          <a:prstGeom prst="rect">
            <a:avLst/>
          </a:prstGeom>
          <a:noFill/>
          <a:ln w="0">
            <a:noFill/>
          </a:ln>
        </p:spPr>
        <p:txBody>
          <a:bodyPr anchor="t">
            <a:noAutofit/>
          </a:bodyPr>
          <a:lstStyle/>
          <a:p>
            <a:pPr>
              <a:defRPr sz="2400" b="1">
                <a:solidFill>
                  <a:srgbClr val="2563EB"/>
                </a:solidFill>
                <a:latin typeface="Arial"/>
                <a:ea typeface="Arial"/>
                <a:cs typeface="Arial"/>
              </a:defRPr>
            </a:pPr>
            <a:r>
              <a:rPr sz="2400" b="1">
                <a:solidFill>
                  <a:srgbClr val="2563EB"/>
                </a:solidFill>
                <a:latin typeface="Arial"/>
                <a:ea typeface="Arial"/>
                <a:cs typeface="Arial"/>
              </a:rPr>
              <a:t>Build more than you watch.</a:t>
            </a:r>
          </a:p>
          <a:p>
            <a:pPr>
              <a:defRPr sz="2400" b="1">
                <a:solidFill>
                  <a:srgbClr val="2563EB"/>
                </a:solidFill>
                <a:latin typeface="Arial"/>
                <a:ea typeface="Arial"/>
                <a:cs typeface="Arial"/>
              </a:defRPr>
            </a:pPr>
            <a:r>
              <a:rPr sz="2400" b="1">
                <a:solidFill>
                  <a:srgbClr val="2563EB"/>
                </a:solidFill>
                <a:latin typeface="Arial"/>
                <a:ea typeface="Arial"/>
                <a:cs typeface="Arial"/>
              </a:rPr>
              <a:t>All the best!</a:t>
            </a:r>
          </a:p>
        </p:txBody>
      </p:sp>
      <p:pic>
        <p:nvPicPr>
          <p:cNvPr id="14" name="Picture 13"/>
          <p:cNvPicPr>
            <a:picLocks noChangeAspect="1"/>
          </p:cNvPicPr>
          <p:nvPr/>
        </p:nvPicPr>
        <p:blipFill>
          <a:blip r:embed="rId3"/>
          <a:stretch/>
        </p:blipFill>
        <p:spPr>
          <a:xfrm>
            <a:off x="8382000" y="2238375"/>
            <a:ext cx="6096000" cy="4572000"/>
          </a:xfrm>
          <a:prstGeom prst="rect">
            <a:avLst/>
          </a:prstGeom>
        </p:spPr>
      </p:pic>
    </p:spTree>
    <p:extLst>
      <p:ext uri="{BB962C8B-B14F-4D97-AF65-F5344CB8AC3E}">
        <p14:creationId xmlns:p14="http://schemas.microsoft.com/office/powerpoint/2010/main" val="1641965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a:extLst>
            <a:ext uri="{FF2B5EF4-FFF2-40B4-BE49-F238E27FC236}">
              <a16:creationId xmlns:a16="http://schemas.microsoft.com/office/drawing/2014/main" id="{C26AFFA0-FBE6-079D-31A0-B6AD5CDF2DBA}"/>
            </a:ext>
          </a:extLst>
        </p:cNvPr>
        <p:cNvGrpSpPr/>
        <p:nvPr/>
      </p:nvGrpSpPr>
      <p:grpSpPr>
        <a:xfrm>
          <a:off x="0" y="0"/>
          <a:ext cx="0" cy="0"/>
          <a:chOff x="0" y="0"/>
          <a:chExt cx="0" cy="0"/>
        </a:xfrm>
      </p:grpSpPr>
      <p:sp>
        <p:nvSpPr>
          <p:cNvPr id="8" name="text_267">
            <a:extLst>
              <a:ext uri="{FF2B5EF4-FFF2-40B4-BE49-F238E27FC236}">
                <a16:creationId xmlns:a16="http://schemas.microsoft.com/office/drawing/2014/main" id="{35742D37-FB8A-CA88-6AAD-9DB1718D02E2}"/>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sz="1725" b="1" dirty="0">
                <a:solidFill>
                  <a:srgbClr val="0D9488"/>
                </a:solidFill>
                <a:latin typeface="Arial"/>
                <a:ea typeface="Arial"/>
                <a:cs typeface="Arial"/>
              </a:rPr>
              <a:t>05 • </a:t>
            </a:r>
            <a:r>
              <a:rPr lang="en-IN" sz="1725" b="1" dirty="0">
                <a:solidFill>
                  <a:srgbClr val="0D9488"/>
                </a:solidFill>
                <a:latin typeface="Arial"/>
                <a:ea typeface="Arial"/>
                <a:cs typeface="Arial"/>
              </a:rPr>
              <a:t>Closing</a:t>
            </a:r>
            <a:endParaRPr sz="1725" b="1" dirty="0">
              <a:solidFill>
                <a:srgbClr val="0D9488"/>
              </a:solidFill>
              <a:latin typeface="Arial"/>
              <a:ea typeface="Arial"/>
              <a:cs typeface="Arial"/>
            </a:endParaRPr>
          </a:p>
        </p:txBody>
      </p:sp>
      <p:sp>
        <p:nvSpPr>
          <p:cNvPr id="3" name="text_269">
            <a:extLst>
              <a:ext uri="{FF2B5EF4-FFF2-40B4-BE49-F238E27FC236}">
                <a16:creationId xmlns:a16="http://schemas.microsoft.com/office/drawing/2014/main" id="{741EE07A-FF90-E77B-7504-60BE3DCA20D5}"/>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22 / 22</a:t>
            </a:r>
          </a:p>
        </p:txBody>
      </p:sp>
      <p:sp>
        <p:nvSpPr>
          <p:cNvPr id="7" name="TextBox 6">
            <a:extLst>
              <a:ext uri="{FF2B5EF4-FFF2-40B4-BE49-F238E27FC236}">
                <a16:creationId xmlns:a16="http://schemas.microsoft.com/office/drawing/2014/main" id="{3AEA70CC-7869-90F0-6589-E52CE2E29813}"/>
              </a:ext>
            </a:extLst>
          </p:cNvPr>
          <p:cNvSpPr txBox="1"/>
          <p:nvPr/>
        </p:nvSpPr>
        <p:spPr>
          <a:xfrm>
            <a:off x="4331970" y="3131820"/>
            <a:ext cx="5966460" cy="1446550"/>
          </a:xfrm>
          <a:prstGeom prst="rect">
            <a:avLst/>
          </a:prstGeom>
          <a:noFill/>
        </p:spPr>
        <p:txBody>
          <a:bodyPr wrap="square" rtlCol="0">
            <a:spAutoFit/>
          </a:bodyPr>
          <a:lstStyle/>
          <a:p>
            <a:r>
              <a:rPr lang="en-IN" sz="8800" dirty="0"/>
              <a:t>Thank you!</a:t>
            </a:r>
          </a:p>
        </p:txBody>
      </p:sp>
    </p:spTree>
    <p:extLst>
      <p:ext uri="{BB962C8B-B14F-4D97-AF65-F5344CB8AC3E}">
        <p14:creationId xmlns:p14="http://schemas.microsoft.com/office/powerpoint/2010/main" val="3216762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a:extLst>
            <a:ext uri="{FF2B5EF4-FFF2-40B4-BE49-F238E27FC236}">
              <a16:creationId xmlns:a16="http://schemas.microsoft.com/office/drawing/2014/main" id="{F44EF67F-6974-1627-F307-C2A3CF19F000}"/>
            </a:ext>
          </a:extLst>
        </p:cNvPr>
        <p:cNvGrpSpPr/>
        <p:nvPr/>
      </p:nvGrpSpPr>
      <p:grpSpPr>
        <a:xfrm>
          <a:off x="0" y="0"/>
          <a:ext cx="0" cy="0"/>
          <a:chOff x="0" y="0"/>
          <a:chExt cx="0" cy="0"/>
        </a:xfrm>
      </p:grpSpPr>
      <p:sp>
        <p:nvSpPr>
          <p:cNvPr id="8" name="text_267">
            <a:extLst>
              <a:ext uri="{FF2B5EF4-FFF2-40B4-BE49-F238E27FC236}">
                <a16:creationId xmlns:a16="http://schemas.microsoft.com/office/drawing/2014/main" id="{065F5D20-00B8-CB21-AB39-EFA7F34D2140}"/>
              </a:ext>
            </a:extLst>
          </p:cNvPr>
          <p:cNvSpPr>
            <a:spLocks noGrp="1"/>
          </p:cNvSpPr>
          <p:nvPr/>
        </p:nvSpPr>
        <p:spPr>
          <a:xfrm>
            <a:off x="666750" y="333375"/>
            <a:ext cx="13335000" cy="400050"/>
          </a:xfrm>
          <a:prstGeom prst="rect">
            <a:avLst/>
          </a:prstGeom>
          <a:noFill/>
          <a:ln w="0">
            <a:noFill/>
          </a:ln>
        </p:spPr>
        <p:txBody>
          <a:bodyPr anchor="t">
            <a:noAutofit/>
          </a:bodyPr>
          <a:lstStyle/>
          <a:p>
            <a:pPr>
              <a:defRPr sz="1725" b="1">
                <a:solidFill>
                  <a:srgbClr val="0D9488"/>
                </a:solidFill>
                <a:latin typeface="Arial"/>
                <a:ea typeface="Arial"/>
                <a:cs typeface="Arial"/>
              </a:defRPr>
            </a:pPr>
            <a:r>
              <a:rPr lang="en-IN" sz="1725" b="1" dirty="0">
                <a:solidFill>
                  <a:srgbClr val="0D9488"/>
                </a:solidFill>
                <a:latin typeface="Arial"/>
                <a:ea typeface="Arial"/>
                <a:cs typeface="Arial"/>
              </a:rPr>
              <a:t>Closing</a:t>
            </a:r>
            <a:endParaRPr sz="1725" b="1" dirty="0">
              <a:solidFill>
                <a:srgbClr val="0D9488"/>
              </a:solidFill>
              <a:latin typeface="Arial"/>
              <a:ea typeface="Arial"/>
              <a:cs typeface="Arial"/>
            </a:endParaRPr>
          </a:p>
        </p:txBody>
      </p:sp>
      <p:sp>
        <p:nvSpPr>
          <p:cNvPr id="2" name="text_268">
            <a:extLst>
              <a:ext uri="{FF2B5EF4-FFF2-40B4-BE49-F238E27FC236}">
                <a16:creationId xmlns:a16="http://schemas.microsoft.com/office/drawing/2014/main" id="{AC82563C-A5A6-3A7A-AED6-6704405BAB08}"/>
              </a:ext>
            </a:extLst>
          </p:cNvPr>
          <p:cNvSpPr>
            <a:spLocks noGrp="1"/>
          </p:cNvSpPr>
          <p:nvPr/>
        </p:nvSpPr>
        <p:spPr>
          <a:xfrm>
            <a:off x="666750" y="857250"/>
            <a:ext cx="13906500" cy="1000125"/>
          </a:xfrm>
          <a:prstGeom prst="rect">
            <a:avLst/>
          </a:prstGeom>
          <a:noFill/>
          <a:ln w="0">
            <a:noFill/>
          </a:ln>
        </p:spPr>
        <p:txBody>
          <a:bodyPr anchor="t">
            <a:noAutofit/>
          </a:bodyPr>
          <a:lstStyle/>
          <a:p>
            <a:pPr>
              <a:defRPr sz="3975" b="1">
                <a:solidFill>
                  <a:srgbClr val="10233F"/>
                </a:solidFill>
                <a:latin typeface="Arial"/>
                <a:ea typeface="Arial"/>
                <a:cs typeface="Arial"/>
              </a:defRPr>
            </a:pPr>
            <a:r>
              <a:rPr lang="en-IN" sz="3975" b="1" dirty="0">
                <a:solidFill>
                  <a:srgbClr val="10233F"/>
                </a:solidFill>
                <a:latin typeface="Arial"/>
                <a:ea typeface="Arial"/>
                <a:cs typeface="Arial"/>
              </a:rPr>
              <a:t>$ </a:t>
            </a:r>
            <a:r>
              <a:rPr lang="en-IN" sz="3975" b="1" dirty="0" err="1">
                <a:solidFill>
                  <a:srgbClr val="10233F"/>
                </a:solidFill>
                <a:latin typeface="Arial"/>
                <a:ea typeface="Arial"/>
                <a:cs typeface="Arial"/>
              </a:rPr>
              <a:t>whoami</a:t>
            </a:r>
            <a:r>
              <a:rPr lang="en-IN" sz="3975" b="1" dirty="0">
                <a:solidFill>
                  <a:srgbClr val="10233F"/>
                </a:solidFill>
                <a:latin typeface="Arial"/>
                <a:ea typeface="Arial"/>
                <a:cs typeface="Arial"/>
              </a:rPr>
              <a:t>?</a:t>
            </a:r>
            <a:endParaRPr sz="3975" b="1" dirty="0">
              <a:solidFill>
                <a:srgbClr val="10233F"/>
              </a:solidFill>
              <a:latin typeface="Arial"/>
              <a:ea typeface="Arial"/>
              <a:cs typeface="Arial"/>
            </a:endParaRPr>
          </a:p>
        </p:txBody>
      </p:sp>
      <p:sp>
        <p:nvSpPr>
          <p:cNvPr id="3" name="text_269">
            <a:extLst>
              <a:ext uri="{FF2B5EF4-FFF2-40B4-BE49-F238E27FC236}">
                <a16:creationId xmlns:a16="http://schemas.microsoft.com/office/drawing/2014/main" id="{2C58ED70-6858-77C2-46EF-A71D79B49337}"/>
              </a:ext>
            </a:extLst>
          </p:cNvPr>
          <p:cNvSpPr>
            <a:spLocks noGrp="1"/>
          </p:cNvSpPr>
          <p:nvPr/>
        </p:nvSpPr>
        <p:spPr>
          <a:xfrm>
            <a:off x="13335000" y="8115300"/>
            <a:ext cx="1238250" cy="266700"/>
          </a:xfrm>
          <a:prstGeom prst="rect">
            <a:avLst/>
          </a:prstGeom>
          <a:noFill/>
          <a:ln w="0">
            <a:noFill/>
          </a:ln>
        </p:spPr>
        <p:txBody>
          <a:bodyPr anchor="t">
            <a:noAutofit/>
          </a:bodyPr>
          <a:lstStyle/>
          <a:p>
            <a:pPr>
              <a:defRPr sz="1425" b="0">
                <a:solidFill>
                  <a:srgbClr val="64748B"/>
                </a:solidFill>
                <a:latin typeface="Arial"/>
                <a:ea typeface="Arial"/>
                <a:cs typeface="Arial"/>
              </a:defRPr>
            </a:pPr>
            <a:r>
              <a:rPr sz="1425" b="0">
                <a:solidFill>
                  <a:srgbClr val="64748B"/>
                </a:solidFill>
                <a:latin typeface="Arial"/>
                <a:ea typeface="Arial"/>
                <a:cs typeface="Arial"/>
              </a:rPr>
              <a:t>22 / 22</a:t>
            </a:r>
          </a:p>
        </p:txBody>
      </p:sp>
      <p:pic>
        <p:nvPicPr>
          <p:cNvPr id="7" name="Picture 6" descr="The image depicts a Python class definition for a Shishir Srivastav, an AI and Cloud Security Engineer, detailing his role, experience, philosophy, current focus, daily routine, and a fun fact about his code logic.&#10;&#10;AI-generated content may be incorrect.">
            <a:extLst>
              <a:ext uri="{FF2B5EF4-FFF2-40B4-BE49-F238E27FC236}">
                <a16:creationId xmlns:a16="http://schemas.microsoft.com/office/drawing/2014/main" id="{DB5D2815-DDFC-864B-889D-B1A09836A302}"/>
              </a:ext>
            </a:extLst>
          </p:cNvPr>
          <p:cNvPicPr>
            <a:picLocks noChangeAspect="1"/>
          </p:cNvPicPr>
          <p:nvPr/>
        </p:nvPicPr>
        <p:blipFill>
          <a:blip r:embed="rId3"/>
          <a:stretch>
            <a:fillRect/>
          </a:stretch>
        </p:blipFill>
        <p:spPr>
          <a:xfrm>
            <a:off x="733426" y="1747837"/>
            <a:ext cx="9308432" cy="5761673"/>
          </a:xfrm>
          <a:prstGeom prst="rect">
            <a:avLst/>
          </a:prstGeom>
        </p:spPr>
      </p:pic>
      <p:pic>
        <p:nvPicPr>
          <p:cNvPr id="9" name="Picture 8" descr="The image features a person standing with their right hand pointing to the right, wearing a black shirt and a red arrow in the background.&#10;&#10;AI-generated content may be incorrect.">
            <a:extLst>
              <a:ext uri="{FF2B5EF4-FFF2-40B4-BE49-F238E27FC236}">
                <a16:creationId xmlns:a16="http://schemas.microsoft.com/office/drawing/2014/main" id="{585A2B3D-C0F7-F9D6-7621-2B01804C44D0}"/>
              </a:ext>
            </a:extLst>
          </p:cNvPr>
          <p:cNvPicPr>
            <a:picLocks noChangeAspect="1"/>
          </p:cNvPicPr>
          <p:nvPr/>
        </p:nvPicPr>
        <p:blipFill>
          <a:blip r:embed="rId4"/>
          <a:stretch>
            <a:fillRect/>
          </a:stretch>
        </p:blipFill>
        <p:spPr>
          <a:xfrm>
            <a:off x="11166395" y="1747837"/>
            <a:ext cx="2282318" cy="2253610"/>
          </a:xfrm>
          <a:prstGeom prst="rect">
            <a:avLst/>
          </a:prstGeom>
        </p:spPr>
      </p:pic>
      <p:pic>
        <p:nvPicPr>
          <p:cNvPr id="10" name="Picture 9">
            <a:extLst>
              <a:ext uri="{FF2B5EF4-FFF2-40B4-BE49-F238E27FC236}">
                <a16:creationId xmlns:a16="http://schemas.microsoft.com/office/drawing/2014/main" id="{AAB0E9FF-D7D7-AE12-8690-75412A0BEABB}"/>
              </a:ext>
            </a:extLst>
          </p:cNvPr>
          <p:cNvPicPr>
            <a:picLocks noChangeAspect="1"/>
          </p:cNvPicPr>
          <p:nvPr/>
        </p:nvPicPr>
        <p:blipFill>
          <a:blip r:embed="rId5"/>
          <a:stretch>
            <a:fillRect/>
          </a:stretch>
        </p:blipFill>
        <p:spPr>
          <a:xfrm>
            <a:off x="10871294" y="4413427"/>
            <a:ext cx="2662237" cy="3096083"/>
          </a:xfrm>
          <a:prstGeom prst="rect">
            <a:avLst/>
          </a:prstGeom>
        </p:spPr>
      </p:pic>
    </p:spTree>
    <p:extLst>
      <p:ext uri="{BB962C8B-B14F-4D97-AF65-F5344CB8AC3E}">
        <p14:creationId xmlns:p14="http://schemas.microsoft.com/office/powerpoint/2010/main" val="37893847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3796</Words>
  <Application>Microsoft Office PowerPoint</Application>
  <DocSecurity>0</DocSecurity>
  <PresentationFormat>Custom</PresentationFormat>
  <Paragraphs>478</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Menlo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utkarshsrivastav915@outlook.com</cp:lastModifiedBy>
  <cp:revision>2</cp:revision>
  <dcterms:created xsi:type="dcterms:W3CDTF">2026-09-30T01:13:38Z</dcterms:created>
  <dcterms:modified xsi:type="dcterms:W3CDTF">2026-09-30T05:50:03Z</dcterms:modified>
</cp:coreProperties>
</file>